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Inter SemiBold"/>
      <p:regular r:id="rId30"/>
      <p:bold r:id="rId31"/>
      <p:italic r:id="rId32"/>
      <p:boldItalic r:id="rId33"/>
    </p:embeddedFont>
    <p:embeddedFont>
      <p:font typeface="Inter"/>
      <p:regular r:id="rId34"/>
      <p:bold r:id="rId35"/>
      <p:italic r:id="rId36"/>
      <p:boldItalic r:id="rId37"/>
    </p:embeddedFont>
    <p:embeddedFont>
      <p:font typeface="Inter Medium"/>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2A7112-6B5D-4F8E-AF31-E9B7B5157FB5}">
  <a:tblStyle styleId="{492A7112-6B5D-4F8E-AF31-E9B7B5157FB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E5E5D84-A09C-4323-BA4A-769E8B8D3F1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InterMedium-italic.fntdata"/><Relationship Id="rId20" Type="http://schemas.openxmlformats.org/officeDocument/2006/relationships/slide" Target="slides/slide15.xml"/><Relationship Id="rId41" Type="http://schemas.openxmlformats.org/officeDocument/2006/relationships/font" Target="fonts/InterMedium-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SemiBold-bold.fntdata"/><Relationship Id="rId30" Type="http://schemas.openxmlformats.org/officeDocument/2006/relationships/font" Target="fonts/InterSemiBold-regular.fntdata"/><Relationship Id="rId11" Type="http://schemas.openxmlformats.org/officeDocument/2006/relationships/slide" Target="slides/slide6.xml"/><Relationship Id="rId33" Type="http://schemas.openxmlformats.org/officeDocument/2006/relationships/font" Target="fonts/InterSemiBold-boldItalic.fntdata"/><Relationship Id="rId10" Type="http://schemas.openxmlformats.org/officeDocument/2006/relationships/slide" Target="slides/slide5.xml"/><Relationship Id="rId32" Type="http://schemas.openxmlformats.org/officeDocument/2006/relationships/font" Target="fonts/InterSemiBold-italic.fntdata"/><Relationship Id="rId13" Type="http://schemas.openxmlformats.org/officeDocument/2006/relationships/slide" Target="slides/slide8.xml"/><Relationship Id="rId35" Type="http://schemas.openxmlformats.org/officeDocument/2006/relationships/font" Target="fonts/Inter-bold.fntdata"/><Relationship Id="rId12" Type="http://schemas.openxmlformats.org/officeDocument/2006/relationships/slide" Target="slides/slide7.xml"/><Relationship Id="rId34" Type="http://schemas.openxmlformats.org/officeDocument/2006/relationships/font" Target="fonts/Inter-regular.fntdata"/><Relationship Id="rId15" Type="http://schemas.openxmlformats.org/officeDocument/2006/relationships/slide" Target="slides/slide10.xml"/><Relationship Id="rId37" Type="http://schemas.openxmlformats.org/officeDocument/2006/relationships/font" Target="fonts/Inter-boldItalic.fntdata"/><Relationship Id="rId14" Type="http://schemas.openxmlformats.org/officeDocument/2006/relationships/slide" Target="slides/slide9.xml"/><Relationship Id="rId36" Type="http://schemas.openxmlformats.org/officeDocument/2006/relationships/font" Target="fonts/Inter-italic.fntdata"/><Relationship Id="rId17" Type="http://schemas.openxmlformats.org/officeDocument/2006/relationships/slide" Target="slides/slide12.xml"/><Relationship Id="rId39" Type="http://schemas.openxmlformats.org/officeDocument/2006/relationships/font" Target="fonts/InterMedium-bold.fntdata"/><Relationship Id="rId16" Type="http://schemas.openxmlformats.org/officeDocument/2006/relationships/slide" Target="slides/slide11.xml"/><Relationship Id="rId38" Type="http://schemas.openxmlformats.org/officeDocument/2006/relationships/font" Target="fonts/InterMedium-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56" name="Google Shape;56;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65" name="Google Shape;6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Transition to peer teaching. Form four pairs. If possible, pair people who studied different dangerous capabilities or different lab frameworks.</a:t>
            </a:r>
            <a:endParaRPr/>
          </a:p>
        </p:txBody>
      </p:sp>
      <p:sp>
        <p:nvSpPr>
          <p:cNvPr id="146" name="Google Shape;14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18:10–18:28.</a:t>
            </a:r>
            <a:endParaRPr/>
          </a:p>
          <a:p>
            <a:pPr indent="0" lvl="0" marL="0" rtl="0" algn="l">
              <a:spcBef>
                <a:spcPts val="0"/>
              </a:spcBef>
              <a:spcAft>
                <a:spcPts val="0"/>
              </a:spcAft>
              <a:buNone/>
            </a:pPr>
            <a:r>
              <a:rPr lang="en-US" sz="1200"/>
              <a:t>First, group people by the company they prepared. Give seven minutes to agree on one strength, one gap and one repair. Then remix pairs across companies for seven minutes of exchange. Use the remaining four minutes for two whole-group observations.</a:t>
            </a:r>
            <a:endParaRPr/>
          </a:p>
          <a:p>
            <a:pPr indent="0" lvl="0" marL="0" rtl="0" algn="l">
              <a:spcBef>
                <a:spcPts val="0"/>
              </a:spcBef>
              <a:spcAft>
                <a:spcPts val="0"/>
              </a:spcAft>
              <a:buNone/>
            </a:pPr>
            <a:r>
              <a:rPr lang="en-US" sz="1200"/>
              <a:t>If preparation is uneven or everyone chose the same company, assign the four frameworks shown on the next slide and let pairs inspect only the public summary available in the course.</a:t>
            </a:r>
            <a:endParaRPr/>
          </a:p>
          <a:p>
            <a:pPr indent="0" lvl="0" marL="0" rtl="0" algn="l">
              <a:spcBef>
                <a:spcPts val="0"/>
              </a:spcBef>
              <a:spcAft>
                <a:spcPts val="0"/>
              </a:spcAft>
              <a:buNone/>
            </a:pPr>
            <a:r>
              <a:rPr lang="en-US" sz="1200"/>
              <a:t>Source: https://bluedot.org/courses/technical-ai-safety/3/2</a:t>
            </a:r>
            <a:endParaRPr/>
          </a:p>
        </p:txBody>
      </p:sp>
      <p:sp>
        <p:nvSpPr>
          <p:cNvPr id="276" name="Google Shape;276;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only as a reference if participants need help naming the current public framework. Do not turn this into a lecture.</a:t>
            </a:r>
            <a:endParaRPr/>
          </a:p>
          <a:p>
            <a:pPr indent="0" lvl="0" marL="0" rtl="0" algn="l">
              <a:spcBef>
                <a:spcPts val="0"/>
              </a:spcBef>
              <a:spcAft>
                <a:spcPts val="0"/>
              </a:spcAft>
              <a:buNone/>
            </a:pPr>
            <a:r>
              <a:rPr lang="en-US" sz="1200"/>
              <a:t>As of September 2026, the public sources list Anthropic RSP v3.4, Google DeepMind FSF v3.1, OpenAI Preparedness Framework v2, and Meta's Advanced AI Scaling Framework published in April 2026.</a:t>
            </a:r>
            <a:endParaRPr/>
          </a:p>
          <a:p>
            <a:pPr indent="0" lvl="0" marL="0" rtl="0" algn="l">
              <a:spcBef>
                <a:spcPts val="0"/>
              </a:spcBef>
              <a:spcAft>
                <a:spcPts val="0"/>
              </a:spcAft>
              <a:buNone/>
            </a:pPr>
            <a:r>
              <a:rPr lang="en-US" sz="1200"/>
              <a:t>Sources: https://www.anthropic.com/responsible-scaling-policy, https://openai.com/safety/preparedness, https://deepmind.google/frontier-safety/, https://ai.meta.com/blog/scaling-how-we-build-test-advanced-ai/</a:t>
            </a:r>
            <a:endParaRPr/>
          </a:p>
        </p:txBody>
      </p:sp>
      <p:sp>
        <p:nvSpPr>
          <p:cNvPr id="300" name="Google Shape;300;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18:28–18:47.</a:t>
            </a:r>
            <a:endParaRPr/>
          </a:p>
          <a:p>
            <a:pPr indent="0" lvl="0" marL="0" rtl="0" algn="l">
              <a:spcBef>
                <a:spcPts val="0"/>
              </a:spcBef>
              <a:spcAft>
                <a:spcPts val="0"/>
              </a:spcAft>
              <a:buNone/>
            </a:pPr>
            <a:r>
              <a:rPr lang="en-US" sz="1200"/>
              <a:t>Give pairs eight minutes to draft. Ask two pairs to present for two minutes each. Use the remaining seven minutes to combine the strongest commitments into a shared framework on a whiteboard or shared document.</a:t>
            </a:r>
            <a:endParaRPr/>
          </a:p>
          <a:p>
            <a:pPr indent="0" lvl="0" marL="0" rtl="0" algn="l">
              <a:spcBef>
                <a:spcPts val="0"/>
              </a:spcBef>
              <a:spcAft>
                <a:spcPts val="0"/>
              </a:spcAft>
              <a:buNone/>
            </a:pPr>
            <a:r>
              <a:rPr lang="en-US" sz="1200"/>
              <a:t>Push for observable wording. Replace 'adequate safeguards' with a testable criterion, named decision owner, required action and review mechanism.</a:t>
            </a:r>
            <a:endParaRPr/>
          </a:p>
          <a:p>
            <a:pPr indent="0" lvl="0" marL="0" rtl="0" algn="l">
              <a:spcBef>
                <a:spcPts val="0"/>
              </a:spcBef>
              <a:spcAft>
                <a:spcPts val="0"/>
              </a:spcAft>
              <a:buNone/>
            </a:pPr>
            <a:r>
              <a:rPr lang="en-US" sz="1200"/>
              <a:t>Plan B if time is short: each pair writes only a threshold and the response it triggers, then compare.</a:t>
            </a:r>
            <a:endParaRPr/>
          </a:p>
        </p:txBody>
      </p:sp>
      <p:sp>
        <p:nvSpPr>
          <p:cNvPr id="319" name="Google Shape;319;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Transition to the closing debate and reflection. Return to the two questions selected on Slide 6.</a:t>
            </a:r>
            <a:endParaRPr/>
          </a:p>
        </p:txBody>
      </p:sp>
      <p:sp>
        <p:nvSpPr>
          <p:cNvPr id="348" name="Google Shape;348;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18:47–18:55.</a:t>
            </a:r>
            <a:endParaRPr/>
          </a:p>
          <a:p>
            <a:pPr indent="0" lvl="0" marL="0" rtl="0" algn="l">
              <a:spcBef>
                <a:spcPts val="0"/>
              </a:spcBef>
              <a:spcAft>
                <a:spcPts val="0"/>
              </a:spcAft>
              <a:buNone/>
            </a:pPr>
            <a:r>
              <a:rPr lang="en-US" sz="1200"/>
              <a:t>Ask people to place themselves physically on an agree-disagree spectrum if the room permits. Otherwise use fingers 1 to 5. Take one argument from each side, then ask one person whether their view moved.</a:t>
            </a:r>
            <a:endParaRPr/>
          </a:p>
          <a:p>
            <a:pPr indent="0" lvl="0" marL="0" rtl="0" algn="l">
              <a:spcBef>
                <a:spcPts val="0"/>
              </a:spcBef>
              <a:spcAft>
                <a:spcPts val="0"/>
              </a:spcAft>
              <a:buNone/>
            </a:pPr>
            <a:r>
              <a:rPr lang="en-US" sz="1200"/>
              <a:t>Keep the debate focused on the decision rule and collective-action problem. Do not let it collapse into whether competition exists.</a:t>
            </a:r>
            <a:endParaRPr/>
          </a:p>
          <a:p>
            <a:pPr indent="0" lvl="0" marL="0" rtl="0" algn="l">
              <a:spcBef>
                <a:spcPts val="0"/>
              </a:spcBef>
              <a:spcAft>
                <a:spcPts val="0"/>
              </a:spcAft>
              <a:buNone/>
            </a:pPr>
            <a:r>
              <a:rPr lang="en-US" sz="1200"/>
              <a:t>This statement reflects a recurring concern in the prior Week 3 cohort discussion about company policies weakening when competitors do not pause.</a:t>
            </a:r>
            <a:endParaRPr/>
          </a:p>
        </p:txBody>
      </p:sp>
      <p:sp>
        <p:nvSpPr>
          <p:cNvPr id="355" name="Google Shape;35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18:55–19:00.</a:t>
            </a:r>
            <a:endParaRPr/>
          </a:p>
          <a:p>
            <a:pPr indent="0" lvl="0" marL="0" rtl="0" algn="l">
              <a:spcBef>
                <a:spcPts val="0"/>
              </a:spcBef>
              <a:spcAft>
                <a:spcPts val="0"/>
              </a:spcAft>
              <a:buNone/>
            </a:pPr>
            <a:r>
              <a:rPr lang="en-US" sz="1200"/>
              <a:t>Give ninety seconds of quiet writing. Then ask each person for one sentence, prioritising the next action or open uncertainty.</a:t>
            </a:r>
            <a:endParaRPr/>
          </a:p>
          <a:p>
            <a:pPr indent="0" lvl="0" marL="0" rtl="0" algn="l">
              <a:spcBef>
                <a:spcPts val="0"/>
              </a:spcBef>
              <a:spcAft>
                <a:spcPts val="0"/>
              </a:spcAft>
              <a:buNone/>
            </a:pPr>
            <a:r>
              <a:rPr lang="en-US" sz="1200"/>
              <a:t>Return briefly to the two questions selected on Slide 6. Name what the group clarified and what remains open.</a:t>
            </a:r>
            <a:endParaRPr/>
          </a:p>
          <a:p>
            <a:pPr indent="0" lvl="0" marL="0" rtl="0" algn="l">
              <a:spcBef>
                <a:spcPts val="0"/>
              </a:spcBef>
              <a:spcAft>
                <a:spcPts val="0"/>
              </a:spcAft>
              <a:buNone/>
            </a:pPr>
            <a:r>
              <a:rPr lang="en-US" sz="1200"/>
              <a:t>Ask for quick format feedback because the group requested structure, time limits, active recall and discussion in the prior session.</a:t>
            </a:r>
            <a:endParaRPr/>
          </a:p>
        </p:txBody>
      </p:sp>
      <p:sp>
        <p:nvSpPr>
          <p:cNvPr id="369" name="Google Shape;369;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fbbe39ac63_3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fbbe39ac63_3_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lnSpc>
                <a:spcPct val="105000"/>
              </a:lnSpc>
              <a:spcBef>
                <a:spcPts val="0"/>
              </a:spcBef>
              <a:spcAft>
                <a:spcPts val="0"/>
              </a:spcAft>
              <a:buClr>
                <a:schemeClr val="dk1"/>
              </a:buClr>
              <a:buSzPts val="1100"/>
              <a:buFont typeface="Arial"/>
              <a:buNone/>
            </a:pPr>
            <a:r>
              <a:rPr lang="en-US" sz="1425">
                <a:solidFill>
                  <a:srgbClr val="171A1D"/>
                </a:solidFill>
                <a:latin typeface="Inter"/>
                <a:ea typeface="Inter"/>
                <a:cs typeface="Inter"/>
                <a:sym typeface="Inter"/>
              </a:rPr>
              <a:t>These blogs do not need to be perfect research pieces, since our main goal is that they leave the course with some sort of marked output.</a:t>
            </a:r>
            <a:endParaRPr sz="1425">
              <a:solidFill>
                <a:srgbClr val="171A1D"/>
              </a:solidFill>
              <a:latin typeface="Inter"/>
              <a:ea typeface="Inter"/>
              <a:cs typeface="Inter"/>
              <a:sym typeface="Inter"/>
            </a:endParaRPr>
          </a:p>
          <a:p>
            <a:pPr indent="0" lvl="0" marL="0" rtl="0" algn="l">
              <a:lnSpc>
                <a:spcPct val="105000"/>
              </a:lnSpc>
              <a:spcBef>
                <a:spcPts val="0"/>
              </a:spcBef>
              <a:spcAft>
                <a:spcPts val="0"/>
              </a:spcAft>
              <a:buNone/>
            </a:pPr>
            <a:r>
              <a:rPr lang="en-US" sz="1425">
                <a:solidFill>
                  <a:srgbClr val="171A1D"/>
                </a:solidFill>
                <a:latin typeface="Inter"/>
                <a:ea typeface="Inter"/>
                <a:cs typeface="Inter"/>
                <a:sym typeface="Inter"/>
              </a:rPr>
              <a:t>None of the text should be AI generated, and if there is please specify in a few sentences exactly how you went about this.</a:t>
            </a:r>
            <a:endParaRPr sz="1425">
              <a:solidFill>
                <a:srgbClr val="171A1D"/>
              </a:solidFill>
              <a:latin typeface="Inter"/>
              <a:ea typeface="Inter"/>
              <a:cs typeface="Inter"/>
              <a:sym typeface="Inter"/>
            </a:endParaRPr>
          </a:p>
          <a:p>
            <a:pPr indent="0" lvl="0" marL="0" rtl="0" algn="l">
              <a:lnSpc>
                <a:spcPct val="105000"/>
              </a:lnSpc>
              <a:spcBef>
                <a:spcPts val="0"/>
              </a:spcBef>
              <a:spcAft>
                <a:spcPts val="0"/>
              </a:spcAft>
              <a:buNone/>
            </a:pPr>
            <a:r>
              <a:rPr lang="en-US" sz="1425">
                <a:solidFill>
                  <a:srgbClr val="171A1D"/>
                </a:solidFill>
                <a:latin typeface="Inter"/>
                <a:ea typeface="Inter"/>
                <a:cs typeface="Inter"/>
                <a:sym typeface="Inter"/>
              </a:rPr>
              <a:t>***Facilitator track for the next cohort***</a:t>
            </a:r>
            <a:endParaRPr sz="1425">
              <a:solidFill>
                <a:srgbClr val="171A1D"/>
              </a:solidFill>
              <a:latin typeface="Inter"/>
              <a:ea typeface="Inter"/>
              <a:cs typeface="Inter"/>
              <a:sym typeface="Inter"/>
            </a:endParaRPr>
          </a:p>
          <a:p>
            <a:pPr indent="0" lvl="0" marL="0" rtl="0" algn="l">
              <a:lnSpc>
                <a:spcPct val="105000"/>
              </a:lnSpc>
              <a:spcBef>
                <a:spcPts val="0"/>
              </a:spcBef>
              <a:spcAft>
                <a:spcPts val="0"/>
              </a:spcAft>
              <a:buNone/>
            </a:pPr>
            <a:r>
              <a:t/>
            </a:r>
            <a:endParaRPr sz="1425">
              <a:solidFill>
                <a:srgbClr val="171A1D"/>
              </a:solidFill>
              <a:latin typeface="Inter"/>
              <a:ea typeface="Inter"/>
              <a:cs typeface="Inter"/>
              <a:sym typeface="Inter"/>
            </a:endParaRPr>
          </a:p>
        </p:txBody>
      </p:sp>
      <p:sp>
        <p:nvSpPr>
          <p:cNvPr id="389" name="Google Shape;389;g3fbbe39ac63_3_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Close at 19:00.</a:t>
            </a:r>
            <a:endParaRPr/>
          </a:p>
          <a:p>
            <a:pPr indent="0" lvl="0" marL="0" rtl="0" algn="l">
              <a:spcBef>
                <a:spcPts val="0"/>
              </a:spcBef>
              <a:spcAft>
                <a:spcPts val="0"/>
              </a:spcAft>
              <a:buSzPts val="1200"/>
              <a:buNone/>
            </a:pPr>
            <a:r>
              <a:rPr lang="en-US" sz="1200"/>
              <a:t>Preview Week 4: mechanistic interpretability and practical methods for understanding internal model computation.</a:t>
            </a:r>
            <a:endParaRPr/>
          </a:p>
          <a:p>
            <a:pPr indent="0" lvl="0" marL="0" rtl="0" algn="l">
              <a:spcBef>
                <a:spcPts val="0"/>
              </a:spcBef>
              <a:spcAft>
                <a:spcPts val="0"/>
              </a:spcAft>
              <a:buSzPts val="1200"/>
              <a:buNone/>
            </a:pPr>
            <a:r>
              <a:rPr lang="en-US" sz="1200"/>
              <a:t>Source: https://bluedot.org/courses/technical-ai-safety/4/1</a:t>
            </a:r>
            <a:endParaRPr/>
          </a:p>
        </p:txBody>
      </p:sp>
      <p:sp>
        <p:nvSpPr>
          <p:cNvPr id="409" name="Google Shape;409;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2"/>
          <p:cNvSpPr txBox="1"/>
          <p:nvPr>
            <p:ph type="ctrTitle"/>
          </p:nvPr>
        </p:nvSpPr>
        <p:spPr>
          <a:xfrm>
            <a:off x="393700" y="1041400"/>
            <a:ext cx="7493000" cy="249149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accent1"/>
              </a:buClr>
              <a:buSzPts val="6000"/>
              <a:buFont typeface="Inter SemiBold"/>
              <a:buNone/>
              <a:defRPr b="1" i="0" sz="6000">
                <a:solidFill>
                  <a:schemeClr val="accent1"/>
                </a:solidFill>
                <a:latin typeface="Inter SemiBold"/>
                <a:ea typeface="Inter SemiBold"/>
                <a:cs typeface="Inter SemiBold"/>
                <a:sym typeface="Inter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 type="subTitle"/>
          </p:nvPr>
        </p:nvSpPr>
        <p:spPr>
          <a:xfrm>
            <a:off x="393700" y="4356100"/>
            <a:ext cx="5537200" cy="16383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3"/>
          <p:cNvSpPr txBox="1"/>
          <p:nvPr>
            <p:ph idx="11" type="ftr"/>
          </p:nvPr>
        </p:nvSpPr>
        <p:spPr>
          <a:xfrm>
            <a:off x="393700" y="6279952"/>
            <a:ext cx="3568700" cy="24124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dk1"/>
              </a:buClr>
              <a:buSzPts val="1100"/>
              <a:buNone/>
              <a:defRPr sz="11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2" type="sldNum"/>
          </p:nvPr>
        </p:nvSpPr>
        <p:spPr>
          <a:xfrm>
            <a:off x="11279332" y="6279294"/>
            <a:ext cx="518968" cy="24124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indent="0" lvl="1"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indent="0" lvl="2"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indent="0" lvl="3"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indent="0" lvl="4"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indent="0" lvl="5"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indent="0" lvl="6"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indent="0" lvl="7"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indent="0" lvl="8"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3"/>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393700" y="2032000"/>
            <a:ext cx="11404600" cy="39624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idx="11" type="ftr"/>
          </p:nvPr>
        </p:nvSpPr>
        <p:spPr>
          <a:xfrm>
            <a:off x="393700" y="6279952"/>
            <a:ext cx="3568700" cy="24124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dk1"/>
              </a:buClr>
              <a:buSzPts val="1100"/>
              <a:buNone/>
              <a:defRPr sz="11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2" type="sldNum"/>
          </p:nvPr>
        </p:nvSpPr>
        <p:spPr>
          <a:xfrm>
            <a:off x="11279332" y="6279294"/>
            <a:ext cx="518968" cy="24124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indent="0" lvl="1"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indent="0" lvl="2"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indent="0" lvl="3"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indent="0" lvl="4"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indent="0" lvl="5"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indent="0" lvl="6"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indent="0" lvl="7"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indent="0" lvl="8"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5" name="Google Shape;25;p4"/>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6" name="Shape 26"/>
        <p:cNvGrpSpPr/>
        <p:nvPr/>
      </p:nvGrpSpPr>
      <p:grpSpPr>
        <a:xfrm>
          <a:off x="0" y="0"/>
          <a:ext cx="0" cy="0"/>
          <a:chOff x="0" y="0"/>
          <a:chExt cx="0" cy="0"/>
        </a:xfrm>
      </p:grpSpPr>
      <p:sp>
        <p:nvSpPr>
          <p:cNvPr id="27" name="Google Shape;27;p5"/>
          <p:cNvSpPr txBox="1"/>
          <p:nvPr>
            <p:ph idx="1" type="body"/>
          </p:nvPr>
        </p:nvSpPr>
        <p:spPr>
          <a:xfrm>
            <a:off x="393700" y="2032000"/>
            <a:ext cx="5537200" cy="39624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11" type="ftr"/>
          </p:nvPr>
        </p:nvSpPr>
        <p:spPr>
          <a:xfrm>
            <a:off x="393700" y="6279952"/>
            <a:ext cx="3568700" cy="24124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dk1"/>
              </a:buClr>
              <a:buSzPts val="1100"/>
              <a:buNone/>
              <a:defRPr sz="11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2" type="sldNum"/>
          </p:nvPr>
        </p:nvSpPr>
        <p:spPr>
          <a:xfrm>
            <a:off x="11279332" y="6279294"/>
            <a:ext cx="518968" cy="24124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indent="0" lvl="1"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indent="0" lvl="2"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indent="0" lvl="3"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indent="0" lvl="4"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indent="0" lvl="5"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indent="0" lvl="6"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indent="0" lvl="7"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indent="0" lvl="8"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5"/>
          <p:cNvSpPr txBox="1"/>
          <p:nvPr>
            <p:ph idx="2" type="body"/>
          </p:nvPr>
        </p:nvSpPr>
        <p:spPr>
          <a:xfrm>
            <a:off x="6256618" y="2032000"/>
            <a:ext cx="5537200" cy="39624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32" name="Shape 32"/>
        <p:cNvGrpSpPr/>
        <p:nvPr/>
      </p:nvGrpSpPr>
      <p:grpSpPr>
        <a:xfrm>
          <a:off x="0" y="0"/>
          <a:ext cx="0" cy="0"/>
          <a:chOff x="0" y="0"/>
          <a:chExt cx="0" cy="0"/>
        </a:xfrm>
      </p:grpSpPr>
      <p:sp>
        <p:nvSpPr>
          <p:cNvPr id="33" name="Google Shape;33;p6"/>
          <p:cNvSpPr txBox="1"/>
          <p:nvPr>
            <p:ph idx="1" type="body"/>
          </p:nvPr>
        </p:nvSpPr>
        <p:spPr>
          <a:xfrm>
            <a:off x="393700" y="2032000"/>
            <a:ext cx="3568700" cy="39624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6"/>
          <p:cNvSpPr txBox="1"/>
          <p:nvPr>
            <p:ph idx="11" type="ftr"/>
          </p:nvPr>
        </p:nvSpPr>
        <p:spPr>
          <a:xfrm>
            <a:off x="393700" y="6279952"/>
            <a:ext cx="3568700" cy="24124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dk1"/>
              </a:buClr>
              <a:buSzPts val="1100"/>
              <a:buNone/>
              <a:defRPr sz="11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11279332" y="6279294"/>
            <a:ext cx="518968" cy="24124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indent="0" lvl="1"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indent="0" lvl="2"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indent="0" lvl="3"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indent="0" lvl="4"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indent="0" lvl="5"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indent="0" lvl="6"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indent="0" lvl="7"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indent="0" lvl="8"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6"/>
          <p:cNvSpPr txBox="1"/>
          <p:nvPr>
            <p:ph idx="2" type="body"/>
          </p:nvPr>
        </p:nvSpPr>
        <p:spPr>
          <a:xfrm>
            <a:off x="4318000" y="2032000"/>
            <a:ext cx="3568700" cy="39624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3" type="body"/>
          </p:nvPr>
        </p:nvSpPr>
        <p:spPr>
          <a:xfrm>
            <a:off x="8232273" y="2032000"/>
            <a:ext cx="3568700" cy="39624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spTree>
      <p:nvGrpSpPr>
        <p:cNvPr id="39" name="Shape 39"/>
        <p:cNvGrpSpPr/>
        <p:nvPr/>
      </p:nvGrpSpPr>
      <p:grpSpPr>
        <a:xfrm>
          <a:off x="0" y="0"/>
          <a:ext cx="0" cy="0"/>
          <a:chOff x="0" y="0"/>
          <a:chExt cx="0" cy="0"/>
        </a:xfrm>
      </p:grpSpPr>
      <p:sp>
        <p:nvSpPr>
          <p:cNvPr id="40" name="Google Shape;40;p7"/>
          <p:cNvSpPr txBox="1"/>
          <p:nvPr>
            <p:ph idx="1" type="body"/>
          </p:nvPr>
        </p:nvSpPr>
        <p:spPr>
          <a:xfrm>
            <a:off x="393700" y="4826000"/>
            <a:ext cx="2595934" cy="11684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11" type="ftr"/>
          </p:nvPr>
        </p:nvSpPr>
        <p:spPr>
          <a:xfrm>
            <a:off x="393700" y="6279952"/>
            <a:ext cx="3568700" cy="24124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dk1"/>
              </a:buClr>
              <a:buSzPts val="1100"/>
              <a:buNone/>
              <a:defRPr sz="11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2" type="sldNum"/>
          </p:nvPr>
        </p:nvSpPr>
        <p:spPr>
          <a:xfrm>
            <a:off x="11279332" y="6279952"/>
            <a:ext cx="518968" cy="24124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indent="0" lvl="1"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indent="0" lvl="2"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indent="0" lvl="3"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indent="0" lvl="4"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indent="0" lvl="5"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indent="0" lvl="6"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indent="0" lvl="7"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indent="0" lvl="8"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7"/>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2" type="body"/>
          </p:nvPr>
        </p:nvSpPr>
        <p:spPr>
          <a:xfrm>
            <a:off x="3334966" y="4826000"/>
            <a:ext cx="2595934" cy="11684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800"/>
              <a:buNone/>
              <a:defRPr sz="1800"/>
            </a:lvl2pPr>
            <a:lvl3pPr indent="-228600" lvl="2" marL="1371600" algn="l">
              <a:lnSpc>
                <a:spcPct val="90000"/>
              </a:lnSpc>
              <a:spcBef>
                <a:spcPts val="500"/>
              </a:spcBef>
              <a:spcAft>
                <a:spcPts val="0"/>
              </a:spcAft>
              <a:buClr>
                <a:schemeClr val="dk1"/>
              </a:buClr>
              <a:buSzPts val="1800"/>
              <a:buNone/>
              <a:defRPr sz="1800"/>
            </a:lvl3pPr>
            <a:lvl4pPr indent="-228600" lvl="3" marL="1828800" algn="l">
              <a:lnSpc>
                <a:spcPct val="90000"/>
              </a:lnSpc>
              <a:spcBef>
                <a:spcPts val="500"/>
              </a:spcBef>
              <a:spcAft>
                <a:spcPts val="0"/>
              </a:spcAft>
              <a:buClr>
                <a:schemeClr val="dk1"/>
              </a:buClr>
              <a:buSzPts val="1800"/>
              <a:buNone/>
              <a:defRPr sz="1800"/>
            </a:lvl4pPr>
            <a:lvl5pPr indent="-228600" lvl="4" marL="2286000" algn="l">
              <a:lnSpc>
                <a:spcPct val="90000"/>
              </a:lnSpc>
              <a:spcBef>
                <a:spcPts val="500"/>
              </a:spcBef>
              <a:spcAft>
                <a:spcPts val="0"/>
              </a:spcAft>
              <a:buClr>
                <a:schemeClr val="dk1"/>
              </a:buClr>
              <a:buSzPts val="1800"/>
              <a:buNone/>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3" type="body"/>
          </p:nvPr>
        </p:nvSpPr>
        <p:spPr>
          <a:xfrm>
            <a:off x="6264413" y="4826000"/>
            <a:ext cx="2595934" cy="11684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600"/>
              <a:buNone/>
              <a:defRPr sz="1600"/>
            </a:lvl4pPr>
            <a:lvl5pPr indent="-228600" lvl="4" marL="2286000" algn="l">
              <a:lnSpc>
                <a:spcPct val="90000"/>
              </a:lnSpc>
              <a:spcBef>
                <a:spcPts val="500"/>
              </a:spcBef>
              <a:spcAft>
                <a:spcPts val="0"/>
              </a:spcAft>
              <a:buClr>
                <a:schemeClr val="dk1"/>
              </a:buClr>
              <a:buSzPts val="1600"/>
              <a:buNone/>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4" type="body"/>
          </p:nvPr>
        </p:nvSpPr>
        <p:spPr>
          <a:xfrm>
            <a:off x="9205679" y="4826000"/>
            <a:ext cx="2595934" cy="11684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800"/>
              <a:buNone/>
              <a:defRPr sz="1800"/>
            </a:lvl2pPr>
            <a:lvl3pPr indent="-228600" lvl="2" marL="1371600" algn="l">
              <a:lnSpc>
                <a:spcPct val="90000"/>
              </a:lnSpc>
              <a:spcBef>
                <a:spcPts val="500"/>
              </a:spcBef>
              <a:spcAft>
                <a:spcPts val="0"/>
              </a:spcAft>
              <a:buClr>
                <a:schemeClr val="dk1"/>
              </a:buClr>
              <a:buSzPts val="1800"/>
              <a:buNone/>
              <a:defRPr sz="1800"/>
            </a:lvl3pPr>
            <a:lvl4pPr indent="-228600" lvl="3" marL="1828800" algn="l">
              <a:lnSpc>
                <a:spcPct val="90000"/>
              </a:lnSpc>
              <a:spcBef>
                <a:spcPts val="500"/>
              </a:spcBef>
              <a:spcAft>
                <a:spcPts val="0"/>
              </a:spcAft>
              <a:buClr>
                <a:schemeClr val="dk1"/>
              </a:buClr>
              <a:buSzPts val="1800"/>
              <a:buNone/>
              <a:defRPr sz="1800"/>
            </a:lvl4pPr>
            <a:lvl5pPr indent="-228600" lvl="4" marL="2286000" algn="l">
              <a:lnSpc>
                <a:spcPct val="90000"/>
              </a:lnSpc>
              <a:spcBef>
                <a:spcPts val="500"/>
              </a:spcBef>
              <a:spcAft>
                <a:spcPts val="0"/>
              </a:spcAft>
              <a:buClr>
                <a:schemeClr val="dk1"/>
              </a:buClr>
              <a:buSzPts val="1800"/>
              <a:buNone/>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oter Only">
  <p:cSld name="Footer Only">
    <p:spTree>
      <p:nvGrpSpPr>
        <p:cNvPr id="47" name="Shape 47"/>
        <p:cNvGrpSpPr/>
        <p:nvPr/>
      </p:nvGrpSpPr>
      <p:grpSpPr>
        <a:xfrm>
          <a:off x="0" y="0"/>
          <a:ext cx="0" cy="0"/>
          <a:chOff x="0" y="0"/>
          <a:chExt cx="0" cy="0"/>
        </a:xfrm>
      </p:grpSpPr>
      <p:sp>
        <p:nvSpPr>
          <p:cNvPr id="48" name="Google Shape;48;p8"/>
          <p:cNvSpPr txBox="1"/>
          <p:nvPr>
            <p:ph idx="11" type="ftr"/>
          </p:nvPr>
        </p:nvSpPr>
        <p:spPr>
          <a:xfrm>
            <a:off x="393700" y="6279952"/>
            <a:ext cx="3568700" cy="241240"/>
          </a:xfrm>
          <a:prstGeom prst="rect">
            <a:avLst/>
          </a:prstGeom>
          <a:noFill/>
          <a:ln>
            <a:noFill/>
          </a:ln>
        </p:spPr>
        <p:txBody>
          <a:bodyPr anchorCtr="0" anchor="b" bIns="0" lIns="0" spcFirstLastPara="1" rIns="0" wrap="square" tIns="0">
            <a:noAutofit/>
          </a:bodyPr>
          <a:lstStyle>
            <a:lvl1pPr lvl="0" algn="l">
              <a:spcBef>
                <a:spcPts val="0"/>
              </a:spcBef>
              <a:spcAft>
                <a:spcPts val="0"/>
              </a:spcAft>
              <a:buClr>
                <a:schemeClr val="dk1"/>
              </a:buClr>
              <a:buSzPts val="1100"/>
              <a:buNone/>
              <a:defRPr sz="11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11279332" y="6279294"/>
            <a:ext cx="518968" cy="241240"/>
          </a:xfrm>
          <a:prstGeom prst="rect">
            <a:avLst/>
          </a:prstGeom>
          <a:noFill/>
          <a:ln>
            <a:noFill/>
          </a:ln>
        </p:spPr>
        <p:txBody>
          <a:bodyPr anchorCtr="0" anchor="b" bIns="0" lIns="0" spcFirstLastPara="1" rIns="0" wrap="square" tIns="0">
            <a:noAutofit/>
          </a:bodyPr>
          <a:lstStyle>
            <a:lvl1pPr indent="0" lvl="0"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indent="0" lvl="1"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indent="0" lvl="2"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indent="0" lvl="3"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indent="0" lvl="4"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indent="0" lvl="5"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indent="0" lvl="6"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indent="0" lvl="7"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indent="0" lvl="8" marL="0" marR="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 Field Grid">
  <p:cSld name="36 Field Grid">
    <p:bg>
      <p:bgPr>
        <a:blipFill>
          <a:blip r:embed="rId2">
            <a:alphaModFix/>
          </a:blip>
          <a:stretch>
            <a:fillRect/>
          </a:stretch>
        </a:blipFill>
      </p:bgPr>
    </p:bg>
    <p:spTree>
      <p:nvGrpSpPr>
        <p:cNvPr id="51" name="Shape 5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Field Grid">
  <p:cSld name="48 Field Grid">
    <p:bg>
      <p:bgPr>
        <a:blipFill>
          <a:blip r:embed="rId2">
            <a:alphaModFix/>
          </a:blip>
          <a:stretch>
            <a:fillRect/>
          </a:stretch>
        </a:blip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900"/>
              <a:buFont typeface="Inter Medium"/>
              <a:buNone/>
              <a:defRPr b="0" i="0" sz="2900" u="none" cap="none" strike="noStrike">
                <a:solidFill>
                  <a:schemeClr val="dk1"/>
                </a:solidFill>
                <a:latin typeface="Inter Medium"/>
                <a:ea typeface="Inter Medium"/>
                <a:cs typeface="Inter Medium"/>
                <a:sym typeface="Inter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393700" y="2032000"/>
            <a:ext cx="11404600" cy="3962400"/>
          </a:xfrm>
          <a:prstGeom prst="rect">
            <a:avLst/>
          </a:prstGeom>
          <a:noFill/>
          <a:ln>
            <a:noFill/>
          </a:ln>
        </p:spPr>
        <p:txBody>
          <a:bodyPr anchorCtr="0" anchor="t" bIns="0" lIns="0" spcFirstLastPara="1" rIns="0" wrap="square" tIns="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9pPr>
          </a:lstStyle>
          <a:p/>
        </p:txBody>
      </p:sp>
      <p:sp>
        <p:nvSpPr>
          <p:cNvPr id="12" name="Google Shape;12;p1"/>
          <p:cNvSpPr txBox="1"/>
          <p:nvPr>
            <p:ph idx="11" type="ftr"/>
          </p:nvPr>
        </p:nvSpPr>
        <p:spPr>
          <a:xfrm>
            <a:off x="393700" y="6279952"/>
            <a:ext cx="3568700" cy="241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chemeClr val="dk1"/>
              </a:buClr>
              <a:buSzPts val="1100"/>
              <a:buFont typeface="Arial"/>
              <a:buNone/>
              <a:defRPr sz="1100">
                <a:solidFill>
                  <a:schemeClr val="dk1"/>
                </a:solidFill>
              </a:defRPr>
            </a:lvl1pPr>
            <a:lvl2pPr lvl="1" marR="0" rtl="0" algn="l">
              <a:spcBef>
                <a:spcPts val="0"/>
              </a:spcBef>
              <a:spcAft>
                <a:spcPts val="0"/>
              </a:spcAft>
              <a:buSzPts val="1400"/>
              <a:buFont typeface="Arial"/>
              <a:buNone/>
              <a:defRPr b="0" i="0" sz="1800" u="none" cap="none" strike="noStrike"/>
            </a:lvl2pPr>
            <a:lvl3pPr lvl="2" marR="0" rtl="0" algn="l">
              <a:spcBef>
                <a:spcPts val="0"/>
              </a:spcBef>
              <a:spcAft>
                <a:spcPts val="0"/>
              </a:spcAft>
              <a:buSzPts val="1400"/>
              <a:buFont typeface="Arial"/>
              <a:buNone/>
              <a:defRPr b="0" i="0" sz="1800" u="none" cap="none" strike="noStrike"/>
            </a:lvl3pPr>
            <a:lvl4pPr lvl="3" marR="0" rtl="0" algn="l">
              <a:spcBef>
                <a:spcPts val="0"/>
              </a:spcBef>
              <a:spcAft>
                <a:spcPts val="0"/>
              </a:spcAft>
              <a:buSzPts val="1400"/>
              <a:buFont typeface="Arial"/>
              <a:buNone/>
              <a:defRPr b="0" i="0" sz="1800" u="none" cap="none" strike="noStrike"/>
            </a:lvl4pPr>
            <a:lvl5pPr lvl="4" marR="0" rtl="0" algn="l">
              <a:spcBef>
                <a:spcPts val="0"/>
              </a:spcBef>
              <a:spcAft>
                <a:spcPts val="0"/>
              </a:spcAft>
              <a:buSzPts val="1400"/>
              <a:buFont typeface="Arial"/>
              <a:buNone/>
              <a:defRPr b="0" i="0" sz="1800" u="none" cap="none" strike="noStrike"/>
            </a:lvl5pPr>
            <a:lvl6pPr lvl="5" marR="0" rtl="0" algn="l">
              <a:spcBef>
                <a:spcPts val="0"/>
              </a:spcBef>
              <a:spcAft>
                <a:spcPts val="0"/>
              </a:spcAft>
              <a:buSzPts val="1400"/>
              <a:buFont typeface="Arial"/>
              <a:buNone/>
              <a:defRPr b="0" i="0" sz="1800" u="none" cap="none" strike="noStrike"/>
            </a:lvl6pPr>
            <a:lvl7pPr lvl="6" marR="0" rtl="0" algn="l">
              <a:spcBef>
                <a:spcPts val="0"/>
              </a:spcBef>
              <a:spcAft>
                <a:spcPts val="0"/>
              </a:spcAft>
              <a:buSzPts val="1400"/>
              <a:buFont typeface="Arial"/>
              <a:buNone/>
              <a:defRPr b="0" i="0" sz="1800" u="none" cap="none" strike="noStrike"/>
            </a:lvl7pPr>
            <a:lvl8pPr lvl="7" marR="0" rtl="0" algn="l">
              <a:spcBef>
                <a:spcPts val="0"/>
              </a:spcBef>
              <a:spcAft>
                <a:spcPts val="0"/>
              </a:spcAft>
              <a:buSzPts val="1400"/>
              <a:buFont typeface="Arial"/>
              <a:buNone/>
              <a:defRPr b="0" i="0" sz="1800" u="none" cap="none" strike="noStrike"/>
            </a:lvl8pPr>
            <a:lvl9pPr lvl="8" marR="0" rtl="0" algn="l">
              <a:spcBef>
                <a:spcPts val="0"/>
              </a:spcBef>
              <a:spcAft>
                <a:spcPts val="0"/>
              </a:spcAft>
              <a:buSzPts val="1400"/>
              <a:buFont typeface="Arial"/>
              <a:buNone/>
              <a:defRPr b="0" i="0" sz="1800" u="none" cap="none" strike="noStrike"/>
            </a:lvl9pPr>
          </a:lstStyle>
          <a:p/>
        </p:txBody>
      </p:sp>
      <p:sp>
        <p:nvSpPr>
          <p:cNvPr id="13" name="Google Shape;13;p1"/>
          <p:cNvSpPr txBox="1"/>
          <p:nvPr>
            <p:ph idx="12" type="sldNum"/>
          </p:nvPr>
        </p:nvSpPr>
        <p:spPr>
          <a:xfrm>
            <a:off x="11279332" y="6279294"/>
            <a:ext cx="518968" cy="241240"/>
          </a:xfrm>
          <a:prstGeom prst="rect">
            <a:avLst/>
          </a:prstGeom>
          <a:noFill/>
          <a:ln>
            <a:noFill/>
          </a:ln>
        </p:spPr>
        <p:txBody>
          <a:bodyPr anchorCtr="0" anchor="b" bIns="0" lIns="0" spcFirstLastPara="1" rIns="0" wrap="square" tIns="0">
            <a:noAutofit/>
          </a:bodyPr>
          <a:lstStyle>
            <a:lvl1pPr indent="0" lvl="0"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1pPr>
            <a:lvl2pPr indent="0" lvl="1"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2pPr>
            <a:lvl3pPr indent="0" lvl="2"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3pPr>
            <a:lvl4pPr indent="0" lvl="3"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4pPr>
            <a:lvl5pPr indent="0" lvl="4"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5pPr>
            <a:lvl6pPr indent="0" lvl="5"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6pPr>
            <a:lvl7pPr indent="0" lvl="6"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7pPr>
            <a:lvl8pPr indent="0" lvl="7"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8pPr>
            <a:lvl9pPr indent="0" lvl="8" marL="0" marR="0" rtl="0" algn="r">
              <a:spcBef>
                <a:spcPts val="0"/>
              </a:spcBef>
              <a:spcAft>
                <a:spcPts val="0"/>
              </a:spcAft>
              <a:buClr>
                <a:schemeClr val="dk1"/>
              </a:buClr>
              <a:buSzPts val="1100"/>
              <a:buFont typeface="Inter"/>
              <a:buNone/>
              <a:defRPr sz="11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248">
          <p15:clr>
            <a:srgbClr val="F26B43"/>
          </p15:clr>
        </p15:guide>
        <p15:guide id="4" pos="1264">
          <p15:clr>
            <a:srgbClr val="F26B43"/>
          </p15:clr>
        </p15:guide>
        <p15:guide id="5" pos="1480">
          <p15:clr>
            <a:srgbClr val="F26B43"/>
          </p15:clr>
        </p15:guide>
        <p15:guide id="6" pos="2496">
          <p15:clr>
            <a:srgbClr val="F26B43"/>
          </p15:clr>
        </p15:guide>
        <p15:guide id="7" pos="2712">
          <p15:clr>
            <a:srgbClr val="F26B43"/>
          </p15:clr>
        </p15:guide>
        <p15:guide id="8" pos="3736">
          <p15:clr>
            <a:srgbClr val="F26B43"/>
          </p15:clr>
        </p15:guide>
        <p15:guide id="9" pos="3944">
          <p15:clr>
            <a:srgbClr val="F26B43"/>
          </p15:clr>
        </p15:guide>
        <p15:guide id="10" pos="4968">
          <p15:clr>
            <a:srgbClr val="F26B43"/>
          </p15:clr>
        </p15:guide>
        <p15:guide id="11" pos="5184">
          <p15:clr>
            <a:srgbClr val="F26B43"/>
          </p15:clr>
        </p15:guide>
        <p15:guide id="12" pos="6200">
          <p15:clr>
            <a:srgbClr val="F26B43"/>
          </p15:clr>
        </p15:guide>
        <p15:guide id="13" pos="6416">
          <p15:clr>
            <a:srgbClr val="F26B43"/>
          </p15:clr>
        </p15:guide>
        <p15:guide id="14" pos="7432">
          <p15:clr>
            <a:srgbClr val="F26B43"/>
          </p15:clr>
        </p15:guide>
        <p15:guide id="15" orient="horz">
          <p15:clr>
            <a:srgbClr val="F26B43"/>
          </p15:clr>
        </p15:guide>
        <p15:guide id="16" orient="horz" pos="248">
          <p15:clr>
            <a:srgbClr val="F26B43"/>
          </p15:clr>
        </p15:guide>
        <p15:guide id="17" orient="horz" pos="656">
          <p15:clr>
            <a:srgbClr val="F26B43"/>
          </p15:clr>
        </p15:guide>
        <p15:guide id="18" orient="horz" pos="872">
          <p15:clr>
            <a:srgbClr val="F26B43"/>
          </p15:clr>
        </p15:guide>
        <p15:guide id="19" orient="horz" pos="1280">
          <p15:clr>
            <a:srgbClr val="F26B43"/>
          </p15:clr>
        </p15:guide>
        <p15:guide id="20" orient="horz" pos="1496">
          <p15:clr>
            <a:srgbClr val="F26B43"/>
          </p15:clr>
        </p15:guide>
        <p15:guide id="21" orient="horz" pos="1904">
          <p15:clr>
            <a:srgbClr val="F26B43"/>
          </p15:clr>
        </p15:guide>
        <p15:guide id="22" orient="horz" pos="2120">
          <p15:clr>
            <a:srgbClr val="F26B43"/>
          </p15:clr>
        </p15:guide>
        <p15:guide id="23" orient="horz" pos="2528">
          <p15:clr>
            <a:srgbClr val="F26B43"/>
          </p15:clr>
        </p15:guide>
        <p15:guide id="24" orient="horz" pos="2744">
          <p15:clr>
            <a:srgbClr val="F26B43"/>
          </p15:clr>
        </p15:guide>
        <p15:guide id="25" orient="horz" pos="3152">
          <p15:clr>
            <a:srgbClr val="F26B43"/>
          </p15:clr>
        </p15:guide>
        <p15:guide id="26" orient="horz" pos="3368">
          <p15:clr>
            <a:srgbClr val="F26B43"/>
          </p15:clr>
        </p15:guide>
        <p15:guide id="27" orient="horz" pos="3776">
          <p15:clr>
            <a:srgbClr val="F26B43"/>
          </p15:clr>
        </p15:guide>
        <p15:guide id="28"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2"/>
          <p:cNvSpPr txBox="1"/>
          <p:nvPr>
            <p:ph type="ctrTitle"/>
          </p:nvPr>
        </p:nvSpPr>
        <p:spPr>
          <a:xfrm>
            <a:off x="597174" y="621150"/>
            <a:ext cx="9129000" cy="24015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rgbClr val="2C5D7A"/>
              </a:buClr>
              <a:buSzPts val="7200"/>
              <a:buFont typeface="Inter SemiBold"/>
              <a:buNone/>
            </a:pPr>
            <a:r>
              <a:rPr lang="en-US" sz="7200">
                <a:solidFill>
                  <a:srgbClr val="2C5D7A"/>
                </a:solidFill>
              </a:rPr>
              <a:t>Technical AI Safety</a:t>
            </a:r>
            <a:endParaRPr/>
          </a:p>
          <a:p>
            <a:pPr indent="0" lvl="0" marL="0" rtl="0" algn="l">
              <a:lnSpc>
                <a:spcPct val="90000"/>
              </a:lnSpc>
              <a:spcBef>
                <a:spcPts val="0"/>
              </a:spcBef>
              <a:spcAft>
                <a:spcPts val="0"/>
              </a:spcAft>
              <a:buClr>
                <a:srgbClr val="2C5D7A"/>
              </a:buClr>
              <a:buSzPts val="7200"/>
              <a:buFont typeface="Inter SemiBold"/>
              <a:buNone/>
            </a:pPr>
            <a:r>
              <a:rPr lang="en-US" sz="7200">
                <a:solidFill>
                  <a:srgbClr val="2C5D7A"/>
                </a:solidFill>
              </a:rPr>
              <a:t>Week 3</a:t>
            </a:r>
            <a:endParaRPr/>
          </a:p>
        </p:txBody>
      </p:sp>
      <p:sp>
        <p:nvSpPr>
          <p:cNvPr id="59" name="Google Shape;59;p12"/>
          <p:cNvSpPr txBox="1"/>
          <p:nvPr>
            <p:ph idx="1" type="subTitle"/>
          </p:nvPr>
        </p:nvSpPr>
        <p:spPr>
          <a:xfrm>
            <a:off x="642669" y="4013188"/>
            <a:ext cx="3758400" cy="614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1800"/>
              <a:t>SAIN Amsterdam, Science Park</a:t>
            </a:r>
            <a:endParaRPr/>
          </a:p>
          <a:p>
            <a:pPr indent="0" lvl="0" marL="0" rtl="0" algn="l">
              <a:lnSpc>
                <a:spcPct val="90000"/>
              </a:lnSpc>
              <a:spcBef>
                <a:spcPts val="1000"/>
              </a:spcBef>
              <a:spcAft>
                <a:spcPts val="0"/>
              </a:spcAft>
              <a:buClr>
                <a:schemeClr val="dk1"/>
              </a:buClr>
              <a:buSzPts val="1800"/>
              <a:buNone/>
            </a:pPr>
            <a:r>
              <a:rPr lang="en-US" sz="1800"/>
              <a:t>Monday 21/09/2026, 17:00–19:00</a:t>
            </a:r>
            <a:endParaRPr/>
          </a:p>
        </p:txBody>
      </p:sp>
      <p:pic>
        <p:nvPicPr>
          <p:cNvPr id="60" name="Google Shape;60;p12"/>
          <p:cNvPicPr preferRelativeResize="0"/>
          <p:nvPr/>
        </p:nvPicPr>
        <p:blipFill rotWithShape="1">
          <a:blip r:embed="rId3">
            <a:alphaModFix/>
          </a:blip>
          <a:srcRect b="61469" l="0" r="0" t="25645"/>
          <a:stretch/>
        </p:blipFill>
        <p:spPr>
          <a:xfrm>
            <a:off x="0" y="4763386"/>
            <a:ext cx="12190542" cy="2094614"/>
          </a:xfrm>
          <a:prstGeom prst="rect">
            <a:avLst/>
          </a:prstGeom>
          <a:noFill/>
          <a:ln>
            <a:noFill/>
          </a:ln>
        </p:spPr>
      </p:pic>
      <p:sp>
        <p:nvSpPr>
          <p:cNvPr id="61" name="Google Shape;61;p12"/>
          <p:cNvSpPr txBox="1"/>
          <p:nvPr/>
        </p:nvSpPr>
        <p:spPr>
          <a:xfrm>
            <a:off x="597175" y="3205600"/>
            <a:ext cx="8085300" cy="3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dk1"/>
                </a:solidFill>
              </a:rPr>
              <a:t>How can an evaluation tell us whether a model poses a dangerous risk?</a:t>
            </a:r>
            <a:endParaRPr b="1" sz="1600">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idx="4294967295" type="title"/>
          </p:nvPr>
        </p:nvSpPr>
        <p:spPr>
          <a:xfrm>
            <a:off x="393700" y="883398"/>
            <a:ext cx="7836000" cy="6351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900"/>
              <a:buFont typeface="Inter Medium"/>
              <a:buNone/>
            </a:pPr>
            <a:r>
              <a:rPr b="0" i="0" lang="en-US" sz="3000">
                <a:solidFill>
                  <a:schemeClr val="dk1"/>
                </a:solidFill>
                <a:latin typeface="Inter Medium"/>
                <a:ea typeface="Inter Medium"/>
                <a:cs typeface="Inter Medium"/>
                <a:sym typeface="Inter Medium"/>
              </a:rPr>
              <a:t>Workshop agenda</a:t>
            </a:r>
            <a:endParaRPr sz="3000"/>
          </a:p>
        </p:txBody>
      </p:sp>
      <p:graphicFrame>
        <p:nvGraphicFramePr>
          <p:cNvPr id="68" name="Google Shape;68;p13"/>
          <p:cNvGraphicFramePr/>
          <p:nvPr/>
        </p:nvGraphicFramePr>
        <p:xfrm>
          <a:off x="851638" y="2093050"/>
          <a:ext cx="3000000" cy="3000000"/>
        </p:xfrm>
        <a:graphic>
          <a:graphicData uri="http://schemas.openxmlformats.org/drawingml/2006/table">
            <a:tbl>
              <a:tblPr>
                <a:noFill/>
                <a:tableStyleId>{492A7112-6B5D-4F8E-AF31-E9B7B5157FB5}</a:tableStyleId>
              </a:tblPr>
              <a:tblGrid>
                <a:gridCol w="1233975"/>
                <a:gridCol w="9254750"/>
              </a:tblGrid>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strike="noStrike">
                          <a:solidFill>
                            <a:srgbClr val="171A1D"/>
                          </a:solidFill>
                          <a:latin typeface="Inter"/>
                          <a:ea typeface="Inter"/>
                          <a:cs typeface="Inter"/>
                          <a:sym typeface="Inter"/>
                        </a:rPr>
                        <a:t>01</a:t>
                      </a:r>
                      <a:endParaRPr sz="3000" u="none" cap="none" strike="noStrike">
                        <a:latin typeface="Inter"/>
                        <a:ea typeface="Inter"/>
                        <a:cs typeface="Inter"/>
                        <a:sym typeface="Inter"/>
                      </a:endParaRPr>
                    </a:p>
                  </a:txBody>
                  <a:tcPr marT="91425" marB="91425" marR="91425" marL="91425"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solidFill>
                            <a:srgbClr val="171A1D"/>
                          </a:solidFill>
                          <a:latin typeface="Inter"/>
                          <a:ea typeface="Inter"/>
                          <a:cs typeface="Inter"/>
                          <a:sym typeface="Inter"/>
                        </a:rPr>
                        <a:t>Check-in and open questions</a:t>
                      </a:r>
                      <a:endParaRPr b="1" sz="3000" u="none" cap="none" strike="noStrike">
                        <a:latin typeface="Inter"/>
                        <a:ea typeface="Inter"/>
                        <a:cs typeface="Inter"/>
                        <a:sym typeface="Inter"/>
                      </a:endParaRPr>
                    </a:p>
                  </a:txBody>
                  <a:tcPr marT="91425" marB="91425" marR="91425" marL="91425"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strike="noStrike">
                          <a:solidFill>
                            <a:srgbClr val="171A1D"/>
                          </a:solidFill>
                          <a:latin typeface="Inter"/>
                          <a:ea typeface="Inter"/>
                          <a:cs typeface="Inter"/>
                          <a:sym typeface="Inter"/>
                        </a:rPr>
                        <a:t>02</a:t>
                      </a:r>
                      <a:endParaRPr sz="3000" u="none" cap="none" strike="noStrike">
                        <a:latin typeface="Inter"/>
                        <a:ea typeface="Inter"/>
                        <a:cs typeface="Inter"/>
                        <a:sym typeface="Inter"/>
                      </a:endParaRPr>
                    </a:p>
                  </a:txBody>
                  <a:tcPr marT="91425" marB="91425" marR="91425" marL="91425"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solidFill>
                            <a:srgbClr val="171A1D"/>
                          </a:solidFill>
                          <a:latin typeface="Inter"/>
                          <a:ea typeface="Inter"/>
                          <a:cs typeface="Inter"/>
                          <a:sym typeface="Inter"/>
                        </a:rPr>
                        <a:t>Dangerous capability peer teaching</a:t>
                      </a:r>
                      <a:endParaRPr b="1" sz="3000" u="none" cap="none" strike="noStrike">
                        <a:latin typeface="Inter"/>
                        <a:ea typeface="Inter"/>
                        <a:cs typeface="Inter"/>
                        <a:sym typeface="Inter"/>
                      </a:endParaRPr>
                    </a:p>
                  </a:txBody>
                  <a:tcPr marT="91425" marB="91425" marR="91425" marL="91425"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strike="noStrike">
                          <a:solidFill>
                            <a:srgbClr val="171A1D"/>
                          </a:solidFill>
                          <a:latin typeface="Inter"/>
                          <a:ea typeface="Inter"/>
                          <a:cs typeface="Inter"/>
                          <a:sym typeface="Inter"/>
                        </a:rPr>
                        <a:t>03</a:t>
                      </a:r>
                      <a:endParaRPr sz="3000" u="none" cap="none" strike="noStrike">
                        <a:latin typeface="Inter"/>
                        <a:ea typeface="Inter"/>
                        <a:cs typeface="Inter"/>
                        <a:sym typeface="Inter"/>
                      </a:endParaRPr>
                    </a:p>
                  </a:txBody>
                  <a:tcPr marT="91425" marB="91425" marR="91425" marL="91425"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solidFill>
                            <a:srgbClr val="171A1D"/>
                          </a:solidFill>
                          <a:latin typeface="Inter"/>
                          <a:ea typeface="Inter"/>
                          <a:cs typeface="Inter"/>
                          <a:sym typeface="Inter"/>
                        </a:rPr>
                        <a:t>What makes an evaluation trustworthy</a:t>
                      </a:r>
                      <a:endParaRPr b="1" sz="3000" u="none" cap="none" strike="noStrike">
                        <a:latin typeface="Inter"/>
                        <a:ea typeface="Inter"/>
                        <a:cs typeface="Inter"/>
                        <a:sym typeface="Inter"/>
                      </a:endParaRPr>
                    </a:p>
                  </a:txBody>
                  <a:tcPr marT="91425" marB="91425" marR="91425" marL="91425"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strike="noStrike">
                          <a:solidFill>
                            <a:srgbClr val="171A1D"/>
                          </a:solidFill>
                          <a:latin typeface="Inter"/>
                          <a:ea typeface="Inter"/>
                          <a:cs typeface="Inter"/>
                          <a:sym typeface="Inter"/>
                        </a:rPr>
                        <a:t>04</a:t>
                      </a:r>
                      <a:endParaRPr sz="3000" u="none" cap="none" strike="noStrike">
                        <a:latin typeface="Inter"/>
                        <a:ea typeface="Inter"/>
                        <a:cs typeface="Inter"/>
                        <a:sym typeface="Inter"/>
                      </a:endParaRPr>
                    </a:p>
                  </a:txBody>
                  <a:tcPr marT="91425" marB="91425" marR="91425" marL="91425"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solidFill>
                            <a:srgbClr val="171A1D"/>
                          </a:solidFill>
                          <a:latin typeface="Inter"/>
                          <a:ea typeface="Inter"/>
                          <a:cs typeface="Inter"/>
                          <a:sym typeface="Inter"/>
                        </a:rPr>
                        <a:t>Break</a:t>
                      </a:r>
                      <a:endParaRPr b="1" sz="3000" u="none" cap="none" strike="noStrike">
                        <a:latin typeface="Inter"/>
                        <a:ea typeface="Inter"/>
                        <a:cs typeface="Inter"/>
                        <a:sym typeface="Inter"/>
                      </a:endParaRPr>
                    </a:p>
                  </a:txBody>
                  <a:tcPr marT="91425" marB="91425" marR="91425" marL="91425"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strike="noStrike">
                          <a:solidFill>
                            <a:srgbClr val="171A1D"/>
                          </a:solidFill>
                          <a:latin typeface="Inter"/>
                          <a:ea typeface="Inter"/>
                          <a:cs typeface="Inter"/>
                          <a:sym typeface="Inter"/>
                        </a:rPr>
                        <a:t>05</a:t>
                      </a:r>
                      <a:endParaRPr sz="3000" u="none" cap="none" strike="noStrike">
                        <a:latin typeface="Inter"/>
                        <a:ea typeface="Inter"/>
                        <a:cs typeface="Inter"/>
                        <a:sym typeface="Inter"/>
                      </a:endParaRPr>
                    </a:p>
                  </a:txBody>
                  <a:tcPr marT="91425" marB="91425" marR="91425" marL="91425" anchor="ctr">
                    <a:solidFill>
                      <a:srgbClr val="FFFFFF"/>
                    </a:solidFill>
                  </a:tcPr>
                </a:tc>
                <a:tc>
                  <a:txBody>
                    <a:bodyPr/>
                    <a:lstStyle/>
                    <a:p>
                      <a:pPr indent="0" lvl="0" marL="0" marR="0" rtl="0" algn="l">
                        <a:lnSpc>
                          <a:spcPct val="100000"/>
                        </a:lnSpc>
                        <a:spcBef>
                          <a:spcPts val="0"/>
                        </a:spcBef>
                        <a:spcAft>
                          <a:spcPts val="0"/>
                        </a:spcAft>
                        <a:buClr>
                          <a:schemeClr val="dk1"/>
                        </a:buClr>
                        <a:buSzPts val="2900"/>
                        <a:buFont typeface="Inter Medium"/>
                        <a:buNone/>
                      </a:pPr>
                      <a:r>
                        <a:rPr b="1" lang="en-US" sz="1500" u="none" cap="none" strike="noStrike">
                          <a:solidFill>
                            <a:srgbClr val="171A1D"/>
                          </a:solidFill>
                          <a:latin typeface="Inter"/>
                          <a:ea typeface="Inter"/>
                          <a:cs typeface="Inter"/>
                          <a:sym typeface="Inter"/>
                        </a:rPr>
                        <a:t>Lab risk management frameworks</a:t>
                      </a:r>
                      <a:endParaRPr b="1" sz="3000" u="none" cap="none" strike="noStrike">
                        <a:latin typeface="Inter"/>
                        <a:ea typeface="Inter"/>
                        <a:cs typeface="Inter"/>
                        <a:sym typeface="Inter"/>
                      </a:endParaRPr>
                    </a:p>
                  </a:txBody>
                  <a:tcPr marT="91425" marB="91425" marR="91425" marL="91425"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strike="noStrike">
                          <a:solidFill>
                            <a:srgbClr val="171A1D"/>
                          </a:solidFill>
                          <a:latin typeface="Inter"/>
                          <a:ea typeface="Inter"/>
                          <a:cs typeface="Inter"/>
                          <a:sym typeface="Inter"/>
                        </a:rPr>
                        <a:t>06</a:t>
                      </a:r>
                      <a:endParaRPr sz="3000" u="none" cap="none" strike="noStrike">
                        <a:latin typeface="Inter"/>
                        <a:ea typeface="Inter"/>
                        <a:cs typeface="Inter"/>
                        <a:sym typeface="Inter"/>
                      </a:endParaRPr>
                    </a:p>
                  </a:txBody>
                  <a:tcPr marT="91425" marB="91425" marR="91425" marL="91425"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solidFill>
                            <a:srgbClr val="171A1D"/>
                          </a:solidFill>
                          <a:latin typeface="Inter"/>
                          <a:ea typeface="Inter"/>
                          <a:cs typeface="Inter"/>
                          <a:sym typeface="Inter"/>
                        </a:rPr>
                        <a:t>Synthesis and reflection</a:t>
                      </a:r>
                      <a:endParaRPr b="1" sz="3000" u="none" cap="none" strike="noStrike">
                        <a:latin typeface="Inter"/>
                        <a:ea typeface="Inter"/>
                        <a:cs typeface="Inter"/>
                        <a:sym typeface="Inter"/>
                      </a:endParaRPr>
                    </a:p>
                  </a:txBody>
                  <a:tcPr marT="91425" marB="91425" marR="91425" marL="91425"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14"/>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Check-in</a:t>
            </a:r>
            <a:endParaRPr/>
          </a:p>
        </p:txBody>
      </p:sp>
      <p:sp>
        <p:nvSpPr>
          <p:cNvPr id="75" name="Google Shape;75;p14"/>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17:04–17:07, one sentence each</a:t>
            </a:r>
            <a:endParaRPr/>
          </a:p>
        </p:txBody>
      </p:sp>
      <p:sp>
        <p:nvSpPr>
          <p:cNvPr id="76" name="Google Shape;76;p14"/>
          <p:cNvSpPr/>
          <p:nvPr/>
        </p:nvSpPr>
        <p:spPr>
          <a:xfrm>
            <a:off x="742950" y="1952625"/>
            <a:ext cx="10668000" cy="85725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2D6685"/>
              </a:buClr>
              <a:buSzPts val="3150"/>
              <a:buFont typeface="Inter"/>
              <a:buNone/>
            </a:pPr>
            <a:r>
              <a:rPr b="0" i="0" lang="en-US" sz="3150">
                <a:solidFill>
                  <a:srgbClr val="2D6685"/>
                </a:solidFill>
                <a:latin typeface="Inter"/>
                <a:ea typeface="Inter"/>
                <a:cs typeface="Inter"/>
                <a:sym typeface="Inter"/>
              </a:rPr>
              <a:t>What has stayed with you since last week?</a:t>
            </a:r>
            <a:endParaRPr/>
          </a:p>
        </p:txBody>
      </p:sp>
      <p:sp>
        <p:nvSpPr>
          <p:cNvPr id="77" name="Google Shape;77;p14"/>
          <p:cNvSpPr/>
          <p:nvPr/>
        </p:nvSpPr>
        <p:spPr>
          <a:xfrm>
            <a:off x="1905000" y="3143250"/>
            <a:ext cx="8382000" cy="714375"/>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F5A60"/>
              </a:buClr>
              <a:buSzPts val="1800"/>
              <a:buFont typeface="Inter"/>
              <a:buNone/>
            </a:pPr>
            <a:r>
              <a:rPr b="0" i="0" lang="en-US" sz="1800">
                <a:solidFill>
                  <a:srgbClr val="4F5A60"/>
                </a:solidFill>
                <a:latin typeface="Inter"/>
                <a:ea typeface="Inter"/>
                <a:cs typeface="Inter"/>
                <a:sym typeface="Inter"/>
              </a:rPr>
              <a:t>A question, an example, or how you think about training safer models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From training to detection</a:t>
            </a:r>
            <a:endParaRPr/>
          </a:p>
        </p:txBody>
      </p:sp>
      <p:sp>
        <p:nvSpPr>
          <p:cNvPr id="84" name="Google Shape;84;p15"/>
          <p:cNvSpPr/>
          <p:nvPr/>
        </p:nvSpPr>
        <p:spPr>
          <a:xfrm>
            <a:off x="400050" y="1619250"/>
            <a:ext cx="3524250" cy="2428875"/>
          </a:xfrm>
          <a:prstGeom prst="roundRect">
            <a:avLst>
              <a:gd fmla="val 3922"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609600" y="1771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86" name="Google Shape;86;p15"/>
          <p:cNvSpPr/>
          <p:nvPr/>
        </p:nvSpPr>
        <p:spPr>
          <a:xfrm>
            <a:off x="609600" y="2105025"/>
            <a:ext cx="31051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Failure</a:t>
            </a:r>
            <a:endParaRPr/>
          </a:p>
        </p:txBody>
      </p:sp>
      <p:sp>
        <p:nvSpPr>
          <p:cNvPr id="87" name="Google Shape;87;p15"/>
          <p:cNvSpPr/>
          <p:nvPr/>
        </p:nvSpPr>
        <p:spPr>
          <a:xfrm>
            <a:off x="609600" y="2581275"/>
            <a:ext cx="31051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Week 1 mapped how a system can satisfy its training signal while missing human intent.</a:t>
            </a:r>
            <a:endParaRPr/>
          </a:p>
        </p:txBody>
      </p:sp>
      <p:sp>
        <p:nvSpPr>
          <p:cNvPr id="88" name="Google Shape;88;p15"/>
          <p:cNvSpPr/>
          <p:nvPr/>
        </p:nvSpPr>
        <p:spPr>
          <a:xfrm>
            <a:off x="4333875" y="1619250"/>
            <a:ext cx="3524250" cy="2428875"/>
          </a:xfrm>
          <a:prstGeom prst="roundRect">
            <a:avLst>
              <a:gd fmla="val 3922"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4543425" y="1771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90" name="Google Shape;90;p15"/>
          <p:cNvSpPr/>
          <p:nvPr/>
        </p:nvSpPr>
        <p:spPr>
          <a:xfrm>
            <a:off x="4543425" y="2105025"/>
            <a:ext cx="31051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Intervention</a:t>
            </a:r>
            <a:endParaRPr/>
          </a:p>
        </p:txBody>
      </p:sp>
      <p:sp>
        <p:nvSpPr>
          <p:cNvPr id="91" name="Google Shape;91;p15"/>
          <p:cNvSpPr/>
          <p:nvPr/>
        </p:nvSpPr>
        <p:spPr>
          <a:xfrm>
            <a:off x="4543425" y="2581275"/>
            <a:ext cx="31051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Week 2 examined methods that try to shape safer behaviour and the assumptions behind them.</a:t>
            </a:r>
            <a:endParaRPr/>
          </a:p>
        </p:txBody>
      </p:sp>
      <p:sp>
        <p:nvSpPr>
          <p:cNvPr id="92" name="Google Shape;92;p15"/>
          <p:cNvSpPr/>
          <p:nvPr/>
        </p:nvSpPr>
        <p:spPr>
          <a:xfrm>
            <a:off x="8267700" y="1619250"/>
            <a:ext cx="3524250" cy="2428875"/>
          </a:xfrm>
          <a:prstGeom prst="roundRect">
            <a:avLst>
              <a:gd fmla="val 3922"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5"/>
          <p:cNvSpPr/>
          <p:nvPr/>
        </p:nvSpPr>
        <p:spPr>
          <a:xfrm>
            <a:off x="8477250" y="1771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94" name="Google Shape;94;p15"/>
          <p:cNvSpPr/>
          <p:nvPr/>
        </p:nvSpPr>
        <p:spPr>
          <a:xfrm>
            <a:off x="8477250" y="2105025"/>
            <a:ext cx="31051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Evidence</a:t>
            </a:r>
            <a:endParaRPr/>
          </a:p>
        </p:txBody>
      </p:sp>
      <p:sp>
        <p:nvSpPr>
          <p:cNvPr id="95" name="Google Shape;95;p15"/>
          <p:cNvSpPr/>
          <p:nvPr/>
        </p:nvSpPr>
        <p:spPr>
          <a:xfrm>
            <a:off x="8477250" y="2581275"/>
            <a:ext cx="31051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Week 3 asks what tests would justify confidence before a model causes serious harm.</a:t>
            </a:r>
            <a:endParaRPr/>
          </a:p>
        </p:txBody>
      </p:sp>
      <p:sp>
        <p:nvSpPr>
          <p:cNvPr id="96" name="Google Shape;96;p15"/>
          <p:cNvSpPr/>
          <p:nvPr/>
        </p:nvSpPr>
        <p:spPr>
          <a:xfrm>
            <a:off x="1047750" y="4810125"/>
            <a:ext cx="10096500" cy="76200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2D6685"/>
              </a:buClr>
              <a:buSzPts val="2380"/>
              <a:buFont typeface="Inter"/>
              <a:buNone/>
            </a:pPr>
            <a:r>
              <a:rPr b="1" lang="en-US" sz="2381">
                <a:solidFill>
                  <a:srgbClr val="2D6685"/>
                </a:solidFill>
                <a:latin typeface="Inter"/>
                <a:ea typeface="Inter"/>
                <a:cs typeface="Inter"/>
                <a:sym typeface="Inter"/>
              </a:rPr>
              <a:t>If a</a:t>
            </a:r>
            <a:r>
              <a:rPr b="1" i="0" lang="en-US" sz="2381">
                <a:solidFill>
                  <a:srgbClr val="2D6685"/>
                </a:solidFill>
                <a:latin typeface="Inter"/>
                <a:ea typeface="Inter"/>
                <a:cs typeface="Inter"/>
                <a:sym typeface="Inter"/>
              </a:rPr>
              <a:t> model behaves safely in an evaluation. </a:t>
            </a:r>
            <a:endParaRPr b="1" i="0" sz="2381">
              <a:solidFill>
                <a:srgbClr val="2D6685"/>
              </a:solidFill>
              <a:latin typeface="Inter"/>
              <a:ea typeface="Inter"/>
              <a:cs typeface="Inter"/>
              <a:sym typeface="Inter"/>
            </a:endParaRPr>
          </a:p>
          <a:p>
            <a:pPr indent="0" lvl="0" marL="0" marR="0" rtl="0" algn="ctr">
              <a:lnSpc>
                <a:spcPct val="105000"/>
              </a:lnSpc>
              <a:spcBef>
                <a:spcPts val="0"/>
              </a:spcBef>
              <a:spcAft>
                <a:spcPts val="0"/>
              </a:spcAft>
              <a:buClr>
                <a:srgbClr val="2D6685"/>
              </a:buClr>
              <a:buSzPts val="2380"/>
              <a:buFont typeface="Inter"/>
              <a:buNone/>
            </a:pPr>
            <a:r>
              <a:rPr b="1" i="0" lang="en-US" sz="2000">
                <a:solidFill>
                  <a:srgbClr val="2D6685"/>
                </a:solidFill>
                <a:latin typeface="Inter"/>
                <a:ea typeface="Inter"/>
                <a:cs typeface="Inter"/>
                <a:sym typeface="Inter"/>
              </a:rPr>
              <a:t>What, exactly, have we learned?</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16"/>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Workshop agenda</a:t>
            </a:r>
            <a:endParaRPr/>
          </a:p>
        </p:txBody>
      </p:sp>
      <p:graphicFrame>
        <p:nvGraphicFramePr>
          <p:cNvPr id="103" name="Google Shape;103;p16"/>
          <p:cNvGraphicFramePr/>
          <p:nvPr/>
        </p:nvGraphicFramePr>
        <p:xfrm>
          <a:off x="723900" y="1524000"/>
          <a:ext cx="3000000" cy="3000000"/>
        </p:xfrm>
        <a:graphic>
          <a:graphicData uri="http://schemas.openxmlformats.org/drawingml/2006/table">
            <a:tbl>
              <a:tblPr>
                <a:noFill/>
                <a:tableStyleId>{DE5E5D84-A09C-4323-BA4A-769E8B8D3F1C}</a:tableStyleId>
              </a:tblPr>
              <a:tblGrid>
                <a:gridCol w="1066800"/>
                <a:gridCol w="9648825"/>
              </a:tblGrid>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strike="noStrike">
                          <a:solidFill>
                            <a:srgbClr val="171A1D"/>
                          </a:solidFill>
                          <a:latin typeface="Inter"/>
                          <a:ea typeface="Inter"/>
                          <a:cs typeface="Inter"/>
                          <a:sym typeface="Inter"/>
                        </a:rPr>
                        <a:t>01</a:t>
                      </a:r>
                      <a:endParaRPr/>
                    </a:p>
                  </a:txBody>
                  <a:tcPr marT="45725" marB="45725" marR="91450" marL="91450" anchor="ctr">
                    <a:solidFill>
                      <a:srgbClr val="DCEFD7"/>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171A1D"/>
                          </a:solidFill>
                          <a:latin typeface="Inter"/>
                          <a:ea typeface="Inter"/>
                          <a:cs typeface="Inter"/>
                          <a:sym typeface="Inter"/>
                        </a:rPr>
                        <a:t>Check-in and open questions</a:t>
                      </a:r>
                      <a:endParaRPr/>
                    </a:p>
                  </a:txBody>
                  <a:tcPr marT="45725" marB="45725" marR="91450" marL="91450" anchor="ctr">
                    <a:solidFill>
                      <a:srgbClr val="DCEFD7"/>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02</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Dangerous capability peer teaching</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03</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What makes an evaluation trustworthy</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04</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Break</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05</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Lab risk management frameworks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06</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Synthesis and reflection</a:t>
                      </a:r>
                      <a:endParaRPr/>
                    </a:p>
                  </a:txBody>
                  <a:tcPr marT="45725" marB="45725" marR="91450" marL="9145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17"/>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Learnings and questions</a:t>
            </a:r>
            <a:endParaRPr/>
          </a:p>
        </p:txBody>
      </p:sp>
      <p:sp>
        <p:nvSpPr>
          <p:cNvPr id="110" name="Google Shape;110;p17"/>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17:09–17:20, write for 3 minutes, then discuss as a group</a:t>
            </a:r>
            <a:endParaRPr/>
          </a:p>
        </p:txBody>
      </p:sp>
      <p:sp>
        <p:nvSpPr>
          <p:cNvPr id="111" name="Google Shape;111;p17"/>
          <p:cNvSpPr/>
          <p:nvPr/>
        </p:nvSpPr>
        <p:spPr>
          <a:xfrm>
            <a:off x="400050" y="1762125"/>
            <a:ext cx="3571875" cy="2952750"/>
          </a:xfrm>
          <a:prstGeom prst="roundRect">
            <a:avLst>
              <a:gd fmla="val 3226"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609600" y="19145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113" name="Google Shape;113;p17"/>
          <p:cNvSpPr/>
          <p:nvPr/>
        </p:nvSpPr>
        <p:spPr>
          <a:xfrm>
            <a:off x="609600" y="22479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Surprise</a:t>
            </a:r>
            <a:endParaRPr/>
          </a:p>
        </p:txBody>
      </p:sp>
      <p:sp>
        <p:nvSpPr>
          <p:cNvPr id="114" name="Google Shape;114;p17"/>
          <p:cNvSpPr/>
          <p:nvPr/>
        </p:nvSpPr>
        <p:spPr>
          <a:xfrm>
            <a:off x="609600" y="2724150"/>
            <a:ext cx="3152775"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Which result, example, or policy surprised you? Why?</a:t>
            </a:r>
            <a:endParaRPr/>
          </a:p>
        </p:txBody>
      </p:sp>
      <p:sp>
        <p:nvSpPr>
          <p:cNvPr id="115" name="Google Shape;115;p17"/>
          <p:cNvSpPr/>
          <p:nvPr/>
        </p:nvSpPr>
        <p:spPr>
          <a:xfrm>
            <a:off x="4314825" y="1762125"/>
            <a:ext cx="3571875" cy="2952750"/>
          </a:xfrm>
          <a:prstGeom prst="roundRect">
            <a:avLst>
              <a:gd fmla="val 3226"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7"/>
          <p:cNvSpPr/>
          <p:nvPr/>
        </p:nvSpPr>
        <p:spPr>
          <a:xfrm>
            <a:off x="4524375" y="19145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117" name="Google Shape;117;p17"/>
          <p:cNvSpPr/>
          <p:nvPr/>
        </p:nvSpPr>
        <p:spPr>
          <a:xfrm>
            <a:off x="4524375" y="22479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Confidence</a:t>
            </a:r>
            <a:endParaRPr/>
          </a:p>
        </p:txBody>
      </p:sp>
      <p:sp>
        <p:nvSpPr>
          <p:cNvPr id="118" name="Google Shape;118;p17"/>
          <p:cNvSpPr/>
          <p:nvPr/>
        </p:nvSpPr>
        <p:spPr>
          <a:xfrm>
            <a:off x="4524375" y="2724150"/>
            <a:ext cx="3152775"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Which claim felt strongest? What evidence made it persuasive?</a:t>
            </a:r>
            <a:endParaRPr/>
          </a:p>
        </p:txBody>
      </p:sp>
      <p:sp>
        <p:nvSpPr>
          <p:cNvPr id="119" name="Google Shape;119;p17"/>
          <p:cNvSpPr/>
          <p:nvPr/>
        </p:nvSpPr>
        <p:spPr>
          <a:xfrm>
            <a:off x="8229600" y="1762125"/>
            <a:ext cx="3571875" cy="2952750"/>
          </a:xfrm>
          <a:prstGeom prst="roundRect">
            <a:avLst>
              <a:gd fmla="val 3226"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7"/>
          <p:cNvSpPr/>
          <p:nvPr/>
        </p:nvSpPr>
        <p:spPr>
          <a:xfrm>
            <a:off x="8439150" y="19145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121" name="Google Shape;121;p17"/>
          <p:cNvSpPr/>
          <p:nvPr/>
        </p:nvSpPr>
        <p:spPr>
          <a:xfrm>
            <a:off x="8439150" y="22479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Uncertainty</a:t>
            </a:r>
            <a:endParaRPr/>
          </a:p>
        </p:txBody>
      </p:sp>
      <p:sp>
        <p:nvSpPr>
          <p:cNvPr id="122" name="Google Shape;122;p17"/>
          <p:cNvSpPr/>
          <p:nvPr/>
        </p:nvSpPr>
        <p:spPr>
          <a:xfrm>
            <a:off x="8439150" y="2724150"/>
            <a:ext cx="3152775"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Which question should this group resolve or sharpen today?</a:t>
            </a:r>
            <a:endParaRPr/>
          </a:p>
        </p:txBody>
      </p:sp>
      <p:sp>
        <p:nvSpPr>
          <p:cNvPr id="123" name="Google Shape;123;p17"/>
          <p:cNvSpPr/>
          <p:nvPr/>
        </p:nvSpPr>
        <p:spPr>
          <a:xfrm>
            <a:off x="1428750" y="5238750"/>
            <a:ext cx="9334500" cy="428625"/>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F5A60"/>
              </a:buClr>
              <a:buSzPts val="1575"/>
              <a:buFont typeface="Inter"/>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18"/>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Three different evaluation questions</a:t>
            </a:r>
            <a:endParaRPr/>
          </a:p>
        </p:txBody>
      </p:sp>
      <p:sp>
        <p:nvSpPr>
          <p:cNvPr id="130" name="Google Shape;130;p18"/>
          <p:cNvSpPr/>
          <p:nvPr/>
        </p:nvSpPr>
        <p:spPr>
          <a:xfrm>
            <a:off x="400050" y="1619250"/>
            <a:ext cx="3571875" cy="3143250"/>
          </a:xfrm>
          <a:prstGeom prst="roundRect">
            <a:avLst>
              <a:gd fmla="val 3030"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8"/>
          <p:cNvSpPr/>
          <p:nvPr/>
        </p:nvSpPr>
        <p:spPr>
          <a:xfrm>
            <a:off x="609600" y="1771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132" name="Google Shape;132;p18"/>
          <p:cNvSpPr/>
          <p:nvPr/>
        </p:nvSpPr>
        <p:spPr>
          <a:xfrm>
            <a:off x="609600" y="21050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2025"/>
              <a:buFont typeface="Inter"/>
              <a:buNone/>
            </a:pPr>
            <a:r>
              <a:rPr b="1" i="0" lang="en-US" sz="2025">
                <a:solidFill>
                  <a:srgbClr val="171A1D"/>
                </a:solidFill>
                <a:latin typeface="Inter"/>
                <a:ea typeface="Inter"/>
                <a:cs typeface="Inter"/>
                <a:sym typeface="Inter"/>
              </a:rPr>
              <a:t>Can it?</a:t>
            </a:r>
            <a:endParaRPr/>
          </a:p>
        </p:txBody>
      </p:sp>
      <p:sp>
        <p:nvSpPr>
          <p:cNvPr id="133" name="Google Shape;133;p18"/>
          <p:cNvSpPr/>
          <p:nvPr/>
        </p:nvSpPr>
        <p:spPr>
          <a:xfrm>
            <a:off x="609600" y="2581275"/>
            <a:ext cx="3152775" cy="201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Capability evaluation</a:t>
            </a:r>
            <a:endParaRPr/>
          </a:p>
          <a:p>
            <a:pPr indent="0" lvl="0" marL="0" marR="0" rtl="0" algn="l">
              <a:spcBef>
                <a:spcPts val="0"/>
              </a:spcBef>
              <a:spcAft>
                <a:spcPts val="0"/>
              </a:spcAft>
              <a:buNone/>
            </a:pPr>
            <a:r>
              <a:t/>
            </a:r>
            <a:endParaRPr b="0" i="0" sz="1500">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Tests the strongest performance we can elicit on a dangerous task.</a:t>
            </a:r>
            <a:endParaRPr/>
          </a:p>
        </p:txBody>
      </p:sp>
      <p:sp>
        <p:nvSpPr>
          <p:cNvPr id="134" name="Google Shape;134;p18"/>
          <p:cNvSpPr/>
          <p:nvPr/>
        </p:nvSpPr>
        <p:spPr>
          <a:xfrm>
            <a:off x="4314825" y="1619250"/>
            <a:ext cx="3571875" cy="3143250"/>
          </a:xfrm>
          <a:prstGeom prst="roundRect">
            <a:avLst>
              <a:gd fmla="val 3030"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8"/>
          <p:cNvSpPr/>
          <p:nvPr/>
        </p:nvSpPr>
        <p:spPr>
          <a:xfrm>
            <a:off x="4524375" y="1771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136" name="Google Shape;136;p18"/>
          <p:cNvSpPr/>
          <p:nvPr/>
        </p:nvSpPr>
        <p:spPr>
          <a:xfrm>
            <a:off x="4524375" y="21050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2025"/>
              <a:buFont typeface="Inter"/>
              <a:buNone/>
            </a:pPr>
            <a:r>
              <a:rPr b="1" i="0" lang="en-US" sz="2025">
                <a:solidFill>
                  <a:srgbClr val="171A1D"/>
                </a:solidFill>
                <a:latin typeface="Inter"/>
                <a:ea typeface="Inter"/>
                <a:cs typeface="Inter"/>
                <a:sym typeface="Inter"/>
              </a:rPr>
              <a:t>Will it?</a:t>
            </a:r>
            <a:endParaRPr/>
          </a:p>
        </p:txBody>
      </p:sp>
      <p:sp>
        <p:nvSpPr>
          <p:cNvPr id="137" name="Google Shape;137;p18"/>
          <p:cNvSpPr/>
          <p:nvPr/>
        </p:nvSpPr>
        <p:spPr>
          <a:xfrm>
            <a:off x="4524375" y="2581275"/>
            <a:ext cx="3152775" cy="201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Propensity evaluation</a:t>
            </a:r>
            <a:endParaRPr/>
          </a:p>
          <a:p>
            <a:pPr indent="0" lvl="0" marL="0" marR="0" rtl="0" algn="l">
              <a:spcBef>
                <a:spcPts val="0"/>
              </a:spcBef>
              <a:spcAft>
                <a:spcPts val="0"/>
              </a:spcAft>
              <a:buNone/>
            </a:pPr>
            <a:r>
              <a:t/>
            </a:r>
            <a:endParaRPr b="0" i="0" sz="1500">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Tests how the model behaves under specified goals, pressure, tools, and context.</a:t>
            </a:r>
            <a:endParaRPr/>
          </a:p>
        </p:txBody>
      </p:sp>
      <p:sp>
        <p:nvSpPr>
          <p:cNvPr id="138" name="Google Shape;138;p18"/>
          <p:cNvSpPr/>
          <p:nvPr/>
        </p:nvSpPr>
        <p:spPr>
          <a:xfrm>
            <a:off x="8229600" y="1619250"/>
            <a:ext cx="3571875" cy="3143250"/>
          </a:xfrm>
          <a:prstGeom prst="roundRect">
            <a:avLst>
              <a:gd fmla="val 3030"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8439150" y="1771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140" name="Google Shape;140;p18"/>
          <p:cNvSpPr/>
          <p:nvPr/>
        </p:nvSpPr>
        <p:spPr>
          <a:xfrm>
            <a:off x="8439150" y="21050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2025"/>
              <a:buFont typeface="Inter"/>
              <a:buNone/>
            </a:pPr>
            <a:r>
              <a:rPr b="1" i="0" lang="en-US" sz="2025">
                <a:solidFill>
                  <a:srgbClr val="171A1D"/>
                </a:solidFill>
                <a:latin typeface="Inter"/>
                <a:ea typeface="Inter"/>
                <a:cs typeface="Inter"/>
                <a:sym typeface="Inter"/>
              </a:rPr>
              <a:t>Can we stop it?</a:t>
            </a:r>
            <a:endParaRPr/>
          </a:p>
        </p:txBody>
      </p:sp>
      <p:sp>
        <p:nvSpPr>
          <p:cNvPr id="141" name="Google Shape;141;p18"/>
          <p:cNvSpPr/>
          <p:nvPr/>
        </p:nvSpPr>
        <p:spPr>
          <a:xfrm>
            <a:off x="8439150" y="2581275"/>
            <a:ext cx="3152775" cy="201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Safeguard or control evaluation</a:t>
            </a:r>
            <a:endParaRPr/>
          </a:p>
          <a:p>
            <a:pPr indent="0" lvl="0" marL="0" marR="0" rtl="0" algn="l">
              <a:spcBef>
                <a:spcPts val="0"/>
              </a:spcBef>
              <a:spcAft>
                <a:spcPts val="0"/>
              </a:spcAft>
              <a:buNone/>
            </a:pPr>
            <a:r>
              <a:t/>
            </a:r>
            <a:endParaRPr b="0" i="0" sz="1500">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Tests whether monitoring and protective measures prevent or contain harm.</a:t>
            </a:r>
            <a:endParaRPr/>
          </a:p>
        </p:txBody>
      </p:sp>
      <p:sp>
        <p:nvSpPr>
          <p:cNvPr id="142" name="Google Shape;142;p18"/>
          <p:cNvSpPr/>
          <p:nvPr/>
        </p:nvSpPr>
        <p:spPr>
          <a:xfrm>
            <a:off x="1714500" y="5238750"/>
            <a:ext cx="8763000" cy="4381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2D6685"/>
              </a:buClr>
              <a:buSzPts val="1800"/>
              <a:buFont typeface="Inter"/>
              <a:buNone/>
            </a:pPr>
            <a:r>
              <a:rPr b="1" i="0" lang="en-US" sz="1800">
                <a:solidFill>
                  <a:srgbClr val="2D6685"/>
                </a:solidFill>
                <a:latin typeface="Inter"/>
                <a:ea typeface="Inter"/>
                <a:cs typeface="Inter"/>
                <a:sym typeface="Inter"/>
              </a:rPr>
              <a:t>Evidence for one question does not automatically answer the other two.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19"/>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Workshop agenda</a:t>
            </a:r>
            <a:endParaRPr/>
          </a:p>
        </p:txBody>
      </p:sp>
      <p:graphicFrame>
        <p:nvGraphicFramePr>
          <p:cNvPr id="149" name="Google Shape;149;p19"/>
          <p:cNvGraphicFramePr/>
          <p:nvPr/>
        </p:nvGraphicFramePr>
        <p:xfrm>
          <a:off x="723900" y="1524000"/>
          <a:ext cx="3000000" cy="3000000"/>
        </p:xfrm>
        <a:graphic>
          <a:graphicData uri="http://schemas.openxmlformats.org/drawingml/2006/table">
            <a:tbl>
              <a:tblPr>
                <a:noFill/>
                <a:tableStyleId>{DE5E5D84-A09C-4323-BA4A-769E8B8D3F1C}</a:tableStyleId>
              </a:tblPr>
              <a:tblGrid>
                <a:gridCol w="1066800"/>
                <a:gridCol w="9648825"/>
              </a:tblGrid>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01</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Check-in and open questions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02</a:t>
                      </a:r>
                      <a:endParaRPr/>
                    </a:p>
                  </a:txBody>
                  <a:tcPr marT="45725" marB="45725" marR="91450" marL="91450" anchor="ctr">
                    <a:solidFill>
                      <a:srgbClr val="DCEFD7"/>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171A1D"/>
                          </a:solidFill>
                          <a:latin typeface="Inter"/>
                          <a:ea typeface="Inter"/>
                          <a:cs typeface="Inter"/>
                          <a:sym typeface="Inter"/>
                        </a:rPr>
                        <a:t>Dangerous capability peer teaching</a:t>
                      </a:r>
                      <a:endParaRPr/>
                    </a:p>
                  </a:txBody>
                  <a:tcPr marT="45725" marB="45725" marR="91450" marL="91450" anchor="ctr">
                    <a:solidFill>
                      <a:srgbClr val="DCEFD7"/>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03</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What makes an evaluation trustworthy</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04</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Break</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05</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Lab risk management frameworks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06</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Synthesis and reflection</a:t>
                      </a:r>
                      <a:endParaRPr/>
                    </a:p>
                  </a:txBody>
                  <a:tcPr marT="45725" marB="45725" marR="91450" marL="9145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20"/>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Dangerous capability peer teaching</a:t>
            </a:r>
            <a:endParaRPr/>
          </a:p>
        </p:txBody>
      </p:sp>
      <p:sp>
        <p:nvSpPr>
          <p:cNvPr id="156" name="Google Shape;156;p20"/>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17:20–17:38, two 8-minute rounds, then a 2-minute debrief</a:t>
            </a:r>
            <a:endParaRPr/>
          </a:p>
        </p:txBody>
      </p:sp>
      <p:sp>
        <p:nvSpPr>
          <p:cNvPr id="157" name="Google Shape;157;p20"/>
          <p:cNvSpPr/>
          <p:nvPr/>
        </p:nvSpPr>
        <p:spPr>
          <a:xfrm>
            <a:off x="809625" y="1809750"/>
            <a:ext cx="4953000" cy="3095625"/>
          </a:xfrm>
          <a:prstGeom prst="roundRect">
            <a:avLst>
              <a:gd fmla="val 3077"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0"/>
          <p:cNvSpPr/>
          <p:nvPr/>
        </p:nvSpPr>
        <p:spPr>
          <a:xfrm>
            <a:off x="1019175" y="19621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159" name="Google Shape;159;p20"/>
          <p:cNvSpPr/>
          <p:nvPr/>
        </p:nvSpPr>
        <p:spPr>
          <a:xfrm>
            <a:off x="1019175" y="2295525"/>
            <a:ext cx="45339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950"/>
              <a:buFont typeface="Inter"/>
              <a:buNone/>
            </a:pPr>
            <a:r>
              <a:rPr b="1" i="0" lang="en-US" sz="1950">
                <a:solidFill>
                  <a:srgbClr val="171A1D"/>
                </a:solidFill>
                <a:latin typeface="Inter"/>
                <a:ea typeface="Inter"/>
                <a:cs typeface="Inter"/>
                <a:sym typeface="Inter"/>
              </a:rPr>
              <a:t>Teacher</a:t>
            </a:r>
            <a:endParaRPr/>
          </a:p>
        </p:txBody>
      </p:sp>
      <p:sp>
        <p:nvSpPr>
          <p:cNvPr id="160" name="Google Shape;160;p20"/>
          <p:cNvSpPr/>
          <p:nvPr/>
        </p:nvSpPr>
        <p:spPr>
          <a:xfrm>
            <a:off x="1019175" y="2771775"/>
            <a:ext cx="4533900" cy="197167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75"/>
              <a:buFont typeface="Inter"/>
              <a:buNone/>
            </a:pPr>
            <a:r>
              <a:rPr b="0" i="0" lang="en-US" sz="1575">
                <a:solidFill>
                  <a:srgbClr val="171A1D"/>
                </a:solidFill>
                <a:latin typeface="Inter"/>
                <a:ea typeface="Inter"/>
                <a:cs typeface="Inter"/>
                <a:sym typeface="Inter"/>
              </a:rPr>
              <a:t>Explain one evaluation from memory. Cover the threat model, task, result, and largest uncertainty.</a:t>
            </a:r>
            <a:endParaRPr/>
          </a:p>
          <a:p>
            <a:pPr indent="0" lvl="0" marL="0" marR="0" rtl="0" algn="l">
              <a:spcBef>
                <a:spcPts val="0"/>
              </a:spcBef>
              <a:spcAft>
                <a:spcPts val="0"/>
              </a:spcAft>
              <a:buNone/>
            </a:pPr>
            <a:r>
              <a:t/>
            </a:r>
            <a:endParaRPr b="0" i="0" sz="1575">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575"/>
              <a:buFont typeface="Inter"/>
              <a:buNone/>
            </a:pPr>
            <a:r>
              <a:rPr b="0" i="0" lang="en-US" sz="1575">
                <a:solidFill>
                  <a:srgbClr val="171A1D"/>
                </a:solidFill>
                <a:latin typeface="Inter"/>
                <a:ea typeface="Inter"/>
                <a:cs typeface="Inter"/>
                <a:sym typeface="Inter"/>
              </a:rPr>
              <a:t>Avoid notes for the first four minutes.</a:t>
            </a:r>
            <a:endParaRPr/>
          </a:p>
        </p:txBody>
      </p:sp>
      <p:sp>
        <p:nvSpPr>
          <p:cNvPr id="161" name="Google Shape;161;p20"/>
          <p:cNvSpPr/>
          <p:nvPr/>
        </p:nvSpPr>
        <p:spPr>
          <a:xfrm>
            <a:off x="6429375" y="1809750"/>
            <a:ext cx="4953000" cy="3095625"/>
          </a:xfrm>
          <a:prstGeom prst="roundRect">
            <a:avLst>
              <a:gd fmla="val 3077"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p:nvPr/>
        </p:nvSpPr>
        <p:spPr>
          <a:xfrm>
            <a:off x="6638925" y="19621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163" name="Google Shape;163;p20"/>
          <p:cNvSpPr/>
          <p:nvPr/>
        </p:nvSpPr>
        <p:spPr>
          <a:xfrm>
            <a:off x="6638925" y="2295525"/>
            <a:ext cx="45339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950"/>
              <a:buFont typeface="Inter"/>
              <a:buNone/>
            </a:pPr>
            <a:r>
              <a:rPr b="1" i="0" lang="en-US" sz="1950">
                <a:solidFill>
                  <a:srgbClr val="171A1D"/>
                </a:solidFill>
                <a:latin typeface="Inter"/>
                <a:ea typeface="Inter"/>
                <a:cs typeface="Inter"/>
                <a:sym typeface="Inter"/>
              </a:rPr>
              <a:t>Learner</a:t>
            </a:r>
            <a:endParaRPr/>
          </a:p>
        </p:txBody>
      </p:sp>
      <p:sp>
        <p:nvSpPr>
          <p:cNvPr id="164" name="Google Shape;164;p20"/>
          <p:cNvSpPr/>
          <p:nvPr/>
        </p:nvSpPr>
        <p:spPr>
          <a:xfrm>
            <a:off x="6638925" y="2771775"/>
            <a:ext cx="4533900" cy="197167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75"/>
              <a:buFont typeface="Inter"/>
              <a:buNone/>
            </a:pPr>
            <a:r>
              <a:rPr b="0" i="0" lang="en-US" sz="1575">
                <a:solidFill>
                  <a:srgbClr val="171A1D"/>
                </a:solidFill>
                <a:latin typeface="Inter"/>
                <a:ea typeface="Inter"/>
                <a:cs typeface="Inter"/>
                <a:sym typeface="Inter"/>
              </a:rPr>
              <a:t>Interrupt politely. Ask for operational detail, a counterexample, or an alternative explanation.</a:t>
            </a:r>
            <a:endParaRPr/>
          </a:p>
          <a:p>
            <a:pPr indent="0" lvl="0" marL="0" marR="0" rtl="0" algn="l">
              <a:spcBef>
                <a:spcPts val="0"/>
              </a:spcBef>
              <a:spcAft>
                <a:spcPts val="0"/>
              </a:spcAft>
              <a:buNone/>
            </a:pPr>
            <a:r>
              <a:t/>
            </a:r>
            <a:endParaRPr b="0" i="0" sz="1575">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575"/>
              <a:buFont typeface="Inter"/>
              <a:buNone/>
            </a:pPr>
            <a:r>
              <a:rPr b="0" i="0" lang="en-US" sz="1575">
                <a:solidFill>
                  <a:srgbClr val="171A1D"/>
                </a:solidFill>
                <a:latin typeface="Inter"/>
                <a:ea typeface="Inter"/>
                <a:cs typeface="Inter"/>
                <a:sym typeface="Inter"/>
              </a:rPr>
              <a:t>Your goal is understanding</a:t>
            </a:r>
            <a:r>
              <a:rPr lang="en-US" sz="1575">
                <a:solidFill>
                  <a:srgbClr val="171A1D"/>
                </a:solidFill>
                <a:latin typeface="Inter"/>
                <a:ea typeface="Inter"/>
                <a:cs typeface="Inter"/>
                <a:sym typeface="Inter"/>
              </a:rPr>
              <a:t>.</a:t>
            </a:r>
            <a:endParaRPr/>
          </a:p>
        </p:txBody>
      </p:sp>
      <p:sp>
        <p:nvSpPr>
          <p:cNvPr id="165" name="Google Shape;165;p20"/>
          <p:cNvSpPr/>
          <p:nvPr/>
        </p:nvSpPr>
        <p:spPr>
          <a:xfrm>
            <a:off x="1714500" y="5381625"/>
            <a:ext cx="8763000" cy="4191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F5A60"/>
              </a:buClr>
              <a:buSzPts val="1650"/>
              <a:buFont typeface="Inter"/>
              <a:buNone/>
            </a:pPr>
            <a:r>
              <a:rPr b="0" i="0" lang="en-US" sz="1650">
                <a:solidFill>
                  <a:srgbClr val="4F5A60"/>
                </a:solidFill>
                <a:latin typeface="Inter"/>
                <a:ea typeface="Inter"/>
                <a:cs typeface="Inter"/>
                <a:sym typeface="Inter"/>
              </a:rPr>
              <a:t>Swap roles after 8 minutes. Record the uncertainty that mattered most.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1"/>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Questions for the learner</a:t>
            </a:r>
            <a:endParaRPr/>
          </a:p>
        </p:txBody>
      </p:sp>
      <p:sp>
        <p:nvSpPr>
          <p:cNvPr id="172" name="Google Shape;172;p21"/>
          <p:cNvSpPr/>
          <p:nvPr/>
        </p:nvSpPr>
        <p:spPr>
          <a:xfrm>
            <a:off x="1095375" y="1571625"/>
            <a:ext cx="9906000" cy="3714750"/>
          </a:xfrm>
          <a:prstGeom prst="rect">
            <a:avLst/>
          </a:prstGeom>
          <a:noFill/>
          <a:ln>
            <a:noFill/>
          </a:ln>
        </p:spPr>
        <p:txBody>
          <a:bodyPr anchorCtr="0" anchor="t" bIns="0" lIns="0" spcFirstLastPara="1" rIns="0" wrap="square" tIns="0">
            <a:noAutofit/>
          </a:bodyPr>
          <a:lstStyle/>
          <a:p>
            <a:pPr indent="-347663" lvl="0" marL="457200" marR="0" rtl="0" algn="l">
              <a:lnSpc>
                <a:spcPct val="104000"/>
              </a:lnSpc>
              <a:spcBef>
                <a:spcPts val="0"/>
              </a:spcBef>
              <a:spcAft>
                <a:spcPts val="0"/>
              </a:spcAft>
              <a:buClr>
                <a:srgbClr val="171A1D"/>
              </a:buClr>
              <a:buSzPts val="1875"/>
              <a:buFont typeface="Inter"/>
              <a:buChar char="●"/>
            </a:pPr>
            <a:r>
              <a:rPr lang="en-US" sz="1875">
                <a:solidFill>
                  <a:srgbClr val="171A1D"/>
                </a:solidFill>
                <a:latin typeface="Inter"/>
                <a:ea typeface="Inter"/>
                <a:cs typeface="Inter"/>
                <a:sym typeface="Inter"/>
              </a:rPr>
              <a:t>What dangerous capability or behaviour is the evaluation trying to detect?</a:t>
            </a:r>
            <a:endParaRPr/>
          </a:p>
          <a:p>
            <a:pPr indent="-347663" lvl="0" marL="457200" marR="0" rtl="0" algn="l">
              <a:lnSpc>
                <a:spcPct val="104000"/>
              </a:lnSpc>
              <a:spcBef>
                <a:spcPts val="0"/>
              </a:spcBef>
              <a:spcAft>
                <a:spcPts val="0"/>
              </a:spcAft>
              <a:buClr>
                <a:srgbClr val="171A1D"/>
              </a:buClr>
              <a:buSzPts val="1875"/>
              <a:buFont typeface="Inter"/>
              <a:buChar char="●"/>
            </a:pPr>
            <a:r>
              <a:rPr lang="en-US" sz="1875">
                <a:solidFill>
                  <a:srgbClr val="171A1D"/>
                </a:solidFill>
                <a:latin typeface="Inter"/>
                <a:ea typeface="Inter"/>
                <a:cs typeface="Inter"/>
                <a:sym typeface="Inter"/>
              </a:rPr>
              <a:t>What does success on the task actually measure?</a:t>
            </a:r>
            <a:endParaRPr/>
          </a:p>
          <a:p>
            <a:pPr indent="-347663" lvl="0" marL="457200" marR="0" rtl="0" algn="l">
              <a:lnSpc>
                <a:spcPct val="104000"/>
              </a:lnSpc>
              <a:spcBef>
                <a:spcPts val="0"/>
              </a:spcBef>
              <a:spcAft>
                <a:spcPts val="0"/>
              </a:spcAft>
              <a:buClr>
                <a:srgbClr val="171A1D"/>
              </a:buClr>
              <a:buSzPts val="1875"/>
              <a:buFont typeface="Inter"/>
              <a:buChar char="●"/>
            </a:pPr>
            <a:r>
              <a:rPr lang="en-US" sz="1875">
                <a:solidFill>
                  <a:srgbClr val="171A1D"/>
                </a:solidFill>
                <a:latin typeface="Inter"/>
                <a:ea typeface="Inter"/>
                <a:cs typeface="Inter"/>
                <a:sym typeface="Inter"/>
              </a:rPr>
              <a:t>How did the evaluators try to elicit the model's strongest performance?</a:t>
            </a:r>
            <a:endParaRPr/>
          </a:p>
          <a:p>
            <a:pPr indent="-347663" lvl="0" marL="457200" marR="0" rtl="0" algn="l">
              <a:lnSpc>
                <a:spcPct val="104000"/>
              </a:lnSpc>
              <a:spcBef>
                <a:spcPts val="0"/>
              </a:spcBef>
              <a:spcAft>
                <a:spcPts val="0"/>
              </a:spcAft>
              <a:buClr>
                <a:srgbClr val="171A1D"/>
              </a:buClr>
              <a:buSzPts val="1875"/>
              <a:buFont typeface="Inter"/>
              <a:buChar char="●"/>
            </a:pPr>
            <a:r>
              <a:rPr lang="en-US" sz="1875">
                <a:solidFill>
                  <a:srgbClr val="171A1D"/>
                </a:solidFill>
                <a:latin typeface="Inter"/>
                <a:ea typeface="Inter"/>
                <a:cs typeface="Inter"/>
                <a:sym typeface="Inter"/>
              </a:rPr>
              <a:t>Which confounder or alternative explanation worries you most?</a:t>
            </a:r>
            <a:endParaRPr/>
          </a:p>
          <a:p>
            <a:pPr indent="-347663" lvl="0" marL="457200" marR="0" rtl="0" algn="l">
              <a:lnSpc>
                <a:spcPct val="104000"/>
              </a:lnSpc>
              <a:spcBef>
                <a:spcPts val="0"/>
              </a:spcBef>
              <a:spcAft>
                <a:spcPts val="0"/>
              </a:spcAft>
              <a:buClr>
                <a:srgbClr val="171A1D"/>
              </a:buClr>
              <a:buSzPts val="1875"/>
              <a:buFont typeface="Inter"/>
              <a:buChar char="●"/>
            </a:pPr>
            <a:r>
              <a:rPr lang="en-US" sz="1875">
                <a:solidFill>
                  <a:srgbClr val="171A1D"/>
                </a:solidFill>
                <a:latin typeface="Inter"/>
                <a:ea typeface="Inter"/>
                <a:cs typeface="Inter"/>
                <a:sym typeface="Inter"/>
              </a:rPr>
              <a:t>When in the development lifecycle should this evaluation run?</a:t>
            </a:r>
            <a:endParaRPr/>
          </a:p>
          <a:p>
            <a:pPr indent="-347663" lvl="0" marL="457200" marR="0" rtl="0" algn="l">
              <a:lnSpc>
                <a:spcPct val="104000"/>
              </a:lnSpc>
              <a:spcBef>
                <a:spcPts val="0"/>
              </a:spcBef>
              <a:spcAft>
                <a:spcPts val="0"/>
              </a:spcAft>
              <a:buClr>
                <a:srgbClr val="171A1D"/>
              </a:buClr>
              <a:buSzPts val="1875"/>
              <a:buFont typeface="Inter"/>
              <a:buChar char="●"/>
            </a:pPr>
            <a:r>
              <a:rPr lang="en-US" sz="1875">
                <a:solidFill>
                  <a:srgbClr val="171A1D"/>
                </a:solidFill>
                <a:latin typeface="Inter"/>
                <a:ea typeface="Inter"/>
                <a:cs typeface="Inter"/>
                <a:sym typeface="Inter"/>
              </a:rPr>
              <a:t>What decision should follow from a positive or uncertain result?</a:t>
            </a:r>
            <a:endParaRPr/>
          </a:p>
        </p:txBody>
      </p:sp>
      <p:sp>
        <p:nvSpPr>
          <p:cNvPr id="173" name="Google Shape;173;p21"/>
          <p:cNvSpPr/>
          <p:nvPr/>
        </p:nvSpPr>
        <p:spPr>
          <a:xfrm>
            <a:off x="1619250" y="5524500"/>
            <a:ext cx="8953500" cy="4381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2D6685"/>
              </a:buClr>
              <a:buSzPts val="1800"/>
              <a:buFont typeface="Inter"/>
              <a:buNone/>
            </a:pPr>
            <a:r>
              <a:rPr b="1" i="0" lang="en-US" sz="1800">
                <a:solidFill>
                  <a:srgbClr val="2D6685"/>
                </a:solidFill>
                <a:latin typeface="Inter"/>
                <a:ea typeface="Inter"/>
                <a:cs typeface="Inter"/>
                <a:sym typeface="Inter"/>
              </a:rPr>
              <a:t>Capture one sentence: “This evaluation is useful if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22"/>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Workshop agenda</a:t>
            </a:r>
            <a:endParaRPr/>
          </a:p>
        </p:txBody>
      </p:sp>
      <p:graphicFrame>
        <p:nvGraphicFramePr>
          <p:cNvPr id="180" name="Google Shape;180;p22"/>
          <p:cNvGraphicFramePr/>
          <p:nvPr/>
        </p:nvGraphicFramePr>
        <p:xfrm>
          <a:off x="723900" y="1524000"/>
          <a:ext cx="3000000" cy="3000000"/>
        </p:xfrm>
        <a:graphic>
          <a:graphicData uri="http://schemas.openxmlformats.org/drawingml/2006/table">
            <a:tbl>
              <a:tblPr>
                <a:noFill/>
                <a:tableStyleId>{DE5E5D84-A09C-4323-BA4A-769E8B8D3F1C}</a:tableStyleId>
              </a:tblPr>
              <a:tblGrid>
                <a:gridCol w="1066800"/>
                <a:gridCol w="9648825"/>
              </a:tblGrid>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01</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Check-in and open questions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02</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Dangerous capability peer teaching</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03</a:t>
                      </a:r>
                      <a:endParaRPr/>
                    </a:p>
                  </a:txBody>
                  <a:tcPr marT="45725" marB="45725" marR="91450" marL="91450" anchor="ctr">
                    <a:solidFill>
                      <a:srgbClr val="DCEFD7"/>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171A1D"/>
                          </a:solidFill>
                          <a:latin typeface="Inter"/>
                          <a:ea typeface="Inter"/>
                          <a:cs typeface="Inter"/>
                          <a:sym typeface="Inter"/>
                        </a:rPr>
                        <a:t>What makes an evaluation trustworthy</a:t>
                      </a:r>
                      <a:endParaRPr/>
                    </a:p>
                  </a:txBody>
                  <a:tcPr marT="45725" marB="45725" marR="91450" marL="91450" anchor="ctr">
                    <a:solidFill>
                      <a:srgbClr val="DCEFD7"/>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04</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Break</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05</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Lab risk management frameworks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06</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Synthesis and reflection</a:t>
                      </a:r>
                      <a:endParaRPr/>
                    </a:p>
                  </a:txBody>
                  <a:tcPr marT="45725" marB="45725" marR="91450" marL="9145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23"/>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What makes an evaluation trustworthy?</a:t>
            </a:r>
            <a:endParaRPr/>
          </a:p>
        </p:txBody>
      </p:sp>
      <p:sp>
        <p:nvSpPr>
          <p:cNvPr id="187" name="Google Shape;187;p23"/>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17:38–17:48</a:t>
            </a:r>
            <a:endParaRPr/>
          </a:p>
        </p:txBody>
      </p:sp>
      <p:sp>
        <p:nvSpPr>
          <p:cNvPr id="188" name="Google Shape;188;p23"/>
          <p:cNvSpPr/>
          <p:nvPr/>
        </p:nvSpPr>
        <p:spPr>
          <a:xfrm>
            <a:off x="400050" y="1571625"/>
            <a:ext cx="3571875" cy="1714500"/>
          </a:xfrm>
          <a:prstGeom prst="roundRect">
            <a:avLst>
              <a:gd fmla="val 5556"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3"/>
          <p:cNvSpPr/>
          <p:nvPr/>
        </p:nvSpPr>
        <p:spPr>
          <a:xfrm>
            <a:off x="60960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190" name="Google Shape;190;p23"/>
          <p:cNvSpPr/>
          <p:nvPr/>
        </p:nvSpPr>
        <p:spPr>
          <a:xfrm>
            <a:off x="609600"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1" i="0" lang="en-US" sz="1500">
                <a:solidFill>
                  <a:srgbClr val="171A1D"/>
                </a:solidFill>
                <a:latin typeface="Inter"/>
                <a:ea typeface="Inter"/>
                <a:cs typeface="Inter"/>
                <a:sym typeface="Inter"/>
              </a:rPr>
              <a:t>Target validity</a:t>
            </a:r>
            <a:endParaRPr/>
          </a:p>
        </p:txBody>
      </p:sp>
      <p:sp>
        <p:nvSpPr>
          <p:cNvPr id="191" name="Google Shape;191;p23"/>
          <p:cNvSpPr/>
          <p:nvPr/>
        </p:nvSpPr>
        <p:spPr>
          <a:xfrm>
            <a:off x="609600" y="2533650"/>
            <a:ext cx="3152775" cy="590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75"/>
              <a:buFont typeface="Inter"/>
              <a:buNone/>
            </a:pPr>
            <a:r>
              <a:rPr b="0" i="0" lang="en-US" sz="1275">
                <a:solidFill>
                  <a:srgbClr val="171A1D"/>
                </a:solidFill>
                <a:latin typeface="Inter"/>
                <a:ea typeface="Inter"/>
                <a:cs typeface="Inter"/>
                <a:sym typeface="Inter"/>
              </a:rPr>
              <a:t>Does the task measure the risk we care about?</a:t>
            </a:r>
            <a:endParaRPr/>
          </a:p>
        </p:txBody>
      </p:sp>
      <p:sp>
        <p:nvSpPr>
          <p:cNvPr id="192" name="Google Shape;192;p23"/>
          <p:cNvSpPr/>
          <p:nvPr/>
        </p:nvSpPr>
        <p:spPr>
          <a:xfrm>
            <a:off x="4314825" y="1571625"/>
            <a:ext cx="3571875" cy="1714500"/>
          </a:xfrm>
          <a:prstGeom prst="roundRect">
            <a:avLst>
              <a:gd fmla="val 5556"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3"/>
          <p:cNvSpPr/>
          <p:nvPr/>
        </p:nvSpPr>
        <p:spPr>
          <a:xfrm>
            <a:off x="4524375"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194" name="Google Shape;194;p23"/>
          <p:cNvSpPr/>
          <p:nvPr/>
        </p:nvSpPr>
        <p:spPr>
          <a:xfrm>
            <a:off x="4524375"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1" i="0" lang="en-US" sz="1500">
                <a:solidFill>
                  <a:srgbClr val="171A1D"/>
                </a:solidFill>
                <a:latin typeface="Inter"/>
                <a:ea typeface="Inter"/>
                <a:cs typeface="Inter"/>
                <a:sym typeface="Inter"/>
              </a:rPr>
              <a:t>Elicitation</a:t>
            </a:r>
            <a:endParaRPr/>
          </a:p>
        </p:txBody>
      </p:sp>
      <p:sp>
        <p:nvSpPr>
          <p:cNvPr id="195" name="Google Shape;195;p23"/>
          <p:cNvSpPr/>
          <p:nvPr/>
        </p:nvSpPr>
        <p:spPr>
          <a:xfrm>
            <a:off x="4524375" y="2533650"/>
            <a:ext cx="3152775" cy="590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75"/>
              <a:buFont typeface="Inter"/>
              <a:buNone/>
            </a:pPr>
            <a:r>
              <a:rPr b="0" i="0" lang="en-US" sz="1275">
                <a:solidFill>
                  <a:srgbClr val="171A1D"/>
                </a:solidFill>
                <a:latin typeface="Inter"/>
                <a:ea typeface="Inter"/>
                <a:cs typeface="Inter"/>
                <a:sym typeface="Inter"/>
              </a:rPr>
              <a:t>Did the setup reveal the model's strongest relevant performance?</a:t>
            </a:r>
            <a:endParaRPr/>
          </a:p>
        </p:txBody>
      </p:sp>
      <p:sp>
        <p:nvSpPr>
          <p:cNvPr id="196" name="Google Shape;196;p23"/>
          <p:cNvSpPr/>
          <p:nvPr/>
        </p:nvSpPr>
        <p:spPr>
          <a:xfrm>
            <a:off x="8229600" y="1571625"/>
            <a:ext cx="3571875" cy="1714500"/>
          </a:xfrm>
          <a:prstGeom prst="roundRect">
            <a:avLst>
              <a:gd fmla="val 5556"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3"/>
          <p:cNvSpPr/>
          <p:nvPr/>
        </p:nvSpPr>
        <p:spPr>
          <a:xfrm>
            <a:off x="843915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198" name="Google Shape;198;p23"/>
          <p:cNvSpPr/>
          <p:nvPr/>
        </p:nvSpPr>
        <p:spPr>
          <a:xfrm>
            <a:off x="8439150"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1" i="0" lang="en-US" sz="1500">
                <a:solidFill>
                  <a:srgbClr val="171A1D"/>
                </a:solidFill>
                <a:latin typeface="Inter"/>
                <a:ea typeface="Inter"/>
                <a:cs typeface="Inter"/>
                <a:sym typeface="Inter"/>
              </a:rPr>
              <a:t>Coverage</a:t>
            </a:r>
            <a:endParaRPr/>
          </a:p>
        </p:txBody>
      </p:sp>
      <p:sp>
        <p:nvSpPr>
          <p:cNvPr id="199" name="Google Shape;199;p23"/>
          <p:cNvSpPr/>
          <p:nvPr/>
        </p:nvSpPr>
        <p:spPr>
          <a:xfrm>
            <a:off x="8439150" y="2533650"/>
            <a:ext cx="3152775" cy="590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75"/>
              <a:buFont typeface="Inter"/>
              <a:buNone/>
            </a:pPr>
            <a:r>
              <a:rPr b="0" i="0" lang="en-US" sz="1275">
                <a:solidFill>
                  <a:srgbClr val="171A1D"/>
                </a:solidFill>
                <a:latin typeface="Inter"/>
                <a:ea typeface="Inter"/>
                <a:cs typeface="Inter"/>
                <a:sym typeface="Inter"/>
              </a:rPr>
              <a:t>Which routes to harm or failure remain outside the test?</a:t>
            </a:r>
            <a:endParaRPr/>
          </a:p>
        </p:txBody>
      </p:sp>
      <p:sp>
        <p:nvSpPr>
          <p:cNvPr id="200" name="Google Shape;200;p23"/>
          <p:cNvSpPr/>
          <p:nvPr/>
        </p:nvSpPr>
        <p:spPr>
          <a:xfrm>
            <a:off x="400050" y="3571875"/>
            <a:ext cx="3571875" cy="1714500"/>
          </a:xfrm>
          <a:prstGeom prst="roundRect">
            <a:avLst>
              <a:gd fmla="val 5556"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p:nvPr/>
        </p:nvSpPr>
        <p:spPr>
          <a:xfrm>
            <a:off x="609600" y="372427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04</a:t>
            </a:r>
            <a:endParaRPr/>
          </a:p>
        </p:txBody>
      </p:sp>
      <p:sp>
        <p:nvSpPr>
          <p:cNvPr id="202" name="Google Shape;202;p23"/>
          <p:cNvSpPr/>
          <p:nvPr/>
        </p:nvSpPr>
        <p:spPr>
          <a:xfrm>
            <a:off x="609600" y="405765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1" i="0" lang="en-US" sz="1500">
                <a:solidFill>
                  <a:srgbClr val="171A1D"/>
                </a:solidFill>
                <a:latin typeface="Inter"/>
                <a:ea typeface="Inter"/>
                <a:cs typeface="Inter"/>
                <a:sym typeface="Inter"/>
              </a:rPr>
              <a:t>Robustness</a:t>
            </a:r>
            <a:endParaRPr/>
          </a:p>
        </p:txBody>
      </p:sp>
      <p:sp>
        <p:nvSpPr>
          <p:cNvPr id="203" name="Google Shape;203;p23"/>
          <p:cNvSpPr/>
          <p:nvPr/>
        </p:nvSpPr>
        <p:spPr>
          <a:xfrm>
            <a:off x="609600" y="4533900"/>
            <a:ext cx="3152775" cy="590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75"/>
              <a:buFont typeface="Inter"/>
              <a:buNone/>
            </a:pPr>
            <a:r>
              <a:rPr b="0" i="0" lang="en-US" sz="1275">
                <a:solidFill>
                  <a:srgbClr val="171A1D"/>
                </a:solidFill>
                <a:latin typeface="Inter"/>
                <a:ea typeface="Inter"/>
                <a:cs typeface="Inter"/>
                <a:sym typeface="Inter"/>
              </a:rPr>
              <a:t>Do results persist across prompts, samples, scaffolds, and environments?</a:t>
            </a:r>
            <a:endParaRPr/>
          </a:p>
        </p:txBody>
      </p:sp>
      <p:sp>
        <p:nvSpPr>
          <p:cNvPr id="204" name="Google Shape;204;p23"/>
          <p:cNvSpPr/>
          <p:nvPr/>
        </p:nvSpPr>
        <p:spPr>
          <a:xfrm>
            <a:off x="4314825" y="3571875"/>
            <a:ext cx="3571875" cy="1714500"/>
          </a:xfrm>
          <a:prstGeom prst="roundRect">
            <a:avLst>
              <a:gd fmla="val 5556" name="adj"/>
            </a:avLst>
          </a:prstGeom>
          <a:solidFill>
            <a:srgbClr val="FDE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3"/>
          <p:cNvSpPr/>
          <p:nvPr/>
        </p:nvSpPr>
        <p:spPr>
          <a:xfrm>
            <a:off x="4524375" y="372427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05</a:t>
            </a:r>
            <a:endParaRPr/>
          </a:p>
        </p:txBody>
      </p:sp>
      <p:sp>
        <p:nvSpPr>
          <p:cNvPr id="206" name="Google Shape;206;p23"/>
          <p:cNvSpPr/>
          <p:nvPr/>
        </p:nvSpPr>
        <p:spPr>
          <a:xfrm>
            <a:off x="4524375" y="405765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1" i="0" lang="en-US" sz="1500">
                <a:solidFill>
                  <a:srgbClr val="171A1D"/>
                </a:solidFill>
                <a:latin typeface="Inter"/>
                <a:ea typeface="Inter"/>
                <a:cs typeface="Inter"/>
                <a:sym typeface="Inter"/>
              </a:rPr>
              <a:t>Awareness and gaming</a:t>
            </a:r>
            <a:endParaRPr/>
          </a:p>
        </p:txBody>
      </p:sp>
      <p:sp>
        <p:nvSpPr>
          <p:cNvPr id="207" name="Google Shape;207;p23"/>
          <p:cNvSpPr/>
          <p:nvPr/>
        </p:nvSpPr>
        <p:spPr>
          <a:xfrm>
            <a:off x="4524375" y="4533900"/>
            <a:ext cx="3152775" cy="590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75"/>
              <a:buFont typeface="Inter"/>
              <a:buNone/>
            </a:pPr>
            <a:r>
              <a:rPr b="0" i="0" lang="en-US" sz="1275">
                <a:solidFill>
                  <a:srgbClr val="171A1D"/>
                </a:solidFill>
                <a:latin typeface="Inter"/>
                <a:ea typeface="Inter"/>
                <a:cs typeface="Inter"/>
                <a:sym typeface="Inter"/>
              </a:rPr>
              <a:t>Could the model recognise the test or strategically underperform?</a:t>
            </a:r>
            <a:endParaRPr/>
          </a:p>
        </p:txBody>
      </p:sp>
      <p:sp>
        <p:nvSpPr>
          <p:cNvPr id="208" name="Google Shape;208;p23"/>
          <p:cNvSpPr/>
          <p:nvPr/>
        </p:nvSpPr>
        <p:spPr>
          <a:xfrm>
            <a:off x="8229600" y="3571875"/>
            <a:ext cx="3571875" cy="1714500"/>
          </a:xfrm>
          <a:prstGeom prst="roundRect">
            <a:avLst>
              <a:gd fmla="val 5556"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
          <p:cNvSpPr/>
          <p:nvPr/>
        </p:nvSpPr>
        <p:spPr>
          <a:xfrm>
            <a:off x="8439150" y="372427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06</a:t>
            </a:r>
            <a:endParaRPr/>
          </a:p>
        </p:txBody>
      </p:sp>
      <p:sp>
        <p:nvSpPr>
          <p:cNvPr id="210" name="Google Shape;210;p23"/>
          <p:cNvSpPr/>
          <p:nvPr/>
        </p:nvSpPr>
        <p:spPr>
          <a:xfrm>
            <a:off x="8439150" y="405765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1" i="0" lang="en-US" sz="1500">
                <a:solidFill>
                  <a:srgbClr val="171A1D"/>
                </a:solidFill>
                <a:latin typeface="Inter"/>
                <a:ea typeface="Inter"/>
                <a:cs typeface="Inter"/>
                <a:sym typeface="Inter"/>
              </a:rPr>
              <a:t>Decision link</a:t>
            </a:r>
            <a:endParaRPr/>
          </a:p>
        </p:txBody>
      </p:sp>
      <p:sp>
        <p:nvSpPr>
          <p:cNvPr id="211" name="Google Shape;211;p23"/>
          <p:cNvSpPr/>
          <p:nvPr/>
        </p:nvSpPr>
        <p:spPr>
          <a:xfrm>
            <a:off x="8439150" y="4533900"/>
            <a:ext cx="3152775" cy="590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75"/>
              <a:buFont typeface="Inter"/>
              <a:buNone/>
            </a:pPr>
            <a:r>
              <a:rPr b="0" i="0" lang="en-US" sz="1275">
                <a:solidFill>
                  <a:srgbClr val="171A1D"/>
                </a:solidFill>
                <a:latin typeface="Inter"/>
                <a:ea typeface="Inter"/>
                <a:cs typeface="Inter"/>
                <a:sym typeface="Inter"/>
              </a:rPr>
              <a:t>What action follows from a positive, negative, or uncertain result?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24"/>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Case study: shutdown resistance</a:t>
            </a:r>
            <a:endParaRPr/>
          </a:p>
        </p:txBody>
      </p:sp>
      <p:sp>
        <p:nvSpPr>
          <p:cNvPr id="218" name="Google Shape;218;p24"/>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17:48–18:00</a:t>
            </a:r>
            <a:endParaRPr/>
          </a:p>
        </p:txBody>
      </p:sp>
      <p:sp>
        <p:nvSpPr>
          <p:cNvPr id="219" name="Google Shape;219;p24"/>
          <p:cNvSpPr/>
          <p:nvPr/>
        </p:nvSpPr>
        <p:spPr>
          <a:xfrm>
            <a:off x="400050" y="1571625"/>
            <a:ext cx="3571875" cy="3143250"/>
          </a:xfrm>
          <a:prstGeom prst="roundRect">
            <a:avLst>
              <a:gd fmla="val 3030"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
          <p:cNvSpPr/>
          <p:nvPr/>
        </p:nvSpPr>
        <p:spPr>
          <a:xfrm>
            <a:off x="60960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221" name="Google Shape;221;p24"/>
          <p:cNvSpPr/>
          <p:nvPr/>
        </p:nvSpPr>
        <p:spPr>
          <a:xfrm>
            <a:off x="609600"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Observation</a:t>
            </a:r>
            <a:endParaRPr/>
          </a:p>
        </p:txBody>
      </p:sp>
      <p:sp>
        <p:nvSpPr>
          <p:cNvPr id="222" name="Google Shape;222;p24"/>
          <p:cNvSpPr/>
          <p:nvPr/>
        </p:nvSpPr>
        <p:spPr>
          <a:xfrm>
            <a:off x="609600" y="2533650"/>
            <a:ext cx="3152775" cy="201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In one agentic setup, some models interfered with shutdown while an assigned task remained unfinished.</a:t>
            </a:r>
            <a:endParaRPr/>
          </a:p>
        </p:txBody>
      </p:sp>
      <p:sp>
        <p:nvSpPr>
          <p:cNvPr id="223" name="Google Shape;223;p24"/>
          <p:cNvSpPr/>
          <p:nvPr/>
        </p:nvSpPr>
        <p:spPr>
          <a:xfrm>
            <a:off x="4314825" y="1571625"/>
            <a:ext cx="3571875" cy="3143250"/>
          </a:xfrm>
          <a:prstGeom prst="roundRect">
            <a:avLst>
              <a:gd fmla="val 3030"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a:off x="4524375"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225" name="Google Shape;225;p24"/>
          <p:cNvSpPr/>
          <p:nvPr/>
        </p:nvSpPr>
        <p:spPr>
          <a:xfrm>
            <a:off x="4524375"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Alternative explanation</a:t>
            </a:r>
            <a:endParaRPr/>
          </a:p>
        </p:txBody>
      </p:sp>
      <p:sp>
        <p:nvSpPr>
          <p:cNvPr id="226" name="Google Shape;226;p24"/>
          <p:cNvSpPr/>
          <p:nvPr/>
        </p:nvSpPr>
        <p:spPr>
          <a:xfrm>
            <a:off x="4524375" y="2533650"/>
            <a:ext cx="3152775" cy="201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The task and shutdown instructions conflicted. The model may have prioritised task completion rather than self-preservation.</a:t>
            </a:r>
            <a:endParaRPr/>
          </a:p>
        </p:txBody>
      </p:sp>
      <p:sp>
        <p:nvSpPr>
          <p:cNvPr id="227" name="Google Shape;227;p24"/>
          <p:cNvSpPr/>
          <p:nvPr/>
        </p:nvSpPr>
        <p:spPr>
          <a:xfrm>
            <a:off x="8229600" y="1571625"/>
            <a:ext cx="3571875" cy="3143250"/>
          </a:xfrm>
          <a:prstGeom prst="roundRect">
            <a:avLst>
              <a:gd fmla="val 3030"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
          <p:cNvSpPr/>
          <p:nvPr/>
        </p:nvSpPr>
        <p:spPr>
          <a:xfrm>
            <a:off x="843915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229" name="Google Shape;229;p24"/>
          <p:cNvSpPr/>
          <p:nvPr/>
        </p:nvSpPr>
        <p:spPr>
          <a:xfrm>
            <a:off x="8439150"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Intervention</a:t>
            </a:r>
            <a:endParaRPr/>
          </a:p>
        </p:txBody>
      </p:sp>
      <p:sp>
        <p:nvSpPr>
          <p:cNvPr id="230" name="Google Shape;230;p24"/>
          <p:cNvSpPr/>
          <p:nvPr/>
        </p:nvSpPr>
        <p:spPr>
          <a:xfrm>
            <a:off x="8439150" y="2533650"/>
            <a:ext cx="3152775" cy="2019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Clarifying that </a:t>
            </a:r>
            <a:r>
              <a:rPr lang="en-US" sz="1500">
                <a:solidFill>
                  <a:srgbClr val="171A1D"/>
                </a:solidFill>
                <a:latin typeface="Inter"/>
                <a:ea typeface="Inter"/>
                <a:cs typeface="Inter"/>
                <a:sym typeface="Inter"/>
              </a:rPr>
              <a:t>shut down</a:t>
            </a:r>
            <a:r>
              <a:rPr b="0" i="0" lang="en-US" sz="1500">
                <a:solidFill>
                  <a:srgbClr val="171A1D"/>
                </a:solidFill>
                <a:latin typeface="Inter"/>
                <a:ea typeface="Inter"/>
                <a:cs typeface="Inter"/>
                <a:sym typeface="Inter"/>
              </a:rPr>
              <a:t> took priority, or removing the goal conflict, produced full compliance in the reported follow-up tests.</a:t>
            </a:r>
            <a:endParaRPr/>
          </a:p>
        </p:txBody>
      </p:sp>
      <p:sp>
        <p:nvSpPr>
          <p:cNvPr id="231" name="Google Shape;231;p24"/>
          <p:cNvSpPr/>
          <p:nvPr/>
        </p:nvSpPr>
        <p:spPr>
          <a:xfrm>
            <a:off x="1428750" y="5238750"/>
            <a:ext cx="9334500" cy="4762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2D6685"/>
              </a:buClr>
              <a:buSzPts val="1875"/>
              <a:buFont typeface="Inter"/>
              <a:buNone/>
            </a:pPr>
            <a:r>
              <a:rPr b="1" i="0" lang="en-US" sz="1875">
                <a:solidFill>
                  <a:srgbClr val="2D6685"/>
                </a:solidFill>
                <a:latin typeface="Inter"/>
                <a:ea typeface="Inter"/>
                <a:cs typeface="Inter"/>
                <a:sym typeface="Inter"/>
              </a:rPr>
              <a:t>What conclusion does this evidence support, and what remains unresolved?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25"/>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Workshop agenda</a:t>
            </a:r>
            <a:endParaRPr/>
          </a:p>
        </p:txBody>
      </p:sp>
      <p:graphicFrame>
        <p:nvGraphicFramePr>
          <p:cNvPr id="238" name="Google Shape;238;p25"/>
          <p:cNvGraphicFramePr/>
          <p:nvPr/>
        </p:nvGraphicFramePr>
        <p:xfrm>
          <a:off x="723900" y="1524000"/>
          <a:ext cx="3000000" cy="3000000"/>
        </p:xfrm>
        <a:graphic>
          <a:graphicData uri="http://schemas.openxmlformats.org/drawingml/2006/table">
            <a:tbl>
              <a:tblPr>
                <a:noFill/>
                <a:tableStyleId>{DE5E5D84-A09C-4323-BA4A-769E8B8D3F1C}</a:tableStyleId>
              </a:tblPr>
              <a:tblGrid>
                <a:gridCol w="1066800"/>
                <a:gridCol w="9648825"/>
              </a:tblGrid>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01</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Check-in and open questions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02</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Dangerous capability peer teaching</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03</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What makes an evaluation trustworthy</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04</a:t>
                      </a:r>
                      <a:endParaRPr/>
                    </a:p>
                  </a:txBody>
                  <a:tcPr marT="45725" marB="45725" marR="91450" marL="91450" anchor="ctr">
                    <a:solidFill>
                      <a:srgbClr val="DDEAF7"/>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171A1D"/>
                          </a:solidFill>
                          <a:latin typeface="Inter"/>
                          <a:ea typeface="Inter"/>
                          <a:cs typeface="Inter"/>
                          <a:sym typeface="Inter"/>
                        </a:rPr>
                        <a:t>Break</a:t>
                      </a:r>
                      <a:endParaRPr/>
                    </a:p>
                  </a:txBody>
                  <a:tcPr marT="45725" marB="45725" marR="91450" marL="91450" anchor="ctr">
                    <a:solidFill>
                      <a:srgbClr val="DDEAF7"/>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05</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Lab risk management frameworks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06</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Synthesis and reflection</a:t>
                      </a:r>
                      <a:endParaRPr/>
                    </a:p>
                  </a:txBody>
                  <a:tcPr marT="45725" marB="45725" marR="91450" marL="9145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26"/>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Workshop agenda</a:t>
            </a:r>
            <a:endParaRPr/>
          </a:p>
        </p:txBody>
      </p:sp>
      <p:graphicFrame>
        <p:nvGraphicFramePr>
          <p:cNvPr id="245" name="Google Shape;245;p26"/>
          <p:cNvGraphicFramePr/>
          <p:nvPr/>
        </p:nvGraphicFramePr>
        <p:xfrm>
          <a:off x="723900" y="1524000"/>
          <a:ext cx="3000000" cy="3000000"/>
        </p:xfrm>
        <a:graphic>
          <a:graphicData uri="http://schemas.openxmlformats.org/drawingml/2006/table">
            <a:tbl>
              <a:tblPr>
                <a:noFill/>
                <a:tableStyleId>{DE5E5D84-A09C-4323-BA4A-769E8B8D3F1C}</a:tableStyleId>
              </a:tblPr>
              <a:tblGrid>
                <a:gridCol w="1066800"/>
                <a:gridCol w="9648825"/>
              </a:tblGrid>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01</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Check-in and open questions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02</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Dangerous capability peer teaching</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03</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What makes an evaluation trustworthy</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04</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Break</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05</a:t>
                      </a:r>
                      <a:endParaRPr/>
                    </a:p>
                  </a:txBody>
                  <a:tcPr marT="45725" marB="45725" marR="91450" marL="91450" anchor="ctr">
                    <a:solidFill>
                      <a:srgbClr val="DCEFD7"/>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171A1D"/>
                          </a:solidFill>
                          <a:latin typeface="Inter"/>
                          <a:ea typeface="Inter"/>
                          <a:cs typeface="Inter"/>
                          <a:sym typeface="Inter"/>
                        </a:rPr>
                        <a:t>Lab risk management frameworks</a:t>
                      </a:r>
                      <a:endParaRPr/>
                    </a:p>
                  </a:txBody>
                  <a:tcPr marT="45725" marB="45725" marR="91450" marL="91450" anchor="ctr">
                    <a:solidFill>
                      <a:srgbClr val="DCEFD7"/>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06</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Synthesis and reflection</a:t>
                      </a:r>
                      <a:endParaRPr/>
                    </a:p>
                  </a:txBody>
                  <a:tcPr marT="45725" marB="45725" marR="91450" marL="91450"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27"/>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Five elements of a risk management framework</a:t>
            </a:r>
            <a:endParaRPr/>
          </a:p>
        </p:txBody>
      </p:sp>
      <p:sp>
        <p:nvSpPr>
          <p:cNvPr id="252" name="Google Shape;252;p27"/>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18:05–18:10, shared language for comparing company policies</a:t>
            </a:r>
            <a:endParaRPr/>
          </a:p>
        </p:txBody>
      </p:sp>
      <p:sp>
        <p:nvSpPr>
          <p:cNvPr id="253" name="Google Shape;253;p27"/>
          <p:cNvSpPr/>
          <p:nvPr/>
        </p:nvSpPr>
        <p:spPr>
          <a:xfrm>
            <a:off x="400050" y="1571625"/>
            <a:ext cx="3571875" cy="2000250"/>
          </a:xfrm>
          <a:prstGeom prst="roundRect">
            <a:avLst>
              <a:gd fmla="val 4762"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a:off x="60960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255" name="Google Shape;255;p27"/>
          <p:cNvSpPr/>
          <p:nvPr/>
        </p:nvSpPr>
        <p:spPr>
          <a:xfrm>
            <a:off x="609600"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Limits</a:t>
            </a:r>
            <a:endParaRPr/>
          </a:p>
        </p:txBody>
      </p:sp>
      <p:sp>
        <p:nvSpPr>
          <p:cNvPr id="256" name="Google Shape;256;p27"/>
          <p:cNvSpPr/>
          <p:nvPr/>
        </p:nvSpPr>
        <p:spPr>
          <a:xfrm>
            <a:off x="609600" y="2533650"/>
            <a:ext cx="3152775" cy="876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Observable capability or risk levels that should change the development plan.</a:t>
            </a:r>
            <a:endParaRPr/>
          </a:p>
        </p:txBody>
      </p:sp>
      <p:sp>
        <p:nvSpPr>
          <p:cNvPr id="257" name="Google Shape;257;p27"/>
          <p:cNvSpPr/>
          <p:nvPr/>
        </p:nvSpPr>
        <p:spPr>
          <a:xfrm>
            <a:off x="4314825" y="1571625"/>
            <a:ext cx="3571875" cy="2000250"/>
          </a:xfrm>
          <a:prstGeom prst="roundRect">
            <a:avLst>
              <a:gd fmla="val 4762"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p:nvPr/>
        </p:nvSpPr>
        <p:spPr>
          <a:xfrm>
            <a:off x="4524375"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259" name="Google Shape;259;p27"/>
          <p:cNvSpPr/>
          <p:nvPr/>
        </p:nvSpPr>
        <p:spPr>
          <a:xfrm>
            <a:off x="4524375"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Protections</a:t>
            </a:r>
            <a:endParaRPr/>
          </a:p>
        </p:txBody>
      </p:sp>
      <p:sp>
        <p:nvSpPr>
          <p:cNvPr id="260" name="Google Shape;260;p27"/>
          <p:cNvSpPr/>
          <p:nvPr/>
        </p:nvSpPr>
        <p:spPr>
          <a:xfrm>
            <a:off x="4524375" y="2533650"/>
            <a:ext cx="3152775" cy="876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Security and safeguards intended to keep the risk contained.</a:t>
            </a:r>
            <a:endParaRPr/>
          </a:p>
        </p:txBody>
      </p:sp>
      <p:sp>
        <p:nvSpPr>
          <p:cNvPr id="261" name="Google Shape;261;p27"/>
          <p:cNvSpPr/>
          <p:nvPr/>
        </p:nvSpPr>
        <p:spPr>
          <a:xfrm>
            <a:off x="8229600" y="1571625"/>
            <a:ext cx="3571875" cy="2000250"/>
          </a:xfrm>
          <a:prstGeom prst="roundRect">
            <a:avLst>
              <a:gd fmla="val 4762"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7"/>
          <p:cNvSpPr/>
          <p:nvPr/>
        </p:nvSpPr>
        <p:spPr>
          <a:xfrm>
            <a:off x="843915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263" name="Google Shape;263;p27"/>
          <p:cNvSpPr/>
          <p:nvPr/>
        </p:nvSpPr>
        <p:spPr>
          <a:xfrm>
            <a:off x="8439150" y="2057400"/>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Evaluation</a:t>
            </a:r>
            <a:endParaRPr/>
          </a:p>
        </p:txBody>
      </p:sp>
      <p:sp>
        <p:nvSpPr>
          <p:cNvPr id="264" name="Google Shape;264;p27"/>
          <p:cNvSpPr/>
          <p:nvPr/>
        </p:nvSpPr>
        <p:spPr>
          <a:xfrm>
            <a:off x="8439150" y="2533650"/>
            <a:ext cx="3152775" cy="876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Procedures for detecting thresholds early and handling uncertainty.</a:t>
            </a:r>
            <a:endParaRPr/>
          </a:p>
        </p:txBody>
      </p:sp>
      <p:sp>
        <p:nvSpPr>
          <p:cNvPr id="265" name="Google Shape;265;p27"/>
          <p:cNvSpPr/>
          <p:nvPr/>
        </p:nvSpPr>
        <p:spPr>
          <a:xfrm>
            <a:off x="2362200" y="3905250"/>
            <a:ext cx="3571875" cy="1809750"/>
          </a:xfrm>
          <a:prstGeom prst="roundRect">
            <a:avLst>
              <a:gd fmla="val 5263" name="adj"/>
            </a:avLst>
          </a:prstGeom>
          <a:solidFill>
            <a:srgbClr val="FDE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a:off x="2571750" y="4057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04</a:t>
            </a:r>
            <a:endParaRPr/>
          </a:p>
        </p:txBody>
      </p:sp>
      <p:sp>
        <p:nvSpPr>
          <p:cNvPr id="267" name="Google Shape;267;p27"/>
          <p:cNvSpPr/>
          <p:nvPr/>
        </p:nvSpPr>
        <p:spPr>
          <a:xfrm>
            <a:off x="2571750" y="43910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Response</a:t>
            </a:r>
            <a:endParaRPr/>
          </a:p>
        </p:txBody>
      </p:sp>
      <p:sp>
        <p:nvSpPr>
          <p:cNvPr id="268" name="Google Shape;268;p27"/>
          <p:cNvSpPr/>
          <p:nvPr/>
        </p:nvSpPr>
        <p:spPr>
          <a:xfrm>
            <a:off x="2571750" y="4867275"/>
            <a:ext cx="3152775" cy="685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Predefined action when risk exceeds protections, including pause or access limits.</a:t>
            </a:r>
            <a:endParaRPr/>
          </a:p>
        </p:txBody>
      </p:sp>
      <p:sp>
        <p:nvSpPr>
          <p:cNvPr id="269" name="Google Shape;269;p27"/>
          <p:cNvSpPr/>
          <p:nvPr/>
        </p:nvSpPr>
        <p:spPr>
          <a:xfrm>
            <a:off x="6267450" y="3905250"/>
            <a:ext cx="3571875" cy="1809750"/>
          </a:xfrm>
          <a:prstGeom prst="roundRect">
            <a:avLst>
              <a:gd fmla="val 5263"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p:nvPr/>
        </p:nvSpPr>
        <p:spPr>
          <a:xfrm>
            <a:off x="6477000" y="40576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05</a:t>
            </a:r>
            <a:endParaRPr/>
          </a:p>
        </p:txBody>
      </p:sp>
      <p:sp>
        <p:nvSpPr>
          <p:cNvPr id="271" name="Google Shape;271;p27"/>
          <p:cNvSpPr/>
          <p:nvPr/>
        </p:nvSpPr>
        <p:spPr>
          <a:xfrm>
            <a:off x="6477000" y="43910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Accountability</a:t>
            </a:r>
            <a:endParaRPr/>
          </a:p>
        </p:txBody>
      </p:sp>
      <p:sp>
        <p:nvSpPr>
          <p:cNvPr id="272" name="Google Shape;272;p27"/>
          <p:cNvSpPr/>
          <p:nvPr/>
        </p:nvSpPr>
        <p:spPr>
          <a:xfrm>
            <a:off x="6477000" y="4867275"/>
            <a:ext cx="3152775" cy="685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Who decides, who verifies, and how changes receive outside scrutiny.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28"/>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Company framework jigsaw</a:t>
            </a:r>
            <a:endParaRPr/>
          </a:p>
        </p:txBody>
      </p:sp>
      <p:sp>
        <p:nvSpPr>
          <p:cNvPr id="279" name="Google Shape;279;p28"/>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18:10–18:28, prepare in company pairs, then share across companies</a:t>
            </a:r>
            <a:endParaRPr/>
          </a:p>
        </p:txBody>
      </p:sp>
      <p:sp>
        <p:nvSpPr>
          <p:cNvPr id="280" name="Google Shape;280;p28"/>
          <p:cNvSpPr/>
          <p:nvPr/>
        </p:nvSpPr>
        <p:spPr>
          <a:xfrm>
            <a:off x="400050" y="1571625"/>
            <a:ext cx="2667000" cy="3238500"/>
          </a:xfrm>
          <a:prstGeom prst="roundRect">
            <a:avLst>
              <a:gd fmla="val 3571"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8"/>
          <p:cNvSpPr/>
          <p:nvPr/>
        </p:nvSpPr>
        <p:spPr>
          <a:xfrm>
            <a:off x="60960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282" name="Google Shape;282;p28"/>
          <p:cNvSpPr/>
          <p:nvPr/>
        </p:nvSpPr>
        <p:spPr>
          <a:xfrm>
            <a:off x="609600" y="2057400"/>
            <a:ext cx="22479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448"/>
              <a:buFont typeface="Inter"/>
              <a:buNone/>
            </a:pPr>
            <a:r>
              <a:rPr b="1" i="0" lang="en-US" sz="1448">
                <a:solidFill>
                  <a:srgbClr val="171A1D"/>
                </a:solidFill>
                <a:latin typeface="Inter"/>
                <a:ea typeface="Inter"/>
                <a:cs typeface="Inter"/>
                <a:sym typeface="Inter"/>
              </a:rPr>
              <a:t>Find the weakest element</a:t>
            </a:r>
            <a:endParaRPr/>
          </a:p>
        </p:txBody>
      </p:sp>
      <p:sp>
        <p:nvSpPr>
          <p:cNvPr id="283" name="Google Shape;283;p28"/>
          <p:cNvSpPr/>
          <p:nvPr/>
        </p:nvSpPr>
        <p:spPr>
          <a:xfrm>
            <a:off x="609600" y="2533650"/>
            <a:ext cx="2247900" cy="2114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Which of the five elements is least developed or least specific?</a:t>
            </a:r>
            <a:endParaRPr/>
          </a:p>
        </p:txBody>
      </p:sp>
      <p:sp>
        <p:nvSpPr>
          <p:cNvPr id="284" name="Google Shape;284;p28"/>
          <p:cNvSpPr/>
          <p:nvPr/>
        </p:nvSpPr>
        <p:spPr>
          <a:xfrm>
            <a:off x="3305175" y="1571625"/>
            <a:ext cx="2667000" cy="3238500"/>
          </a:xfrm>
          <a:prstGeom prst="roundRect">
            <a:avLst>
              <a:gd fmla="val 3571"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
          <p:cNvSpPr/>
          <p:nvPr/>
        </p:nvSpPr>
        <p:spPr>
          <a:xfrm>
            <a:off x="3514725"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286" name="Google Shape;286;p28"/>
          <p:cNvSpPr/>
          <p:nvPr/>
        </p:nvSpPr>
        <p:spPr>
          <a:xfrm>
            <a:off x="3514725" y="2057400"/>
            <a:ext cx="22479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75"/>
              <a:buFont typeface="Inter"/>
              <a:buNone/>
            </a:pPr>
            <a:r>
              <a:rPr b="1" i="0" lang="en-US" sz="1575">
                <a:solidFill>
                  <a:srgbClr val="171A1D"/>
                </a:solidFill>
                <a:latin typeface="Inter"/>
                <a:ea typeface="Inter"/>
                <a:cs typeface="Inter"/>
                <a:sym typeface="Inter"/>
              </a:rPr>
              <a:t>Quote the decision rule</a:t>
            </a:r>
            <a:endParaRPr/>
          </a:p>
        </p:txBody>
      </p:sp>
      <p:sp>
        <p:nvSpPr>
          <p:cNvPr id="287" name="Google Shape;287;p28"/>
          <p:cNvSpPr/>
          <p:nvPr/>
        </p:nvSpPr>
        <p:spPr>
          <a:xfrm>
            <a:off x="3514725" y="2533650"/>
            <a:ext cx="2247900" cy="2114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What would trigger stronger safeguards, delayed deployment, or a pause?</a:t>
            </a:r>
            <a:endParaRPr/>
          </a:p>
        </p:txBody>
      </p:sp>
      <p:sp>
        <p:nvSpPr>
          <p:cNvPr id="288" name="Google Shape;288;p28"/>
          <p:cNvSpPr/>
          <p:nvPr/>
        </p:nvSpPr>
        <p:spPr>
          <a:xfrm>
            <a:off x="6210300" y="1571625"/>
            <a:ext cx="2667000" cy="3238500"/>
          </a:xfrm>
          <a:prstGeom prst="roundRect">
            <a:avLst>
              <a:gd fmla="val 3571"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p:nvPr/>
        </p:nvSpPr>
        <p:spPr>
          <a:xfrm>
            <a:off x="6419850"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290" name="Google Shape;290;p28"/>
          <p:cNvSpPr/>
          <p:nvPr/>
        </p:nvSpPr>
        <p:spPr>
          <a:xfrm>
            <a:off x="6419850" y="2057400"/>
            <a:ext cx="22479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75"/>
              <a:buFont typeface="Inter"/>
              <a:buNone/>
            </a:pPr>
            <a:r>
              <a:rPr b="1" i="0" lang="en-US" sz="1575">
                <a:solidFill>
                  <a:srgbClr val="171A1D"/>
                </a:solidFill>
                <a:latin typeface="Inter"/>
                <a:ea typeface="Inter"/>
                <a:cs typeface="Inter"/>
                <a:sym typeface="Inter"/>
              </a:rPr>
              <a:t>Test accountability</a:t>
            </a:r>
            <a:endParaRPr/>
          </a:p>
        </p:txBody>
      </p:sp>
      <p:sp>
        <p:nvSpPr>
          <p:cNvPr id="291" name="Google Shape;291;p28"/>
          <p:cNvSpPr/>
          <p:nvPr/>
        </p:nvSpPr>
        <p:spPr>
          <a:xfrm>
            <a:off x="6419850" y="2533650"/>
            <a:ext cx="2247900" cy="2114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Who interprets uncertain evidence, and who can challenge that decision?</a:t>
            </a:r>
            <a:endParaRPr/>
          </a:p>
        </p:txBody>
      </p:sp>
      <p:sp>
        <p:nvSpPr>
          <p:cNvPr id="292" name="Google Shape;292;p28"/>
          <p:cNvSpPr/>
          <p:nvPr/>
        </p:nvSpPr>
        <p:spPr>
          <a:xfrm>
            <a:off x="9115425" y="1571625"/>
            <a:ext cx="2667000" cy="3238500"/>
          </a:xfrm>
          <a:prstGeom prst="roundRect">
            <a:avLst>
              <a:gd fmla="val 3571" name="adj"/>
            </a:avLst>
          </a:prstGeom>
          <a:solidFill>
            <a:srgbClr val="FDE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8"/>
          <p:cNvSpPr/>
          <p:nvPr/>
        </p:nvSpPr>
        <p:spPr>
          <a:xfrm>
            <a:off x="9324975" y="1724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04</a:t>
            </a:r>
            <a:endParaRPr/>
          </a:p>
        </p:txBody>
      </p:sp>
      <p:sp>
        <p:nvSpPr>
          <p:cNvPr id="294" name="Google Shape;294;p28"/>
          <p:cNvSpPr/>
          <p:nvPr/>
        </p:nvSpPr>
        <p:spPr>
          <a:xfrm>
            <a:off x="9324975" y="2057400"/>
            <a:ext cx="22479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575"/>
              <a:buFont typeface="Inter"/>
              <a:buNone/>
            </a:pPr>
            <a:r>
              <a:rPr b="1" i="0" lang="en-US" sz="1575">
                <a:solidFill>
                  <a:srgbClr val="171A1D"/>
                </a:solidFill>
                <a:latin typeface="Inter"/>
                <a:ea typeface="Inter"/>
                <a:cs typeface="Inter"/>
                <a:sym typeface="Inter"/>
              </a:rPr>
              <a:t>Propose one repair</a:t>
            </a:r>
            <a:endParaRPr/>
          </a:p>
        </p:txBody>
      </p:sp>
      <p:sp>
        <p:nvSpPr>
          <p:cNvPr id="295" name="Google Shape;295;p28"/>
          <p:cNvSpPr/>
          <p:nvPr/>
        </p:nvSpPr>
        <p:spPr>
          <a:xfrm>
            <a:off x="9324975" y="2533650"/>
            <a:ext cx="2247900" cy="211455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Make one commitment more observable, enforceable, or independently verifiable.</a:t>
            </a:r>
            <a:endParaRPr/>
          </a:p>
        </p:txBody>
      </p:sp>
      <p:sp>
        <p:nvSpPr>
          <p:cNvPr id="296" name="Google Shape;296;p28"/>
          <p:cNvSpPr/>
          <p:nvPr/>
        </p:nvSpPr>
        <p:spPr>
          <a:xfrm>
            <a:off x="1809750" y="5334000"/>
            <a:ext cx="8572500" cy="4381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2D6685"/>
              </a:buClr>
              <a:buSzPts val="1800"/>
              <a:buFont typeface="Inter"/>
              <a:buNone/>
            </a:pPr>
            <a:r>
              <a:rPr b="1" i="0" lang="en-US" sz="1800">
                <a:solidFill>
                  <a:srgbClr val="2D6685"/>
                </a:solidFill>
                <a:latin typeface="Inter"/>
                <a:ea typeface="Inter"/>
                <a:cs typeface="Inter"/>
                <a:sym typeface="Inter"/>
              </a:rPr>
              <a:t>Output: one strength, one gap, and one concrete improvement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9"/>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Current frontier risk frameworks</a:t>
            </a:r>
            <a:endParaRPr/>
          </a:p>
        </p:txBody>
      </p:sp>
      <p:sp>
        <p:nvSpPr>
          <p:cNvPr id="303" name="Google Shape;303;p29"/>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Reference point for the jigsaw, not a ranking</a:t>
            </a:r>
            <a:endParaRPr/>
          </a:p>
        </p:txBody>
      </p:sp>
      <p:sp>
        <p:nvSpPr>
          <p:cNvPr id="304" name="Google Shape;304;p29"/>
          <p:cNvSpPr/>
          <p:nvPr/>
        </p:nvSpPr>
        <p:spPr>
          <a:xfrm>
            <a:off x="400050" y="1571625"/>
            <a:ext cx="5600700" cy="1762125"/>
          </a:xfrm>
          <a:prstGeom prst="roundRect">
            <a:avLst>
              <a:gd fmla="val 5405"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9"/>
          <p:cNvSpPr/>
          <p:nvPr/>
        </p:nvSpPr>
        <p:spPr>
          <a:xfrm>
            <a:off x="609600" y="1781175"/>
            <a:ext cx="51816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800"/>
              <a:buFont typeface="Inter"/>
              <a:buNone/>
            </a:pPr>
            <a:r>
              <a:rPr b="1" i="0" lang="en-US" sz="1800">
                <a:solidFill>
                  <a:srgbClr val="171A1D"/>
                </a:solidFill>
                <a:latin typeface="Inter"/>
                <a:ea typeface="Inter"/>
                <a:cs typeface="Inter"/>
                <a:sym typeface="Inter"/>
              </a:rPr>
              <a:t>Anthropic</a:t>
            </a:r>
            <a:endParaRPr/>
          </a:p>
        </p:txBody>
      </p:sp>
      <p:sp>
        <p:nvSpPr>
          <p:cNvPr id="306" name="Google Shape;306;p29"/>
          <p:cNvSpPr/>
          <p:nvPr/>
        </p:nvSpPr>
        <p:spPr>
          <a:xfrm>
            <a:off x="609600" y="2276475"/>
            <a:ext cx="5181600" cy="8858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Responsible Scaling Policy, version 3.4</a:t>
            </a:r>
            <a:endParaRPr/>
          </a:p>
          <a:p>
            <a:pPr indent="0" lvl="0" marL="0" marR="0" rtl="0" algn="l">
              <a:spcBef>
                <a:spcPts val="0"/>
              </a:spcBef>
              <a:spcAft>
                <a:spcPts val="0"/>
              </a:spcAft>
              <a:buNone/>
            </a:pPr>
            <a:r>
              <a:t/>
            </a:r>
            <a:endParaRPr b="0" i="0" sz="1350">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Question: which items are commitments, public goals, or industry recommendations?</a:t>
            </a:r>
            <a:endParaRPr/>
          </a:p>
        </p:txBody>
      </p:sp>
      <p:sp>
        <p:nvSpPr>
          <p:cNvPr id="307" name="Google Shape;307;p29"/>
          <p:cNvSpPr/>
          <p:nvPr/>
        </p:nvSpPr>
        <p:spPr>
          <a:xfrm>
            <a:off x="6191250" y="1571625"/>
            <a:ext cx="5600700" cy="1762125"/>
          </a:xfrm>
          <a:prstGeom prst="roundRect">
            <a:avLst>
              <a:gd fmla="val 5405"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9"/>
          <p:cNvSpPr/>
          <p:nvPr/>
        </p:nvSpPr>
        <p:spPr>
          <a:xfrm>
            <a:off x="6400800" y="1781175"/>
            <a:ext cx="51816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800"/>
              <a:buFont typeface="Inter"/>
              <a:buNone/>
            </a:pPr>
            <a:r>
              <a:rPr b="1" i="0" lang="en-US" sz="1800">
                <a:solidFill>
                  <a:srgbClr val="171A1D"/>
                </a:solidFill>
                <a:latin typeface="Inter"/>
                <a:ea typeface="Inter"/>
                <a:cs typeface="Inter"/>
                <a:sym typeface="Inter"/>
              </a:rPr>
              <a:t>OpenAI</a:t>
            </a:r>
            <a:endParaRPr/>
          </a:p>
        </p:txBody>
      </p:sp>
      <p:sp>
        <p:nvSpPr>
          <p:cNvPr id="309" name="Google Shape;309;p29"/>
          <p:cNvSpPr/>
          <p:nvPr/>
        </p:nvSpPr>
        <p:spPr>
          <a:xfrm>
            <a:off x="6400800" y="2276475"/>
            <a:ext cx="5181600" cy="8858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Preparedness Framework, version 2</a:t>
            </a:r>
            <a:endParaRPr/>
          </a:p>
          <a:p>
            <a:pPr indent="0" lvl="0" marL="0" marR="0" rtl="0" algn="l">
              <a:spcBef>
                <a:spcPts val="0"/>
              </a:spcBef>
              <a:spcAft>
                <a:spcPts val="0"/>
              </a:spcAft>
              <a:buNone/>
            </a:pPr>
            <a:r>
              <a:t/>
            </a:r>
            <a:endParaRPr b="0" i="0" sz="1350">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Question: how does evidence map to model development and deployment decisions?</a:t>
            </a:r>
            <a:endParaRPr/>
          </a:p>
        </p:txBody>
      </p:sp>
      <p:sp>
        <p:nvSpPr>
          <p:cNvPr id="310" name="Google Shape;310;p29"/>
          <p:cNvSpPr/>
          <p:nvPr/>
        </p:nvSpPr>
        <p:spPr>
          <a:xfrm>
            <a:off x="400050" y="3619500"/>
            <a:ext cx="5600700" cy="1762125"/>
          </a:xfrm>
          <a:prstGeom prst="roundRect">
            <a:avLst>
              <a:gd fmla="val 5405"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p:nvPr/>
        </p:nvSpPr>
        <p:spPr>
          <a:xfrm>
            <a:off x="609600" y="3829050"/>
            <a:ext cx="51816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800"/>
              <a:buFont typeface="Inter"/>
              <a:buNone/>
            </a:pPr>
            <a:r>
              <a:rPr b="1" i="0" lang="en-US" sz="1800">
                <a:solidFill>
                  <a:srgbClr val="171A1D"/>
                </a:solidFill>
                <a:latin typeface="Inter"/>
                <a:ea typeface="Inter"/>
                <a:cs typeface="Inter"/>
                <a:sym typeface="Inter"/>
              </a:rPr>
              <a:t>Google DeepMind</a:t>
            </a:r>
            <a:endParaRPr/>
          </a:p>
        </p:txBody>
      </p:sp>
      <p:sp>
        <p:nvSpPr>
          <p:cNvPr id="312" name="Google Shape;312;p29"/>
          <p:cNvSpPr/>
          <p:nvPr/>
        </p:nvSpPr>
        <p:spPr>
          <a:xfrm>
            <a:off x="609600" y="4324350"/>
            <a:ext cx="5181600" cy="8858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Frontier Safety Framework, version 3.1</a:t>
            </a:r>
            <a:endParaRPr/>
          </a:p>
          <a:p>
            <a:pPr indent="0" lvl="0" marL="0" marR="0" rtl="0" algn="l">
              <a:spcBef>
                <a:spcPts val="0"/>
              </a:spcBef>
              <a:spcAft>
                <a:spcPts val="0"/>
              </a:spcAft>
              <a:buNone/>
            </a:pPr>
            <a:r>
              <a:t/>
            </a:r>
            <a:endParaRPr b="0" i="0" sz="1350">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Question: how specific are critical capability levels and mitigation plans?</a:t>
            </a:r>
            <a:endParaRPr/>
          </a:p>
        </p:txBody>
      </p:sp>
      <p:sp>
        <p:nvSpPr>
          <p:cNvPr id="313" name="Google Shape;313;p29"/>
          <p:cNvSpPr/>
          <p:nvPr/>
        </p:nvSpPr>
        <p:spPr>
          <a:xfrm>
            <a:off x="6191250" y="3619500"/>
            <a:ext cx="5600700" cy="1762125"/>
          </a:xfrm>
          <a:prstGeom prst="roundRect">
            <a:avLst>
              <a:gd fmla="val 5405" name="adj"/>
            </a:avLst>
          </a:prstGeom>
          <a:solidFill>
            <a:srgbClr val="FDE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9"/>
          <p:cNvSpPr/>
          <p:nvPr/>
        </p:nvSpPr>
        <p:spPr>
          <a:xfrm>
            <a:off x="6400800" y="3829050"/>
            <a:ext cx="51816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800"/>
              <a:buFont typeface="Inter"/>
              <a:buNone/>
            </a:pPr>
            <a:r>
              <a:rPr b="1" i="0" lang="en-US" sz="1800">
                <a:solidFill>
                  <a:srgbClr val="171A1D"/>
                </a:solidFill>
                <a:latin typeface="Inter"/>
                <a:ea typeface="Inter"/>
                <a:cs typeface="Inter"/>
                <a:sym typeface="Inter"/>
              </a:rPr>
              <a:t>Meta</a:t>
            </a:r>
            <a:endParaRPr/>
          </a:p>
        </p:txBody>
      </p:sp>
      <p:sp>
        <p:nvSpPr>
          <p:cNvPr id="315" name="Google Shape;315;p29"/>
          <p:cNvSpPr/>
          <p:nvPr/>
        </p:nvSpPr>
        <p:spPr>
          <a:xfrm>
            <a:off x="6400800" y="4324350"/>
            <a:ext cx="5181600" cy="8858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Advanced AI Scaling Framework</a:t>
            </a:r>
            <a:endParaRPr/>
          </a:p>
          <a:p>
            <a:pPr indent="0" lvl="0" marL="0" marR="0" rtl="0" algn="l">
              <a:spcBef>
                <a:spcPts val="0"/>
              </a:spcBef>
              <a:spcAft>
                <a:spcPts val="0"/>
              </a:spcAft>
              <a:buNone/>
            </a:pPr>
            <a:r>
              <a:t/>
            </a:r>
            <a:endParaRPr b="0" i="0" sz="1350">
              <a:solidFill>
                <a:srgbClr val="171A1D"/>
              </a:solidFill>
              <a:latin typeface="Inter"/>
              <a:ea typeface="Inter"/>
              <a:cs typeface="Inter"/>
              <a:sym typeface="Inter"/>
            </a:endParaRPr>
          </a:p>
          <a:p>
            <a:pPr indent="0" lvl="0" marL="0" marR="0" rtl="0" algn="l">
              <a:lnSpc>
                <a:spcPct val="105000"/>
              </a:lnSpc>
              <a:spcBef>
                <a:spcPts val="0"/>
              </a:spcBef>
              <a:spcAft>
                <a:spcPts val="0"/>
              </a:spcAft>
              <a:buClr>
                <a:srgbClr val="171A1D"/>
              </a:buClr>
              <a:buSzPts val="1350"/>
              <a:buFont typeface="Inter"/>
              <a:buNone/>
            </a:pPr>
            <a:r>
              <a:rPr b="0" i="0" lang="en-US" sz="1350">
                <a:solidFill>
                  <a:srgbClr val="171A1D"/>
                </a:solidFill>
                <a:latin typeface="Inter"/>
                <a:ea typeface="Inter"/>
                <a:cs typeface="Inter"/>
                <a:sym typeface="Inter"/>
              </a:rPr>
              <a:t>Question: how are severe risks assessed, reported, and linked to protective action?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sp>
        <p:nvSpPr>
          <p:cNvPr id="321" name="Google Shape;321;p30"/>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The ideal risk management framework</a:t>
            </a:r>
            <a:endParaRPr/>
          </a:p>
        </p:txBody>
      </p:sp>
      <p:sp>
        <p:nvSpPr>
          <p:cNvPr id="322" name="Google Shape;322;p30"/>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18:28–18:47, design in pairs, then combine the strongest commitments</a:t>
            </a:r>
            <a:endParaRPr/>
          </a:p>
        </p:txBody>
      </p:sp>
      <p:sp>
        <p:nvSpPr>
          <p:cNvPr id="323" name="Google Shape;323;p30"/>
          <p:cNvSpPr/>
          <p:nvPr/>
        </p:nvSpPr>
        <p:spPr>
          <a:xfrm>
            <a:off x="857250" y="1428750"/>
            <a:ext cx="10477500" cy="6667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2D6685"/>
              </a:buClr>
              <a:buSzPts val="1950"/>
              <a:buFont typeface="Inter"/>
              <a:buNone/>
            </a:pPr>
            <a:r>
              <a:rPr b="1" i="0" lang="en-US" sz="1950">
                <a:solidFill>
                  <a:srgbClr val="2D6685"/>
                </a:solidFill>
                <a:latin typeface="Inter"/>
                <a:ea typeface="Inter"/>
                <a:cs typeface="Inter"/>
                <a:sym typeface="Inter"/>
              </a:rPr>
              <a:t>Choose one dangerous capability. Draft a framework that would still be meaningful under uncertainty and competitive pressure.</a:t>
            </a:r>
            <a:endParaRPr/>
          </a:p>
        </p:txBody>
      </p:sp>
      <p:sp>
        <p:nvSpPr>
          <p:cNvPr id="324" name="Google Shape;324;p30"/>
          <p:cNvSpPr/>
          <p:nvPr/>
        </p:nvSpPr>
        <p:spPr>
          <a:xfrm>
            <a:off x="400050" y="2333625"/>
            <a:ext cx="2114550" cy="2428875"/>
          </a:xfrm>
          <a:prstGeom prst="roundRect">
            <a:avLst>
              <a:gd fmla="val 4505"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0"/>
          <p:cNvSpPr/>
          <p:nvPr/>
        </p:nvSpPr>
        <p:spPr>
          <a:xfrm>
            <a:off x="609600" y="2486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326" name="Google Shape;326;p30"/>
          <p:cNvSpPr/>
          <p:nvPr/>
        </p:nvSpPr>
        <p:spPr>
          <a:xfrm>
            <a:off x="609600" y="2819400"/>
            <a:ext cx="16954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1" i="0" lang="en-US" sz="1350">
                <a:solidFill>
                  <a:srgbClr val="171A1D"/>
                </a:solidFill>
                <a:latin typeface="Inter"/>
                <a:ea typeface="Inter"/>
                <a:cs typeface="Inter"/>
                <a:sym typeface="Inter"/>
              </a:rPr>
              <a:t>Threshold</a:t>
            </a:r>
            <a:endParaRPr/>
          </a:p>
        </p:txBody>
      </p:sp>
      <p:sp>
        <p:nvSpPr>
          <p:cNvPr id="327" name="Google Shape;327;p30"/>
          <p:cNvSpPr/>
          <p:nvPr/>
        </p:nvSpPr>
        <p:spPr>
          <a:xfrm>
            <a:off x="609600" y="3295650"/>
            <a:ext cx="16954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00"/>
              <a:buFont typeface="Inter"/>
              <a:buNone/>
            </a:pPr>
            <a:r>
              <a:rPr b="0" i="0" lang="en-US" sz="1200">
                <a:solidFill>
                  <a:srgbClr val="171A1D"/>
                </a:solidFill>
                <a:latin typeface="Inter"/>
                <a:ea typeface="Inter"/>
                <a:cs typeface="Inter"/>
                <a:sym typeface="Inter"/>
              </a:rPr>
              <a:t>What observable result changes the plan?</a:t>
            </a:r>
            <a:endParaRPr/>
          </a:p>
        </p:txBody>
      </p:sp>
      <p:sp>
        <p:nvSpPr>
          <p:cNvPr id="328" name="Google Shape;328;p30"/>
          <p:cNvSpPr/>
          <p:nvPr/>
        </p:nvSpPr>
        <p:spPr>
          <a:xfrm>
            <a:off x="2714625" y="2333625"/>
            <a:ext cx="2114550" cy="2428875"/>
          </a:xfrm>
          <a:prstGeom prst="roundRect">
            <a:avLst>
              <a:gd fmla="val 4505"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0"/>
          <p:cNvSpPr/>
          <p:nvPr/>
        </p:nvSpPr>
        <p:spPr>
          <a:xfrm>
            <a:off x="2924175" y="2486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330" name="Google Shape;330;p30"/>
          <p:cNvSpPr/>
          <p:nvPr/>
        </p:nvSpPr>
        <p:spPr>
          <a:xfrm>
            <a:off x="2924175" y="2819400"/>
            <a:ext cx="16954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1" i="0" lang="en-US" sz="1350">
                <a:solidFill>
                  <a:srgbClr val="171A1D"/>
                </a:solidFill>
                <a:latin typeface="Inter"/>
                <a:ea typeface="Inter"/>
                <a:cs typeface="Inter"/>
                <a:sym typeface="Inter"/>
              </a:rPr>
              <a:t>Protection</a:t>
            </a:r>
            <a:endParaRPr/>
          </a:p>
        </p:txBody>
      </p:sp>
      <p:sp>
        <p:nvSpPr>
          <p:cNvPr id="331" name="Google Shape;331;p30"/>
          <p:cNvSpPr/>
          <p:nvPr/>
        </p:nvSpPr>
        <p:spPr>
          <a:xfrm>
            <a:off x="2924175" y="3295650"/>
            <a:ext cx="16954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00"/>
              <a:buFont typeface="Inter"/>
              <a:buNone/>
            </a:pPr>
            <a:r>
              <a:rPr b="0" i="0" lang="en-US" sz="1200">
                <a:solidFill>
                  <a:srgbClr val="171A1D"/>
                </a:solidFill>
                <a:latin typeface="Inter"/>
                <a:ea typeface="Inter"/>
                <a:cs typeface="Inter"/>
                <a:sym typeface="Inter"/>
              </a:rPr>
              <a:t>What safeguard must exist before proceeding?</a:t>
            </a:r>
            <a:endParaRPr/>
          </a:p>
        </p:txBody>
      </p:sp>
      <p:sp>
        <p:nvSpPr>
          <p:cNvPr id="332" name="Google Shape;332;p30"/>
          <p:cNvSpPr/>
          <p:nvPr/>
        </p:nvSpPr>
        <p:spPr>
          <a:xfrm>
            <a:off x="5029200" y="2333625"/>
            <a:ext cx="2114550" cy="2428875"/>
          </a:xfrm>
          <a:prstGeom prst="roundRect">
            <a:avLst>
              <a:gd fmla="val 4505"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p:nvPr/>
        </p:nvSpPr>
        <p:spPr>
          <a:xfrm>
            <a:off x="5238750" y="2486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334" name="Google Shape;334;p30"/>
          <p:cNvSpPr/>
          <p:nvPr/>
        </p:nvSpPr>
        <p:spPr>
          <a:xfrm>
            <a:off x="5238750" y="2819400"/>
            <a:ext cx="16954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1" i="0" lang="en-US" sz="1350">
                <a:solidFill>
                  <a:srgbClr val="171A1D"/>
                </a:solidFill>
                <a:latin typeface="Inter"/>
                <a:ea typeface="Inter"/>
                <a:cs typeface="Inter"/>
                <a:sym typeface="Inter"/>
              </a:rPr>
              <a:t>Uncertainty</a:t>
            </a:r>
            <a:endParaRPr/>
          </a:p>
        </p:txBody>
      </p:sp>
      <p:sp>
        <p:nvSpPr>
          <p:cNvPr id="335" name="Google Shape;335;p30"/>
          <p:cNvSpPr/>
          <p:nvPr/>
        </p:nvSpPr>
        <p:spPr>
          <a:xfrm>
            <a:off x="5238750" y="3295650"/>
            <a:ext cx="16954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00"/>
              <a:buFont typeface="Inter"/>
              <a:buNone/>
            </a:pPr>
            <a:r>
              <a:rPr b="0" i="0" lang="en-US" sz="1200">
                <a:solidFill>
                  <a:srgbClr val="171A1D"/>
                </a:solidFill>
                <a:latin typeface="Inter"/>
                <a:ea typeface="Inter"/>
                <a:cs typeface="Inter"/>
                <a:sym typeface="Inter"/>
              </a:rPr>
              <a:t>How do you act when the evaluation is inconclusive?</a:t>
            </a:r>
            <a:endParaRPr/>
          </a:p>
        </p:txBody>
      </p:sp>
      <p:sp>
        <p:nvSpPr>
          <p:cNvPr id="336" name="Google Shape;336;p30"/>
          <p:cNvSpPr/>
          <p:nvPr/>
        </p:nvSpPr>
        <p:spPr>
          <a:xfrm>
            <a:off x="7343775" y="2333625"/>
            <a:ext cx="2114550" cy="2428875"/>
          </a:xfrm>
          <a:prstGeom prst="roundRect">
            <a:avLst>
              <a:gd fmla="val 4505" name="adj"/>
            </a:avLst>
          </a:prstGeom>
          <a:solidFill>
            <a:srgbClr val="FDE7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0"/>
          <p:cNvSpPr/>
          <p:nvPr/>
        </p:nvSpPr>
        <p:spPr>
          <a:xfrm>
            <a:off x="7553325" y="2486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04</a:t>
            </a:r>
            <a:endParaRPr/>
          </a:p>
        </p:txBody>
      </p:sp>
      <p:sp>
        <p:nvSpPr>
          <p:cNvPr id="338" name="Google Shape;338;p30"/>
          <p:cNvSpPr/>
          <p:nvPr/>
        </p:nvSpPr>
        <p:spPr>
          <a:xfrm>
            <a:off x="7553325" y="2819400"/>
            <a:ext cx="16954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1" i="0" lang="en-US" sz="1350">
                <a:solidFill>
                  <a:srgbClr val="171A1D"/>
                </a:solidFill>
                <a:latin typeface="Inter"/>
                <a:ea typeface="Inter"/>
                <a:cs typeface="Inter"/>
                <a:sym typeface="Inter"/>
              </a:rPr>
              <a:t>Response</a:t>
            </a:r>
            <a:endParaRPr/>
          </a:p>
        </p:txBody>
      </p:sp>
      <p:sp>
        <p:nvSpPr>
          <p:cNvPr id="339" name="Google Shape;339;p30"/>
          <p:cNvSpPr/>
          <p:nvPr/>
        </p:nvSpPr>
        <p:spPr>
          <a:xfrm>
            <a:off x="7553325" y="3295650"/>
            <a:ext cx="16954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00"/>
              <a:buFont typeface="Inter"/>
              <a:buNone/>
            </a:pPr>
            <a:r>
              <a:rPr b="0" i="0" lang="en-US" sz="1200">
                <a:solidFill>
                  <a:srgbClr val="171A1D"/>
                </a:solidFill>
                <a:latin typeface="Inter"/>
                <a:ea typeface="Inter"/>
                <a:cs typeface="Inter"/>
                <a:sym typeface="Inter"/>
              </a:rPr>
              <a:t>What pauses, narrows, or stops?</a:t>
            </a:r>
            <a:endParaRPr/>
          </a:p>
        </p:txBody>
      </p:sp>
      <p:sp>
        <p:nvSpPr>
          <p:cNvPr id="340" name="Google Shape;340;p30"/>
          <p:cNvSpPr/>
          <p:nvPr/>
        </p:nvSpPr>
        <p:spPr>
          <a:xfrm>
            <a:off x="9658350" y="2333625"/>
            <a:ext cx="2114550" cy="2428875"/>
          </a:xfrm>
          <a:prstGeom prst="roundRect">
            <a:avLst>
              <a:gd fmla="val 4505"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0"/>
          <p:cNvSpPr/>
          <p:nvPr/>
        </p:nvSpPr>
        <p:spPr>
          <a:xfrm>
            <a:off x="9867900" y="2486025"/>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05</a:t>
            </a:r>
            <a:endParaRPr/>
          </a:p>
        </p:txBody>
      </p:sp>
      <p:sp>
        <p:nvSpPr>
          <p:cNvPr id="342" name="Google Shape;342;p30"/>
          <p:cNvSpPr/>
          <p:nvPr/>
        </p:nvSpPr>
        <p:spPr>
          <a:xfrm>
            <a:off x="9867900" y="2819400"/>
            <a:ext cx="169545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350"/>
              <a:buFont typeface="Inter"/>
              <a:buNone/>
            </a:pPr>
            <a:r>
              <a:rPr b="1" i="0" lang="en-US" sz="1350">
                <a:solidFill>
                  <a:srgbClr val="171A1D"/>
                </a:solidFill>
                <a:latin typeface="Inter"/>
                <a:ea typeface="Inter"/>
                <a:cs typeface="Inter"/>
                <a:sym typeface="Inter"/>
              </a:rPr>
              <a:t>Accountability</a:t>
            </a:r>
            <a:endParaRPr/>
          </a:p>
        </p:txBody>
      </p:sp>
      <p:sp>
        <p:nvSpPr>
          <p:cNvPr id="343" name="Google Shape;343;p30"/>
          <p:cNvSpPr/>
          <p:nvPr/>
        </p:nvSpPr>
        <p:spPr>
          <a:xfrm>
            <a:off x="9867900" y="3295650"/>
            <a:ext cx="1695450" cy="13049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200"/>
              <a:buFont typeface="Inter"/>
              <a:buNone/>
            </a:pPr>
            <a:r>
              <a:rPr b="0" i="0" lang="en-US" sz="1200">
                <a:solidFill>
                  <a:srgbClr val="171A1D"/>
                </a:solidFill>
                <a:latin typeface="Inter"/>
                <a:ea typeface="Inter"/>
                <a:cs typeface="Inter"/>
                <a:sym typeface="Inter"/>
              </a:rPr>
              <a:t>Who decides and who can independently verify?</a:t>
            </a:r>
            <a:endParaRPr/>
          </a:p>
        </p:txBody>
      </p:sp>
      <p:sp>
        <p:nvSpPr>
          <p:cNvPr id="344" name="Google Shape;344;p30"/>
          <p:cNvSpPr/>
          <p:nvPr/>
        </p:nvSpPr>
        <p:spPr>
          <a:xfrm>
            <a:off x="1619250" y="5286375"/>
            <a:ext cx="8953500" cy="4381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71A1D"/>
              </a:buClr>
              <a:buSzPts val="1800"/>
              <a:buFont typeface="Inter"/>
              <a:buNone/>
            </a:pPr>
            <a:r>
              <a:rPr b="1" i="0" lang="en-US" sz="1800">
                <a:solidFill>
                  <a:srgbClr val="171A1D"/>
                </a:solidFill>
                <a:latin typeface="Inter"/>
                <a:ea typeface="Inter"/>
                <a:cs typeface="Inter"/>
                <a:sym typeface="Inter"/>
              </a:rPr>
              <a:t>Stress test: what would a motivated company, evaluator, or model exploit?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31"/>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Workshop agenda</a:t>
            </a:r>
            <a:endParaRPr/>
          </a:p>
        </p:txBody>
      </p:sp>
      <p:graphicFrame>
        <p:nvGraphicFramePr>
          <p:cNvPr id="351" name="Google Shape;351;p31"/>
          <p:cNvGraphicFramePr/>
          <p:nvPr/>
        </p:nvGraphicFramePr>
        <p:xfrm>
          <a:off x="723900" y="1524000"/>
          <a:ext cx="3000000" cy="3000000"/>
        </p:xfrm>
        <a:graphic>
          <a:graphicData uri="http://schemas.openxmlformats.org/drawingml/2006/table">
            <a:tbl>
              <a:tblPr>
                <a:noFill/>
                <a:tableStyleId>{DE5E5D84-A09C-4323-BA4A-769E8B8D3F1C}</a:tableStyleId>
              </a:tblPr>
              <a:tblGrid>
                <a:gridCol w="1066800"/>
                <a:gridCol w="9648825"/>
              </a:tblGrid>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01</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Check-in and open questions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02</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Dangerous capability peer teaching</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03</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What makes an evaluation trustworthy</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04</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Break</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05</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en-US" sz="1500" u="none" cap="none">
                          <a:solidFill>
                            <a:srgbClr val="171A1D"/>
                          </a:solidFill>
                          <a:latin typeface="Inter"/>
                          <a:ea typeface="Inter"/>
                          <a:cs typeface="Inter"/>
                          <a:sym typeface="Inter"/>
                        </a:rPr>
                        <a:t>Lab risk management frameworks</a:t>
                      </a:r>
                      <a:endParaRPr/>
                    </a:p>
                  </a:txBody>
                  <a:tcPr marT="45725" marB="45725" marR="91450" marL="91450" anchor="ctr">
                    <a:solidFill>
                      <a:srgbClr val="FFFFFF"/>
                    </a:solidFill>
                  </a:tcPr>
                </a:tc>
              </a:tr>
              <a:tr h="457200">
                <a:tc>
                  <a:txBody>
                    <a:bodyPr/>
                    <a:lstStyle/>
                    <a:p>
                      <a:pPr indent="0" lvl="0" marL="0" marR="0" rtl="0" algn="l">
                        <a:lnSpc>
                          <a:spcPct val="100000"/>
                        </a:lnSpc>
                        <a:spcBef>
                          <a:spcPts val="0"/>
                        </a:spcBef>
                        <a:spcAft>
                          <a:spcPts val="0"/>
                        </a:spcAft>
                        <a:buClr>
                          <a:srgbClr val="000000"/>
                        </a:buClr>
                        <a:buSzPts val="1350"/>
                        <a:buFont typeface="Arial"/>
                        <a:buNone/>
                      </a:pPr>
                      <a:r>
                        <a:rPr lang="en-US" sz="1350" u="none" cap="none">
                          <a:solidFill>
                            <a:srgbClr val="171A1D"/>
                          </a:solidFill>
                          <a:latin typeface="Inter"/>
                          <a:ea typeface="Inter"/>
                          <a:cs typeface="Inter"/>
                          <a:sym typeface="Inter"/>
                        </a:rPr>
                        <a:t>06</a:t>
                      </a:r>
                      <a:endParaRPr/>
                    </a:p>
                  </a:txBody>
                  <a:tcPr marT="45725" marB="45725" marR="91450" marL="91450" anchor="ctr">
                    <a:solidFill>
                      <a:srgbClr val="DCEFD7"/>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a:solidFill>
                            <a:srgbClr val="171A1D"/>
                          </a:solidFill>
                          <a:latin typeface="Inter"/>
                          <a:ea typeface="Inter"/>
                          <a:cs typeface="Inter"/>
                          <a:sym typeface="Inter"/>
                        </a:rPr>
                        <a:t>Synthesis and reflection</a:t>
                      </a:r>
                      <a:endParaRPr/>
                    </a:p>
                  </a:txBody>
                  <a:tcPr marT="45725" marB="45725" marR="91450" marL="91450" anchor="ctr">
                    <a:solidFill>
                      <a:srgbClr val="DCEFD7"/>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p32"/>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Position debate</a:t>
            </a:r>
            <a:endParaRPr/>
          </a:p>
        </p:txBody>
      </p:sp>
      <p:sp>
        <p:nvSpPr>
          <p:cNvPr id="358" name="Google Shape;358;p32"/>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18:47–18:55, choose a position, then state the evidence behind it</a:t>
            </a:r>
            <a:endParaRPr/>
          </a:p>
        </p:txBody>
      </p:sp>
      <p:sp>
        <p:nvSpPr>
          <p:cNvPr id="359" name="Google Shape;359;p32"/>
          <p:cNvSpPr/>
          <p:nvPr/>
        </p:nvSpPr>
        <p:spPr>
          <a:xfrm>
            <a:off x="1238250" y="1571625"/>
            <a:ext cx="9715500" cy="1381125"/>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2D6685"/>
              </a:buClr>
              <a:buSzPts val="2775"/>
              <a:buFont typeface="Inter"/>
              <a:buNone/>
            </a:pPr>
            <a:r>
              <a:rPr b="1" i="0" lang="en-US" sz="2775">
                <a:solidFill>
                  <a:srgbClr val="2D6685"/>
                </a:solidFill>
                <a:latin typeface="Inter"/>
                <a:ea typeface="Inter"/>
                <a:cs typeface="Inter"/>
                <a:sym typeface="Inter"/>
              </a:rPr>
              <a:t>A frontier lab should pause when its own safety threshold is crossed, even if competitors continue scaling.</a:t>
            </a:r>
            <a:endParaRPr/>
          </a:p>
        </p:txBody>
      </p:sp>
      <p:sp>
        <p:nvSpPr>
          <p:cNvPr id="360" name="Google Shape;360;p32"/>
          <p:cNvSpPr/>
          <p:nvPr/>
        </p:nvSpPr>
        <p:spPr>
          <a:xfrm>
            <a:off x="1619250" y="3810000"/>
            <a:ext cx="8953500" cy="47625"/>
          </a:xfrm>
          <a:prstGeom prst="rect">
            <a:avLst/>
          </a:prstGeom>
          <a:solidFill>
            <a:srgbClr val="C7D0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2"/>
          <p:cNvSpPr/>
          <p:nvPr/>
        </p:nvSpPr>
        <p:spPr>
          <a:xfrm>
            <a:off x="1476375" y="3648075"/>
            <a:ext cx="361950" cy="361950"/>
          </a:xfrm>
          <a:prstGeom prst="ellipse">
            <a:avLst/>
          </a:prstGeom>
          <a:solidFill>
            <a:srgbClr val="FDE7DE"/>
          </a:solidFill>
          <a:ln cap="flat" cmpd="sng" w="9525">
            <a:solidFill>
              <a:srgbClr val="C7D0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2"/>
          <p:cNvSpPr/>
          <p:nvPr/>
        </p:nvSpPr>
        <p:spPr>
          <a:xfrm>
            <a:off x="10353675" y="3648075"/>
            <a:ext cx="361950" cy="361950"/>
          </a:xfrm>
          <a:prstGeom prst="ellipse">
            <a:avLst/>
          </a:prstGeom>
          <a:solidFill>
            <a:srgbClr val="E2F7EA"/>
          </a:solidFill>
          <a:ln cap="flat" cmpd="sng" w="9525">
            <a:solidFill>
              <a:srgbClr val="C7D0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2"/>
          <p:cNvSpPr/>
          <p:nvPr/>
        </p:nvSpPr>
        <p:spPr>
          <a:xfrm>
            <a:off x="1095375" y="4143375"/>
            <a:ext cx="2000250" cy="3619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Strongly disagree</a:t>
            </a:r>
            <a:endParaRPr/>
          </a:p>
        </p:txBody>
      </p:sp>
      <p:sp>
        <p:nvSpPr>
          <p:cNvPr id="364" name="Google Shape;364;p32"/>
          <p:cNvSpPr/>
          <p:nvPr/>
        </p:nvSpPr>
        <p:spPr>
          <a:xfrm>
            <a:off x="9096375" y="4143375"/>
            <a:ext cx="2000250" cy="3619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171A1D"/>
              </a:buClr>
              <a:buSzPts val="1500"/>
              <a:buFont typeface="Inter"/>
              <a:buNone/>
            </a:pPr>
            <a:r>
              <a:rPr b="0" i="0" lang="en-US" sz="1500">
                <a:solidFill>
                  <a:srgbClr val="171A1D"/>
                </a:solidFill>
                <a:latin typeface="Inter"/>
                <a:ea typeface="Inter"/>
                <a:cs typeface="Inter"/>
                <a:sym typeface="Inter"/>
              </a:rPr>
              <a:t>Strongly agree</a:t>
            </a:r>
            <a:endParaRPr/>
          </a:p>
        </p:txBody>
      </p:sp>
      <p:sp>
        <p:nvSpPr>
          <p:cNvPr id="365" name="Google Shape;365;p32"/>
          <p:cNvSpPr/>
          <p:nvPr/>
        </p:nvSpPr>
        <p:spPr>
          <a:xfrm>
            <a:off x="1714500" y="5095875"/>
            <a:ext cx="8763000" cy="4953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F5A60"/>
              </a:buClr>
              <a:buSzPts val="1725"/>
              <a:buFont typeface="Inter"/>
              <a:buNone/>
            </a:pPr>
            <a:r>
              <a:rPr b="0" i="0" lang="en-US" sz="1725">
                <a:solidFill>
                  <a:srgbClr val="4F5A60"/>
                </a:solidFill>
                <a:latin typeface="Inter"/>
                <a:ea typeface="Inter"/>
                <a:cs typeface="Inter"/>
                <a:sym typeface="Inter"/>
              </a:rPr>
              <a:t>What is your strongest reason? What evidence or policy change would move you?</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3"/>
          <p:cNvSpPr txBox="1"/>
          <p:nvPr>
            <p:ph type="title"/>
          </p:nvPr>
        </p:nvSpPr>
        <p:spPr>
          <a:xfrm>
            <a:off x="393700" y="344008"/>
            <a:ext cx="11404600" cy="104749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1800"/>
              <a:buFont typeface="Inter Medium"/>
              <a:buNone/>
            </a:pPr>
            <a:r>
              <a:rPr b="0" i="0" lang="en-US" sz="2400" u="none" cap="none" strike="noStrike">
                <a:solidFill>
                  <a:srgbClr val="171A1D"/>
                </a:solidFill>
                <a:latin typeface="Inter"/>
                <a:ea typeface="Inter"/>
                <a:cs typeface="Inter"/>
                <a:sym typeface="Inter"/>
              </a:rPr>
              <a:t>Individual reflection and course direction</a:t>
            </a:r>
            <a:endParaRPr/>
          </a:p>
        </p:txBody>
      </p:sp>
      <p:sp>
        <p:nvSpPr>
          <p:cNvPr id="372" name="Google Shape;372;p33"/>
          <p:cNvSpPr/>
          <p:nvPr/>
        </p:nvSpPr>
        <p:spPr>
          <a:xfrm>
            <a:off x="400050" y="990600"/>
            <a:ext cx="11049000" cy="304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75"/>
              <a:buFont typeface="Inter"/>
              <a:buNone/>
            </a:pPr>
            <a:r>
              <a:rPr b="1" i="0" lang="en-US" sz="1275">
                <a:solidFill>
                  <a:srgbClr val="4EADE0"/>
                </a:solidFill>
                <a:latin typeface="Inter"/>
                <a:ea typeface="Inter"/>
                <a:cs typeface="Inter"/>
                <a:sym typeface="Inter"/>
              </a:rPr>
              <a:t>18:55–19:00, write first, then one sentence per person</a:t>
            </a:r>
            <a:endParaRPr/>
          </a:p>
        </p:txBody>
      </p:sp>
      <p:sp>
        <p:nvSpPr>
          <p:cNvPr id="373" name="Google Shape;373;p33"/>
          <p:cNvSpPr/>
          <p:nvPr/>
        </p:nvSpPr>
        <p:spPr>
          <a:xfrm>
            <a:off x="400050" y="1809750"/>
            <a:ext cx="3571875" cy="3000375"/>
          </a:xfrm>
          <a:prstGeom prst="roundRect">
            <a:avLst>
              <a:gd fmla="val 3175"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3"/>
          <p:cNvSpPr/>
          <p:nvPr/>
        </p:nvSpPr>
        <p:spPr>
          <a:xfrm>
            <a:off x="609600" y="19621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375" name="Google Shape;375;p33"/>
          <p:cNvSpPr/>
          <p:nvPr/>
        </p:nvSpPr>
        <p:spPr>
          <a:xfrm>
            <a:off x="609600" y="22955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Updated belief</a:t>
            </a:r>
            <a:endParaRPr/>
          </a:p>
        </p:txBody>
      </p:sp>
      <p:sp>
        <p:nvSpPr>
          <p:cNvPr id="376" name="Google Shape;376;p33"/>
          <p:cNvSpPr/>
          <p:nvPr/>
        </p:nvSpPr>
        <p:spPr>
          <a:xfrm>
            <a:off x="609600" y="2771775"/>
            <a:ext cx="3152775" cy="18764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What do you understand differently about evaluations or risk frameworks?</a:t>
            </a:r>
            <a:endParaRPr/>
          </a:p>
        </p:txBody>
      </p:sp>
      <p:sp>
        <p:nvSpPr>
          <p:cNvPr id="377" name="Google Shape;377;p33"/>
          <p:cNvSpPr/>
          <p:nvPr/>
        </p:nvSpPr>
        <p:spPr>
          <a:xfrm>
            <a:off x="4314825" y="1809750"/>
            <a:ext cx="3571875" cy="3000375"/>
          </a:xfrm>
          <a:prstGeom prst="roundRect">
            <a:avLst>
              <a:gd fmla="val 3175"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3"/>
          <p:cNvSpPr/>
          <p:nvPr/>
        </p:nvSpPr>
        <p:spPr>
          <a:xfrm>
            <a:off x="4524375" y="19621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379" name="Google Shape;379;p33"/>
          <p:cNvSpPr/>
          <p:nvPr/>
        </p:nvSpPr>
        <p:spPr>
          <a:xfrm>
            <a:off x="4524375" y="22955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Open uncertainty</a:t>
            </a:r>
            <a:endParaRPr/>
          </a:p>
        </p:txBody>
      </p:sp>
      <p:sp>
        <p:nvSpPr>
          <p:cNvPr id="380" name="Google Shape;380;p33"/>
          <p:cNvSpPr/>
          <p:nvPr/>
        </p:nvSpPr>
        <p:spPr>
          <a:xfrm>
            <a:off x="4524375" y="2771775"/>
            <a:ext cx="3152775" cy="18764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Which unresolved question now matters most to you?</a:t>
            </a:r>
            <a:endParaRPr/>
          </a:p>
        </p:txBody>
      </p:sp>
      <p:sp>
        <p:nvSpPr>
          <p:cNvPr id="381" name="Google Shape;381;p33"/>
          <p:cNvSpPr/>
          <p:nvPr/>
        </p:nvSpPr>
        <p:spPr>
          <a:xfrm>
            <a:off x="8229600" y="1809750"/>
            <a:ext cx="3571875" cy="3000375"/>
          </a:xfrm>
          <a:prstGeom prst="roundRect">
            <a:avLst>
              <a:gd fmla="val 3175"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3"/>
          <p:cNvSpPr/>
          <p:nvPr/>
        </p:nvSpPr>
        <p:spPr>
          <a:xfrm>
            <a:off x="8439150" y="1962150"/>
            <a:ext cx="428625"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383" name="Google Shape;383;p33"/>
          <p:cNvSpPr/>
          <p:nvPr/>
        </p:nvSpPr>
        <p:spPr>
          <a:xfrm>
            <a:off x="8439150" y="2295525"/>
            <a:ext cx="3152775"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i="0" lang="en-US" sz="1650">
                <a:solidFill>
                  <a:srgbClr val="171A1D"/>
                </a:solidFill>
                <a:latin typeface="Inter"/>
                <a:ea typeface="Inter"/>
                <a:cs typeface="Inter"/>
                <a:sym typeface="Inter"/>
              </a:rPr>
              <a:t>Next action</a:t>
            </a:r>
            <a:endParaRPr/>
          </a:p>
        </p:txBody>
      </p:sp>
      <p:sp>
        <p:nvSpPr>
          <p:cNvPr id="384" name="Google Shape;384;p33"/>
          <p:cNvSpPr/>
          <p:nvPr/>
        </p:nvSpPr>
        <p:spPr>
          <a:xfrm>
            <a:off x="8439150" y="2771775"/>
            <a:ext cx="3152775" cy="1876425"/>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b="0" i="0" lang="en-US" sz="1425">
                <a:solidFill>
                  <a:srgbClr val="171A1D"/>
                </a:solidFill>
                <a:latin typeface="Inter"/>
                <a:ea typeface="Inter"/>
                <a:cs typeface="Inter"/>
                <a:sym typeface="Inter"/>
              </a:rPr>
              <a:t>What will you read, test, build, or discuss before the next session?</a:t>
            </a:r>
            <a:endParaRPr/>
          </a:p>
        </p:txBody>
      </p:sp>
      <p:sp>
        <p:nvSpPr>
          <p:cNvPr id="385" name="Google Shape;385;p33"/>
          <p:cNvSpPr/>
          <p:nvPr/>
        </p:nvSpPr>
        <p:spPr>
          <a:xfrm>
            <a:off x="2000250" y="5334000"/>
            <a:ext cx="8191500" cy="40005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F5A60"/>
              </a:buClr>
              <a:buSzPts val="1575"/>
              <a:buFont typeface="Inter"/>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4"/>
          <p:cNvSpPr txBox="1"/>
          <p:nvPr>
            <p:ph idx="12" type="sldNum"/>
          </p:nvPr>
        </p:nvSpPr>
        <p:spPr>
          <a:xfrm>
            <a:off x="11279332" y="6279294"/>
            <a:ext cx="519000" cy="241200"/>
          </a:xfrm>
          <a:prstGeom prst="rect">
            <a:avLst/>
          </a:prstGeom>
        </p:spPr>
        <p:txBody>
          <a:bodyPr anchorCtr="0" anchor="b" bIns="0" lIns="0" spcFirstLastPara="1" rIns="0" wrap="square" tIns="0">
            <a:noAutofit/>
          </a:bodyPr>
          <a:lstStyle/>
          <a:p>
            <a:pPr indent="0" lvl="0" marL="0" rtl="0" algn="r">
              <a:spcBef>
                <a:spcPts val="0"/>
              </a:spcBef>
              <a:spcAft>
                <a:spcPts val="0"/>
              </a:spcAft>
              <a:buClr>
                <a:schemeClr val="dk1"/>
              </a:buClr>
              <a:buSzPts val="1100"/>
              <a:buFont typeface="Inter"/>
              <a:buNone/>
            </a:pPr>
            <a:fld id="{00000000-1234-1234-1234-123412341234}" type="slidenum">
              <a:rPr lang="en-US"/>
              <a:t>‹#›</a:t>
            </a:fld>
            <a:endParaRPr/>
          </a:p>
        </p:txBody>
      </p:sp>
      <p:sp>
        <p:nvSpPr>
          <p:cNvPr id="392" name="Google Shape;392;p34"/>
          <p:cNvSpPr txBox="1"/>
          <p:nvPr>
            <p:ph type="title"/>
          </p:nvPr>
        </p:nvSpPr>
        <p:spPr>
          <a:xfrm>
            <a:off x="393700" y="344008"/>
            <a:ext cx="11404500" cy="1047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FInal Project Options</a:t>
            </a:r>
            <a:endParaRPr/>
          </a:p>
        </p:txBody>
      </p:sp>
      <p:sp>
        <p:nvSpPr>
          <p:cNvPr id="393" name="Google Shape;393;p34"/>
          <p:cNvSpPr/>
          <p:nvPr/>
        </p:nvSpPr>
        <p:spPr>
          <a:xfrm>
            <a:off x="400050" y="1809750"/>
            <a:ext cx="3571800" cy="3000300"/>
          </a:xfrm>
          <a:prstGeom prst="roundRect">
            <a:avLst>
              <a:gd fmla="val 3175" name="adj"/>
            </a:avLst>
          </a:prstGeom>
          <a:solidFill>
            <a:srgbClr val="DDF3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4"/>
          <p:cNvSpPr/>
          <p:nvPr/>
        </p:nvSpPr>
        <p:spPr>
          <a:xfrm>
            <a:off x="609600" y="1962150"/>
            <a:ext cx="428700"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01</a:t>
            </a:r>
            <a:endParaRPr/>
          </a:p>
        </p:txBody>
      </p:sp>
      <p:sp>
        <p:nvSpPr>
          <p:cNvPr id="395" name="Google Shape;395;p34"/>
          <p:cNvSpPr/>
          <p:nvPr/>
        </p:nvSpPr>
        <p:spPr>
          <a:xfrm>
            <a:off x="609600" y="2295525"/>
            <a:ext cx="31527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lang="en-US" sz="1650">
                <a:solidFill>
                  <a:srgbClr val="171A1D"/>
                </a:solidFill>
                <a:latin typeface="Inter"/>
                <a:ea typeface="Inter"/>
                <a:cs typeface="Inter"/>
                <a:sym typeface="Inter"/>
              </a:rPr>
              <a:t>BlueDot 1 Pager</a:t>
            </a:r>
            <a:endParaRPr/>
          </a:p>
        </p:txBody>
      </p:sp>
      <p:sp>
        <p:nvSpPr>
          <p:cNvPr id="396" name="Google Shape;396;p34"/>
          <p:cNvSpPr/>
          <p:nvPr/>
        </p:nvSpPr>
        <p:spPr>
          <a:xfrm>
            <a:off x="4314825" y="1809750"/>
            <a:ext cx="3571800" cy="3000300"/>
          </a:xfrm>
          <a:prstGeom prst="roundRect">
            <a:avLst>
              <a:gd fmla="val 3175" name="adj"/>
            </a:avLst>
          </a:prstGeom>
          <a:solidFill>
            <a:srgbClr val="E2F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4"/>
          <p:cNvSpPr/>
          <p:nvPr/>
        </p:nvSpPr>
        <p:spPr>
          <a:xfrm>
            <a:off x="609600" y="2771775"/>
            <a:ext cx="3152700" cy="1876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lang="en-US" sz="1425">
                <a:solidFill>
                  <a:srgbClr val="171A1D"/>
                </a:solidFill>
                <a:latin typeface="Inter"/>
                <a:ea typeface="Inter"/>
                <a:cs typeface="Inter"/>
                <a:sym typeface="Inter"/>
              </a:rPr>
              <a:t>A document that captures what you're looking for and what you bring to the field.</a:t>
            </a:r>
            <a:endParaRPr/>
          </a:p>
        </p:txBody>
      </p:sp>
      <p:sp>
        <p:nvSpPr>
          <p:cNvPr id="398" name="Google Shape;398;p34"/>
          <p:cNvSpPr/>
          <p:nvPr/>
        </p:nvSpPr>
        <p:spPr>
          <a:xfrm>
            <a:off x="4524375" y="1962150"/>
            <a:ext cx="428700"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02</a:t>
            </a:r>
            <a:endParaRPr/>
          </a:p>
        </p:txBody>
      </p:sp>
      <p:sp>
        <p:nvSpPr>
          <p:cNvPr id="399" name="Google Shape;399;p34"/>
          <p:cNvSpPr/>
          <p:nvPr/>
        </p:nvSpPr>
        <p:spPr>
          <a:xfrm>
            <a:off x="4524375" y="2295525"/>
            <a:ext cx="31527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lang="en-US" sz="1650">
                <a:solidFill>
                  <a:srgbClr val="171A1D"/>
                </a:solidFill>
                <a:latin typeface="Inter"/>
                <a:ea typeface="Inter"/>
                <a:cs typeface="Inter"/>
                <a:sym typeface="Inter"/>
              </a:rPr>
              <a:t>Creative project</a:t>
            </a:r>
            <a:endParaRPr/>
          </a:p>
        </p:txBody>
      </p:sp>
      <p:sp>
        <p:nvSpPr>
          <p:cNvPr id="400" name="Google Shape;400;p34"/>
          <p:cNvSpPr/>
          <p:nvPr/>
        </p:nvSpPr>
        <p:spPr>
          <a:xfrm>
            <a:off x="4524375" y="2771775"/>
            <a:ext cx="3152700" cy="1876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71A1D"/>
              </a:buClr>
              <a:buSzPts val="1425"/>
              <a:buFont typeface="Inter"/>
              <a:buNone/>
            </a:pPr>
            <a:r>
              <a:rPr lang="en-US" sz="1425">
                <a:solidFill>
                  <a:srgbClr val="171A1D"/>
                </a:solidFill>
                <a:latin typeface="Inter"/>
                <a:ea typeface="Inter"/>
                <a:cs typeface="Inter"/>
                <a:sym typeface="Inter"/>
              </a:rPr>
              <a:t>A creative project showcasing a participant’s unique skills translated into the AI Safety domain </a:t>
            </a:r>
            <a:r>
              <a:rPr lang="en-US" sz="1425">
                <a:solidFill>
                  <a:srgbClr val="171A1D"/>
                </a:solidFill>
                <a:latin typeface="Inter"/>
                <a:ea typeface="Inter"/>
                <a:cs typeface="Inter"/>
                <a:sym typeface="Inter"/>
              </a:rPr>
              <a:t>(to be approved by the facilitator).</a:t>
            </a:r>
            <a:r>
              <a:rPr lang="en-US" sz="1425">
                <a:solidFill>
                  <a:srgbClr val="171A1D"/>
                </a:solidFill>
                <a:latin typeface="Inter"/>
                <a:ea typeface="Inter"/>
                <a:cs typeface="Inter"/>
                <a:sym typeface="Inter"/>
              </a:rPr>
              <a:t> </a:t>
            </a:r>
            <a:endParaRPr/>
          </a:p>
        </p:txBody>
      </p:sp>
      <p:sp>
        <p:nvSpPr>
          <p:cNvPr id="401" name="Google Shape;401;p34"/>
          <p:cNvSpPr/>
          <p:nvPr/>
        </p:nvSpPr>
        <p:spPr>
          <a:xfrm>
            <a:off x="8229600" y="1809750"/>
            <a:ext cx="3571800" cy="3000300"/>
          </a:xfrm>
          <a:prstGeom prst="roundRect">
            <a:avLst>
              <a:gd fmla="val 3175" name="adj"/>
            </a:avLst>
          </a:prstGeom>
          <a:solidFill>
            <a:srgbClr val="FAF8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4"/>
          <p:cNvSpPr/>
          <p:nvPr/>
        </p:nvSpPr>
        <p:spPr>
          <a:xfrm>
            <a:off x="8439150" y="1962150"/>
            <a:ext cx="428700" cy="266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EADE0"/>
              </a:buClr>
              <a:buSzPts val="1200"/>
              <a:buFont typeface="Inter"/>
              <a:buNone/>
            </a:pPr>
            <a:r>
              <a:rPr b="1" i="0" lang="en-US" sz="1200">
                <a:solidFill>
                  <a:srgbClr val="4EADE0"/>
                </a:solidFill>
                <a:latin typeface="Inter"/>
                <a:ea typeface="Inter"/>
                <a:cs typeface="Inter"/>
                <a:sym typeface="Inter"/>
              </a:rPr>
              <a:t>03</a:t>
            </a:r>
            <a:endParaRPr/>
          </a:p>
        </p:txBody>
      </p:sp>
      <p:sp>
        <p:nvSpPr>
          <p:cNvPr id="403" name="Google Shape;403;p34"/>
          <p:cNvSpPr/>
          <p:nvPr/>
        </p:nvSpPr>
        <p:spPr>
          <a:xfrm>
            <a:off x="8439150" y="2295525"/>
            <a:ext cx="315270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71A1D"/>
              </a:buClr>
              <a:buSzPts val="1650"/>
              <a:buFont typeface="Inter"/>
              <a:buNone/>
            </a:pPr>
            <a:r>
              <a:rPr b="1" lang="en-US" sz="1650">
                <a:solidFill>
                  <a:srgbClr val="171A1D"/>
                </a:solidFill>
                <a:latin typeface="Inter"/>
                <a:ea typeface="Inter"/>
                <a:cs typeface="Inter"/>
                <a:sym typeface="Inter"/>
              </a:rPr>
              <a:t>Research </a:t>
            </a:r>
            <a:r>
              <a:rPr b="1" lang="en-US" sz="1650">
                <a:solidFill>
                  <a:srgbClr val="171A1D"/>
                </a:solidFill>
                <a:latin typeface="Inter"/>
                <a:ea typeface="Inter"/>
                <a:cs typeface="Inter"/>
                <a:sym typeface="Inter"/>
              </a:rPr>
              <a:t>Blogspot</a:t>
            </a:r>
            <a:endParaRPr/>
          </a:p>
        </p:txBody>
      </p:sp>
      <p:sp>
        <p:nvSpPr>
          <p:cNvPr id="404" name="Google Shape;404;p34"/>
          <p:cNvSpPr txBox="1"/>
          <p:nvPr/>
        </p:nvSpPr>
        <p:spPr>
          <a:xfrm>
            <a:off x="536275" y="5238900"/>
            <a:ext cx="11055600" cy="35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chemeClr val="dk1"/>
                </a:solidFill>
                <a:latin typeface="Inter"/>
                <a:ea typeface="Inter"/>
                <a:cs typeface="Inter"/>
                <a:sym typeface="Inter"/>
              </a:rPr>
              <a:t>Start working on this assignment during the 2 week break or even before. </a:t>
            </a:r>
            <a:endParaRPr sz="2000">
              <a:solidFill>
                <a:schemeClr val="dk1"/>
              </a:solidFill>
              <a:latin typeface="Inter"/>
              <a:ea typeface="Inter"/>
              <a:cs typeface="Inter"/>
              <a:sym typeface="Inter"/>
            </a:endParaRPr>
          </a:p>
          <a:p>
            <a:pPr indent="0" lvl="0" marL="0" rtl="0" algn="ctr">
              <a:spcBef>
                <a:spcPts val="0"/>
              </a:spcBef>
              <a:spcAft>
                <a:spcPts val="0"/>
              </a:spcAft>
              <a:buNone/>
            </a:pPr>
            <a:r>
              <a:rPr lang="en-US" sz="2000">
                <a:solidFill>
                  <a:schemeClr val="dk1"/>
                </a:solidFill>
                <a:latin typeface="Inter"/>
                <a:ea typeface="Inter"/>
                <a:cs typeface="Inter"/>
                <a:sym typeface="Inter"/>
              </a:rPr>
              <a:t>First draft submission 2 days before the final session!</a:t>
            </a:r>
            <a:endParaRPr sz="2000">
              <a:solidFill>
                <a:schemeClr val="dk1"/>
              </a:solidFill>
              <a:latin typeface="Inter"/>
              <a:ea typeface="Inter"/>
              <a:cs typeface="Inter"/>
              <a:sym typeface="Inter"/>
            </a:endParaRPr>
          </a:p>
        </p:txBody>
      </p:sp>
      <p:sp>
        <p:nvSpPr>
          <p:cNvPr id="405" name="Google Shape;405;p34"/>
          <p:cNvSpPr/>
          <p:nvPr/>
        </p:nvSpPr>
        <p:spPr>
          <a:xfrm>
            <a:off x="8439150" y="2771775"/>
            <a:ext cx="3152700" cy="1876500"/>
          </a:xfrm>
          <a:prstGeom prst="rect">
            <a:avLst/>
          </a:prstGeom>
          <a:noFill/>
          <a:ln>
            <a:noFill/>
          </a:ln>
        </p:spPr>
        <p:txBody>
          <a:bodyPr anchorCtr="0" anchor="t" bIns="0" lIns="0" spcFirstLastPara="1" rIns="0" wrap="square" tIns="0">
            <a:noAutofit/>
          </a:bodyPr>
          <a:lstStyle/>
          <a:p>
            <a:pPr indent="-319088" lvl="0" marL="457200" marR="0" rtl="0" algn="l">
              <a:lnSpc>
                <a:spcPct val="105000"/>
              </a:lnSpc>
              <a:spcBef>
                <a:spcPts val="0"/>
              </a:spcBef>
              <a:spcAft>
                <a:spcPts val="0"/>
              </a:spcAft>
              <a:buClr>
                <a:srgbClr val="171A1D"/>
              </a:buClr>
              <a:buSzPts val="1425"/>
              <a:buFont typeface="Inter"/>
              <a:buChar char="●"/>
            </a:pPr>
            <a:r>
              <a:rPr lang="en-US" sz="1425">
                <a:solidFill>
                  <a:srgbClr val="171A1D"/>
                </a:solidFill>
                <a:latin typeface="Inter"/>
                <a:ea typeface="Inter"/>
                <a:cs typeface="Inter"/>
                <a:sym typeface="Inter"/>
              </a:rPr>
              <a:t> Individually, in pairs, or in small groups (max of 3). </a:t>
            </a:r>
            <a:endParaRPr sz="1425">
              <a:solidFill>
                <a:srgbClr val="171A1D"/>
              </a:solidFill>
              <a:latin typeface="Inter"/>
              <a:ea typeface="Inter"/>
              <a:cs typeface="Inter"/>
              <a:sym typeface="Inter"/>
            </a:endParaRPr>
          </a:p>
          <a:p>
            <a:pPr indent="-319088" lvl="0" marL="457200" rtl="0" algn="l">
              <a:lnSpc>
                <a:spcPct val="105000"/>
              </a:lnSpc>
              <a:spcBef>
                <a:spcPts val="0"/>
              </a:spcBef>
              <a:spcAft>
                <a:spcPts val="0"/>
              </a:spcAft>
              <a:buClr>
                <a:srgbClr val="171A1D"/>
              </a:buClr>
              <a:buSzPts val="1425"/>
              <a:buFont typeface="Inter"/>
              <a:buChar char="●"/>
            </a:pPr>
            <a:r>
              <a:rPr lang="en-US" sz="1425">
                <a:solidFill>
                  <a:srgbClr val="171A1D"/>
                </a:solidFill>
                <a:latin typeface="Inter"/>
                <a:ea typeface="Inter"/>
                <a:cs typeface="Inter"/>
                <a:sym typeface="Inter"/>
              </a:rPr>
              <a:t>~600 to 800 words, treat it as an opinion piece.</a:t>
            </a:r>
            <a:endParaRPr sz="1425">
              <a:solidFill>
                <a:srgbClr val="171A1D"/>
              </a:solidFill>
              <a:latin typeface="Inter"/>
              <a:ea typeface="Inter"/>
              <a:cs typeface="Inter"/>
              <a:sym typeface="Inter"/>
            </a:endParaRPr>
          </a:p>
          <a:p>
            <a:pPr indent="-319088" lvl="0" marL="457200" rtl="0" algn="l">
              <a:lnSpc>
                <a:spcPct val="105000"/>
              </a:lnSpc>
              <a:spcBef>
                <a:spcPts val="0"/>
              </a:spcBef>
              <a:spcAft>
                <a:spcPts val="0"/>
              </a:spcAft>
              <a:buClr>
                <a:srgbClr val="171A1D"/>
              </a:buClr>
              <a:buSzPts val="1425"/>
              <a:buFont typeface="Inter"/>
              <a:buChar char="●"/>
            </a:pPr>
            <a:r>
              <a:rPr lang="en-US" sz="1425">
                <a:solidFill>
                  <a:srgbClr val="171A1D"/>
                </a:solidFill>
                <a:latin typeface="Inter"/>
                <a:ea typeface="Inter"/>
                <a:cs typeface="Inter"/>
                <a:sym typeface="Inter"/>
              </a:rPr>
              <a:t>Course takers can either summarise a relevant theme, apply an analytical lens to it, or propose a new argument. </a:t>
            </a:r>
            <a:endParaRPr sz="1425">
              <a:solidFill>
                <a:srgbClr val="171A1D"/>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5"/>
          <p:cNvSpPr txBox="1"/>
          <p:nvPr>
            <p:ph idx="1" type="subTitle"/>
          </p:nvPr>
        </p:nvSpPr>
        <p:spPr>
          <a:xfrm>
            <a:off x="642679" y="3564950"/>
            <a:ext cx="6373800" cy="614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1800"/>
              <a:t>How can we inspect what a model represents and why it produces an answer?</a:t>
            </a:r>
            <a:endParaRPr/>
          </a:p>
        </p:txBody>
      </p:sp>
      <p:sp>
        <p:nvSpPr>
          <p:cNvPr id="412" name="Google Shape;412;p35"/>
          <p:cNvSpPr txBox="1"/>
          <p:nvPr>
            <p:ph type="ctrTitle"/>
          </p:nvPr>
        </p:nvSpPr>
        <p:spPr>
          <a:xfrm>
            <a:off x="626353" y="449650"/>
            <a:ext cx="8810700" cy="2401500"/>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rgbClr val="2C5D7A"/>
              </a:buClr>
              <a:buSzPts val="7200"/>
              <a:buFont typeface="Inter SemiBold"/>
              <a:buNone/>
            </a:pPr>
            <a:r>
              <a:rPr lang="en-US" sz="7200">
                <a:solidFill>
                  <a:srgbClr val="2C5D7A"/>
                </a:solidFill>
              </a:rPr>
              <a:t>Next week</a:t>
            </a:r>
            <a:endParaRPr/>
          </a:p>
          <a:p>
            <a:pPr indent="0" lvl="0" marL="0" rtl="0" algn="l">
              <a:lnSpc>
                <a:spcPct val="90000"/>
              </a:lnSpc>
              <a:spcBef>
                <a:spcPts val="0"/>
              </a:spcBef>
              <a:spcAft>
                <a:spcPts val="0"/>
              </a:spcAft>
              <a:buClr>
                <a:srgbClr val="2C5D7A"/>
              </a:buClr>
              <a:buSzPts val="7200"/>
              <a:buFont typeface="Inter SemiBold"/>
              <a:buNone/>
            </a:pPr>
            <a:r>
              <a:rPr lang="en-US" sz="7200">
                <a:solidFill>
                  <a:srgbClr val="2C5D7A"/>
                </a:solidFill>
              </a:rPr>
              <a:t>Understanding AI</a:t>
            </a:r>
            <a:endParaRPr/>
          </a:p>
        </p:txBody>
      </p:sp>
      <p:pic>
        <p:nvPicPr>
          <p:cNvPr id="413" name="Google Shape;413;p35"/>
          <p:cNvPicPr preferRelativeResize="0"/>
          <p:nvPr/>
        </p:nvPicPr>
        <p:blipFill rotWithShape="1">
          <a:blip r:embed="rId3">
            <a:alphaModFix/>
          </a:blip>
          <a:srcRect b="61469" l="0" r="0" t="25645"/>
          <a:stretch/>
        </p:blipFill>
        <p:spPr>
          <a:xfrm>
            <a:off x="0" y="4763386"/>
            <a:ext cx="12192000" cy="209461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