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Inter SemiBold"/>
      <p:regular r:id="rId25"/>
      <p:bold r:id="rId26"/>
      <p:italic r:id="rId27"/>
      <p:boldItalic r:id="rId28"/>
    </p:embeddedFont>
    <p:embeddedFont>
      <p:font typeface="Inter"/>
      <p:regular r:id="rId29"/>
      <p:bold r:id="rId30"/>
      <p:italic r:id="rId31"/>
      <p:boldItalic r:id="rId32"/>
    </p:embeddedFont>
    <p:embeddedFont>
      <p:font typeface="Inter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B106FDA-5884-42A6-AF65-1E25734686D2}">
  <a:tblStyle styleId="{1B106FDA-5884-42A6-AF65-1E25734686D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bold.fntdata"/><Relationship Id="rId25" Type="http://schemas.openxmlformats.org/officeDocument/2006/relationships/font" Target="fonts/InterSemiBold-regular.fntdata"/><Relationship Id="rId28" Type="http://schemas.openxmlformats.org/officeDocument/2006/relationships/font" Target="fonts/InterSemiBold-boldItalic.fntdata"/><Relationship Id="rId27" Type="http://schemas.openxmlformats.org/officeDocument/2006/relationships/font" Target="fonts/Inter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6.xml"/><Relationship Id="rId33" Type="http://schemas.openxmlformats.org/officeDocument/2006/relationships/font" Target="fonts/InterMedium-regular.fntdata"/><Relationship Id="rId10" Type="http://schemas.openxmlformats.org/officeDocument/2006/relationships/slide" Target="slides/slide5.xml"/><Relationship Id="rId32" Type="http://schemas.openxmlformats.org/officeDocument/2006/relationships/font" Target="fonts/Inter-boldItalic.fntdata"/><Relationship Id="rId13" Type="http://schemas.openxmlformats.org/officeDocument/2006/relationships/slide" Target="slides/slide8.xml"/><Relationship Id="rId35" Type="http://schemas.openxmlformats.org/officeDocument/2006/relationships/font" Target="fonts/InterMedium-italic.fntdata"/><Relationship Id="rId12" Type="http://schemas.openxmlformats.org/officeDocument/2006/relationships/slide" Target="slides/slide7.xml"/><Relationship Id="rId34" Type="http://schemas.openxmlformats.org/officeDocument/2006/relationships/font" Target="fonts/InterMedium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InterMedium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27" name="Google Shape;327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393700" y="1041400"/>
            <a:ext cx="7493000" cy="249149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Inter SemiBold"/>
              <a:buNone/>
              <a:defRPr b="1" i="0" sz="6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393700" y="4356100"/>
            <a:ext cx="553720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3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4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ntent">
  <p:cSld name="Three Conte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idx="1" type="body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body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ntent">
  <p:cSld name="Four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93700" y="4826000"/>
            <a:ext cx="2595934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11279332" y="6279952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7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3334966" y="4826000"/>
            <a:ext cx="2595934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6264413" y="4826000"/>
            <a:ext cx="2595934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9205679" y="4826000"/>
            <a:ext cx="2595934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oter Only">
  <p:cSld name="Footer 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6 Field Grid">
  <p:cSld name="36 Field Grid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8 Field Grid">
  <p:cSld name="48 Field Grid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Inter Medium"/>
              <a:buNone/>
              <a:defRPr b="0" i="0" sz="29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100">
                <a:solidFill>
                  <a:schemeClr val="dk1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None/>
              <a:def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248">
          <p15:clr>
            <a:srgbClr val="F26B43"/>
          </p15:clr>
        </p15:guide>
        <p15:guide id="4" pos="1264">
          <p15:clr>
            <a:srgbClr val="F26B43"/>
          </p15:clr>
        </p15:guide>
        <p15:guide id="5" pos="1480">
          <p15:clr>
            <a:srgbClr val="F26B43"/>
          </p15:clr>
        </p15:guide>
        <p15:guide id="6" pos="2496">
          <p15:clr>
            <a:srgbClr val="F26B43"/>
          </p15:clr>
        </p15:guide>
        <p15:guide id="7" pos="2712">
          <p15:clr>
            <a:srgbClr val="F26B43"/>
          </p15:clr>
        </p15:guide>
        <p15:guide id="8" pos="3736">
          <p15:clr>
            <a:srgbClr val="F26B43"/>
          </p15:clr>
        </p15:guide>
        <p15:guide id="9" pos="3944">
          <p15:clr>
            <a:srgbClr val="F26B43"/>
          </p15:clr>
        </p15:guide>
        <p15:guide id="10" pos="4968">
          <p15:clr>
            <a:srgbClr val="F26B43"/>
          </p15:clr>
        </p15:guide>
        <p15:guide id="11" pos="5184">
          <p15:clr>
            <a:srgbClr val="F26B43"/>
          </p15:clr>
        </p15:guide>
        <p15:guide id="12" pos="6200">
          <p15:clr>
            <a:srgbClr val="F26B43"/>
          </p15:clr>
        </p15:guide>
        <p15:guide id="13" pos="6416">
          <p15:clr>
            <a:srgbClr val="F26B43"/>
          </p15:clr>
        </p15:guide>
        <p15:guide id="14" pos="7432">
          <p15:clr>
            <a:srgbClr val="F26B43"/>
          </p15:clr>
        </p15:guide>
        <p15:guide id="15" orient="horz">
          <p15:clr>
            <a:srgbClr val="F26B43"/>
          </p15:clr>
        </p15:guide>
        <p15:guide id="16" orient="horz" pos="248">
          <p15:clr>
            <a:srgbClr val="F26B43"/>
          </p15:clr>
        </p15:guide>
        <p15:guide id="17" orient="horz" pos="656">
          <p15:clr>
            <a:srgbClr val="F26B43"/>
          </p15:clr>
        </p15:guide>
        <p15:guide id="18" orient="horz" pos="872">
          <p15:clr>
            <a:srgbClr val="F26B43"/>
          </p15:clr>
        </p15:guide>
        <p15:guide id="19" orient="horz" pos="1280">
          <p15:clr>
            <a:srgbClr val="F26B43"/>
          </p15:clr>
        </p15:guide>
        <p15:guide id="20" orient="horz" pos="1496">
          <p15:clr>
            <a:srgbClr val="F26B43"/>
          </p15:clr>
        </p15:guide>
        <p15:guide id="21" orient="horz" pos="1904">
          <p15:clr>
            <a:srgbClr val="F26B43"/>
          </p15:clr>
        </p15:guide>
        <p15:guide id="22" orient="horz" pos="2120">
          <p15:clr>
            <a:srgbClr val="F26B43"/>
          </p15:clr>
        </p15:guide>
        <p15:guide id="23" orient="horz" pos="2528">
          <p15:clr>
            <a:srgbClr val="F26B43"/>
          </p15:clr>
        </p15:guide>
        <p15:guide id="24" orient="horz" pos="2744">
          <p15:clr>
            <a:srgbClr val="F26B43"/>
          </p15:clr>
        </p15:guide>
        <p15:guide id="25" orient="horz" pos="3152">
          <p15:clr>
            <a:srgbClr val="F26B43"/>
          </p15:clr>
        </p15:guide>
        <p15:guide id="26" orient="horz" pos="3368">
          <p15:clr>
            <a:srgbClr val="F26B43"/>
          </p15:clr>
        </p15:guide>
        <p15:guide id="27" orient="horz" pos="3776">
          <p15:clr>
            <a:srgbClr val="F26B43"/>
          </p15:clr>
        </p15:guide>
        <p15:guide id="28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hyperlink" Target="https://forms.gle/3FYXpK8ALPAknRgU6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type="ctrTitle"/>
          </p:nvPr>
        </p:nvSpPr>
        <p:spPr>
          <a:xfrm>
            <a:off x="597174" y="621150"/>
            <a:ext cx="9129000" cy="240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C5D7A"/>
              </a:buClr>
              <a:buSzPts val="7200"/>
              <a:buFont typeface="Inter SemiBold"/>
              <a:buNone/>
            </a:pPr>
            <a:r>
              <a:rPr lang="en-US" sz="7200">
                <a:solidFill>
                  <a:srgbClr val="2C5D7A"/>
                </a:solidFill>
              </a:rPr>
              <a:t>Technical AI Safety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C5D7A"/>
              </a:buClr>
              <a:buSzPts val="7200"/>
              <a:buFont typeface="Inter SemiBold"/>
              <a:buNone/>
            </a:pPr>
            <a:r>
              <a:rPr lang="en-US" sz="7200">
                <a:solidFill>
                  <a:srgbClr val="2C5D7A"/>
                </a:solidFill>
              </a:rPr>
              <a:t>Week 5</a:t>
            </a:r>
            <a:endParaRPr/>
          </a:p>
        </p:txBody>
      </p:sp>
      <p:sp>
        <p:nvSpPr>
          <p:cNvPr id="59" name="Google Shape;59;p12"/>
          <p:cNvSpPr txBox="1"/>
          <p:nvPr>
            <p:ph idx="1" type="subTitle"/>
          </p:nvPr>
        </p:nvSpPr>
        <p:spPr>
          <a:xfrm>
            <a:off x="642669" y="3564938"/>
            <a:ext cx="3758374" cy="614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SAIN Amsterdam, Science Park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Monday 05/10/2026, 18:00–20:00</a:t>
            </a:r>
            <a:endParaRPr/>
          </a:p>
        </p:txBody>
      </p:sp>
      <p:pic>
        <p:nvPicPr>
          <p:cNvPr id="60" name="Google Shape;60;p12"/>
          <p:cNvPicPr preferRelativeResize="0"/>
          <p:nvPr/>
        </p:nvPicPr>
        <p:blipFill rotWithShape="1">
          <a:blip r:embed="rId3">
            <a:alphaModFix/>
          </a:blip>
          <a:srcRect b="61469" l="0" r="0" t="25645"/>
          <a:stretch/>
        </p:blipFill>
        <p:spPr>
          <a:xfrm>
            <a:off x="0" y="4763386"/>
            <a:ext cx="12190542" cy="2094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Workshop agenda</a:t>
            </a:r>
            <a:endParaRPr/>
          </a:p>
        </p:txBody>
      </p:sp>
      <p:graphicFrame>
        <p:nvGraphicFramePr>
          <p:cNvPr id="67" name="Google Shape;67;p13"/>
          <p:cNvGraphicFramePr/>
          <p:nvPr/>
        </p:nvGraphicFramePr>
        <p:xfrm>
          <a:off x="723900" y="152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{1B106FDA-5884-42A6-AF65-1E25734686D2}</a:tableStyleId>
              </a:tblPr>
              <a:tblGrid>
                <a:gridCol w="1066800"/>
                <a:gridCol w="96488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 strike="noStrik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CEF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Check-in and open questions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CEFD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 control peer teaching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Defence-in-depth stress test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Break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Break the kill chain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Synthesis and reflection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Learnings and questions</a:t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400050" y="990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75"/>
              <a:buFont typeface="Inter"/>
              <a:buNone/>
            </a:pPr>
            <a:r>
              <a:rPr b="1" i="0" lang="en-US" sz="1275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17:09–17:20, write for 3 minutes, then discuss as a group</a:t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400050" y="1762125"/>
            <a:ext cx="3571875" cy="2952750"/>
          </a:xfrm>
          <a:prstGeom prst="roundRect">
            <a:avLst>
              <a:gd fmla="val 3226" name="adj"/>
            </a:avLst>
          </a:prstGeom>
          <a:solidFill>
            <a:srgbClr val="DD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609600" y="19145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77" name="Google Shape;77;p14"/>
          <p:cNvSpPr/>
          <p:nvPr/>
        </p:nvSpPr>
        <p:spPr>
          <a:xfrm>
            <a:off x="609600" y="224790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650"/>
              <a:buFont typeface="Inter"/>
              <a:buNone/>
            </a:pPr>
            <a:r>
              <a:rPr b="1" i="0" lang="en-US" sz="16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Surprise</a:t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609600" y="2724150"/>
            <a:ext cx="315277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425"/>
              <a:buFont typeface="Inter"/>
              <a:buNone/>
            </a:pPr>
            <a:r>
              <a:rPr b="0" i="0" lang="en-US" sz="142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Which harm pathway or control idea changed how you think about deployment safety?</a:t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4314825" y="1762125"/>
            <a:ext cx="3571875" cy="2952750"/>
          </a:xfrm>
          <a:prstGeom prst="roundRect">
            <a:avLst>
              <a:gd fmla="val 3226" name="adj"/>
            </a:avLst>
          </a:prstGeom>
          <a:solidFill>
            <a:srgbClr val="E2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4524375" y="19145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4524375" y="224790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650"/>
              <a:buFont typeface="Inter"/>
              <a:buNone/>
            </a:pPr>
            <a:r>
              <a:rPr b="1" i="0" lang="en-US" sz="16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Confidence</a:t>
            </a:r>
            <a:endParaRPr/>
          </a:p>
        </p:txBody>
      </p:sp>
      <p:sp>
        <p:nvSpPr>
          <p:cNvPr id="82" name="Google Shape;82;p14"/>
          <p:cNvSpPr/>
          <p:nvPr/>
        </p:nvSpPr>
        <p:spPr>
          <a:xfrm>
            <a:off x="4524375" y="2724150"/>
            <a:ext cx="315277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425"/>
              <a:buFont typeface="Inter"/>
              <a:buNone/>
            </a:pPr>
            <a:r>
              <a:rPr b="0" i="0" lang="en-US" sz="142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Which defence felt strongest? What assumptions does that confidence depend on?</a:t>
            </a:r>
            <a:endParaRPr/>
          </a:p>
        </p:txBody>
      </p:sp>
      <p:sp>
        <p:nvSpPr>
          <p:cNvPr id="83" name="Google Shape;83;p14"/>
          <p:cNvSpPr/>
          <p:nvPr/>
        </p:nvSpPr>
        <p:spPr>
          <a:xfrm>
            <a:off x="8229600" y="1762125"/>
            <a:ext cx="3571875" cy="2952750"/>
          </a:xfrm>
          <a:prstGeom prst="roundRect">
            <a:avLst>
              <a:gd fmla="val 3226" name="adj"/>
            </a:avLst>
          </a:prstGeom>
          <a:solidFill>
            <a:srgbClr val="FAF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4"/>
          <p:cNvSpPr/>
          <p:nvPr/>
        </p:nvSpPr>
        <p:spPr>
          <a:xfrm>
            <a:off x="8439150" y="19145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8439150" y="224790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650"/>
              <a:buFont typeface="Inter"/>
              <a:buNone/>
            </a:pPr>
            <a:r>
              <a:rPr b="1" i="0" lang="en-US" sz="16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Uncertainty</a:t>
            </a:r>
            <a:endParaRPr/>
          </a:p>
        </p:txBody>
      </p:sp>
      <p:sp>
        <p:nvSpPr>
          <p:cNvPr id="86" name="Google Shape;86;p14"/>
          <p:cNvSpPr/>
          <p:nvPr/>
        </p:nvSpPr>
        <p:spPr>
          <a:xfrm>
            <a:off x="8439150" y="2724150"/>
            <a:ext cx="315277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425"/>
              <a:buFont typeface="Inter"/>
              <a:buNone/>
            </a:pPr>
            <a:r>
              <a:rPr b="0" i="0" lang="en-US" sz="142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Which question should this group resolve or sharpen today?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lang="en-US" sz="24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Defence in depth combines layers with different failure modes.</a:t>
            </a:r>
            <a:endParaRPr sz="2400">
              <a:solidFill>
                <a:srgbClr val="171A1D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400050" y="1619250"/>
            <a:ext cx="3571875" cy="3143250"/>
          </a:xfrm>
          <a:prstGeom prst="roundRect">
            <a:avLst>
              <a:gd fmla="val 3030" name="adj"/>
            </a:avLst>
          </a:prstGeom>
          <a:solidFill>
            <a:srgbClr val="DD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609600" y="177165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609600" y="2105025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2025"/>
              <a:buFont typeface="Inter"/>
              <a:buNone/>
            </a:pPr>
            <a:r>
              <a:rPr b="1" i="0" lang="en-US" sz="202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Model</a:t>
            </a: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609600" y="2581275"/>
            <a:ext cx="3152775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0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Reduce harmful behaviour.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>
              <a:solidFill>
                <a:srgbClr val="171A1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0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Training, classifiers, capability removal, refusal, and safer defaults.</a:t>
            </a: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4314825" y="1619250"/>
            <a:ext cx="3571875" cy="3143250"/>
          </a:xfrm>
          <a:prstGeom prst="roundRect">
            <a:avLst>
              <a:gd fmla="val 3030" name="adj"/>
            </a:avLst>
          </a:prstGeom>
          <a:solidFill>
            <a:srgbClr val="E2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4524375" y="177165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4524375" y="2105025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2025"/>
              <a:buFont typeface="Inter"/>
              <a:buNone/>
            </a:pPr>
            <a:r>
              <a:rPr b="1" i="0" lang="en-US" sz="202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Deployment system</a:t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4524375" y="2581275"/>
            <a:ext cx="3152775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0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Constrain what the model can do.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>
              <a:solidFill>
                <a:srgbClr val="171A1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0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Monitoring, permissions, sandboxing, audits, deferral, and shutdown.</a:t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8229600" y="1619250"/>
            <a:ext cx="3571875" cy="3143250"/>
          </a:xfrm>
          <a:prstGeom prst="roundRect">
            <a:avLst>
              <a:gd fmla="val 3030" name="adj"/>
            </a:avLst>
          </a:prstGeom>
          <a:solidFill>
            <a:srgbClr val="FAF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8439150" y="177165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8439150" y="2105025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2025"/>
              <a:buFont typeface="Inter"/>
              <a:buNone/>
            </a:pPr>
            <a:r>
              <a:rPr b="1" i="0" lang="en-US" sz="202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World around it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8439150" y="2581275"/>
            <a:ext cx="3152775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0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Make society harder to harm.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>
              <a:solidFill>
                <a:srgbClr val="171A1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0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Biosecurity, infrastructure resilience, governance, incident response, and recovery.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1714500" y="5238750"/>
            <a:ext cx="8763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D6685"/>
              </a:buClr>
              <a:buSzPts val="1800"/>
              <a:buFont typeface="Inter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Workshop agenda</a:t>
            </a:r>
            <a:endParaRPr/>
          </a:p>
        </p:txBody>
      </p:sp>
      <p:graphicFrame>
        <p:nvGraphicFramePr>
          <p:cNvPr id="112" name="Google Shape;112;p16"/>
          <p:cNvGraphicFramePr/>
          <p:nvPr/>
        </p:nvGraphicFramePr>
        <p:xfrm>
          <a:off x="723900" y="152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{1B106FDA-5884-42A6-AF65-1E25734686D2}</a:tableStyleId>
              </a:tblPr>
              <a:tblGrid>
                <a:gridCol w="1066800"/>
                <a:gridCol w="96488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Check-in and open questions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CEF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 control peer teaching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CEFD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Defence-in-depth stress test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Break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Break the kill chain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Synthesis and reflection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AI control peer teaching</a:t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400050" y="990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75"/>
              <a:buFont typeface="Inter"/>
              <a:buNone/>
            </a:pPr>
            <a:r>
              <a:rPr b="1" lang="en-US" sz="1275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b="1" i="0" lang="en-US" sz="1275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wo 8-minute rounds, then a 2-minute debrief</a:t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809625" y="1809750"/>
            <a:ext cx="4953000" cy="3095625"/>
          </a:xfrm>
          <a:prstGeom prst="roundRect">
            <a:avLst>
              <a:gd fmla="val 3077" name="adj"/>
            </a:avLst>
          </a:prstGeom>
          <a:solidFill>
            <a:srgbClr val="DD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1019175" y="196215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1019175" y="2295525"/>
            <a:ext cx="453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950"/>
              <a:buFont typeface="Inter"/>
              <a:buNone/>
            </a:pPr>
            <a:r>
              <a:rPr b="1" i="0" lang="en-US" sz="19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Explainer</a:t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1019175" y="2771775"/>
            <a:ext cx="4533900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75"/>
              <a:buFont typeface="Inter"/>
              <a:buNone/>
            </a:pPr>
            <a:r>
              <a:rPr b="0" i="0" lang="en-US" sz="157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Explain one concept from memory: AI control, input/output filtering, Constitutional Classifiers, or societal resilience.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75">
              <a:solidFill>
                <a:srgbClr val="171A1D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75"/>
              <a:buFont typeface="Inter"/>
              <a:buNone/>
            </a:pPr>
            <a:r>
              <a:rPr b="0" i="0" lang="en-US" sz="157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Cover the threat, mechanism, evidence, and largest limitation.</a:t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6429375" y="1809750"/>
            <a:ext cx="4953000" cy="3095625"/>
          </a:xfrm>
          <a:prstGeom prst="roundRect">
            <a:avLst>
              <a:gd fmla="val 3077" name="adj"/>
            </a:avLst>
          </a:prstGeom>
          <a:solidFill>
            <a:srgbClr val="E2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>
            <a:off x="6638925" y="196215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6638925" y="2295525"/>
            <a:ext cx="453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950"/>
              <a:buFont typeface="Inter"/>
              <a:buNone/>
            </a:pPr>
            <a:r>
              <a:rPr b="1" i="0" lang="en-US" sz="19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Curious questioner</a:t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6638925" y="2771775"/>
            <a:ext cx="4533900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75"/>
              <a:buFont typeface="Inter"/>
              <a:buNone/>
            </a:pPr>
            <a:r>
              <a:rPr b="0" i="0" lang="en-US" sz="157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Listen for assumptions and failure modes. Ask what the defence observes, controls, misses, and does after an alert.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75"/>
              <a:buFont typeface="Inter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Questions for the curious questioner</a:t>
            </a: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1095375" y="1571625"/>
            <a:ext cx="9906000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14300" lvl="0" marL="228600" marR="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1800"/>
              <a:t>What harmful action or pathway is this defence meant to stop?</a:t>
            </a:r>
            <a:endParaRPr/>
          </a:p>
          <a:p>
            <a:pPr indent="-114300" lvl="0" marL="228600" marR="0" rtl="0" algn="l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1800"/>
              <a:t>What signal does it observe and can the attacker shape that signal?</a:t>
            </a:r>
            <a:endParaRPr/>
          </a:p>
          <a:p>
            <a:pPr indent="-114300" lvl="0" marL="228600" marR="0" rtl="0" algn="l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1800"/>
              <a:t>What authority does it have: flag, block, defer, isolate, or shut down?</a:t>
            </a:r>
            <a:endParaRPr/>
          </a:p>
          <a:p>
            <a:pPr indent="-114300" lvl="0" marL="228600" marR="0" rtl="0" algn="l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1800"/>
              <a:t>Which trusted component is weaker than the untrusted model?</a:t>
            </a:r>
            <a:endParaRPr/>
          </a:p>
          <a:p>
            <a:pPr indent="-114300" lvl="0" marL="228600" marR="0" rtl="0" algn="l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1800"/>
              <a:t>How could several safeguards fail for the same underlying reason?</a:t>
            </a:r>
            <a:endParaRPr/>
          </a:p>
          <a:p>
            <a:pPr indent="-114300" lvl="0" marL="228600" marR="0" rtl="0" algn="l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US" sz="1800"/>
              <a:t>What happens after detection, including recovery and learning?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Workshop agenda</a:t>
            </a:r>
            <a:endParaRPr/>
          </a:p>
        </p:txBody>
      </p:sp>
      <p:graphicFrame>
        <p:nvGraphicFramePr>
          <p:cNvPr id="141" name="Google Shape;141;p19"/>
          <p:cNvGraphicFramePr/>
          <p:nvPr/>
        </p:nvGraphicFramePr>
        <p:xfrm>
          <a:off x="723900" y="152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{1B106FDA-5884-42A6-AF65-1E25734686D2}</a:tableStyleId>
              </a:tblPr>
              <a:tblGrid>
                <a:gridCol w="1066800"/>
                <a:gridCol w="96488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Check-in and open questions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 control peer teaching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CEF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Defence-in-depth stress test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CEFD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Break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Break the kill chain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Synthesis and reflection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An AI control protocol is a system</a:t>
            </a:r>
            <a:endParaRPr/>
          </a:p>
        </p:txBody>
      </p:sp>
      <p:sp>
        <p:nvSpPr>
          <p:cNvPr id="148" name="Google Shape;148;p20"/>
          <p:cNvSpPr/>
          <p:nvPr/>
        </p:nvSpPr>
        <p:spPr>
          <a:xfrm>
            <a:off x="400050" y="990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75"/>
              <a:buFont typeface="Inter"/>
              <a:buNone/>
            </a:pPr>
            <a:r>
              <a:t/>
            </a:r>
            <a:endParaRPr/>
          </a:p>
        </p:txBody>
      </p:sp>
      <p:sp>
        <p:nvSpPr>
          <p:cNvPr id="149" name="Google Shape;149;p20"/>
          <p:cNvSpPr/>
          <p:nvPr/>
        </p:nvSpPr>
        <p:spPr>
          <a:xfrm>
            <a:off x="400050" y="1571625"/>
            <a:ext cx="3571875" cy="1714500"/>
          </a:xfrm>
          <a:prstGeom prst="roundRect">
            <a:avLst>
              <a:gd fmla="val 5556" name="adj"/>
            </a:avLst>
          </a:prstGeom>
          <a:solidFill>
            <a:srgbClr val="DD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0"/>
          <p:cNvSpPr/>
          <p:nvPr/>
        </p:nvSpPr>
        <p:spPr>
          <a:xfrm>
            <a:off x="609600" y="1724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151" name="Google Shape;151;p20"/>
          <p:cNvSpPr/>
          <p:nvPr/>
        </p:nvSpPr>
        <p:spPr>
          <a:xfrm>
            <a:off x="609600" y="205740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1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Restrict</a:t>
            </a: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609600" y="2533650"/>
            <a:ext cx="31527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275"/>
              <a:buFont typeface="Inter"/>
              <a:buNone/>
            </a:pPr>
            <a:r>
              <a:rPr b="0" i="0" lang="en-US" sz="127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Limit tools, data, credentials, network access, and irreversible actions.</a:t>
            </a:r>
            <a:endParaRPr/>
          </a:p>
        </p:txBody>
      </p:sp>
      <p:sp>
        <p:nvSpPr>
          <p:cNvPr id="153" name="Google Shape;153;p20"/>
          <p:cNvSpPr/>
          <p:nvPr/>
        </p:nvSpPr>
        <p:spPr>
          <a:xfrm>
            <a:off x="4314825" y="1571625"/>
            <a:ext cx="3571875" cy="1714500"/>
          </a:xfrm>
          <a:prstGeom prst="roundRect">
            <a:avLst>
              <a:gd fmla="val 5556" name="adj"/>
            </a:avLst>
          </a:prstGeom>
          <a:solidFill>
            <a:srgbClr val="E2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0"/>
          <p:cNvSpPr/>
          <p:nvPr/>
        </p:nvSpPr>
        <p:spPr>
          <a:xfrm>
            <a:off x="4524375" y="1724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155" name="Google Shape;155;p20"/>
          <p:cNvSpPr/>
          <p:nvPr/>
        </p:nvSpPr>
        <p:spPr>
          <a:xfrm>
            <a:off x="4524375" y="205740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1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Monitor</a:t>
            </a:r>
            <a:endParaRPr/>
          </a:p>
        </p:txBody>
      </p:sp>
      <p:sp>
        <p:nvSpPr>
          <p:cNvPr id="156" name="Google Shape;156;p20"/>
          <p:cNvSpPr/>
          <p:nvPr/>
        </p:nvSpPr>
        <p:spPr>
          <a:xfrm>
            <a:off x="4524375" y="2533650"/>
            <a:ext cx="31527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275"/>
              <a:buFont typeface="Inter"/>
              <a:buNone/>
            </a:pPr>
            <a:r>
              <a:rPr b="0" i="0" lang="en-US" sz="127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Use trusted models, rules, anomaly signals, and human review to inspect actions.</a:t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8229600" y="1571625"/>
            <a:ext cx="3571875" cy="1714500"/>
          </a:xfrm>
          <a:prstGeom prst="roundRect">
            <a:avLst>
              <a:gd fmla="val 5556" name="adj"/>
            </a:avLst>
          </a:prstGeom>
          <a:solidFill>
            <a:srgbClr val="FAF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0"/>
          <p:cNvSpPr/>
          <p:nvPr/>
        </p:nvSpPr>
        <p:spPr>
          <a:xfrm>
            <a:off x="8439150" y="1724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159" name="Google Shape;159;p20"/>
          <p:cNvSpPr/>
          <p:nvPr/>
        </p:nvSpPr>
        <p:spPr>
          <a:xfrm>
            <a:off x="8439150" y="205740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1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Defer</a:t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8439150" y="2533650"/>
            <a:ext cx="31527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275"/>
              <a:buFont typeface="Inter"/>
              <a:buNone/>
            </a:pPr>
            <a:r>
              <a:rPr b="0" i="0" lang="en-US" sz="127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Route suspicious or high-impact actions to a safer model or human decision-maker.</a:t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400050" y="3571875"/>
            <a:ext cx="3571875" cy="1714500"/>
          </a:xfrm>
          <a:prstGeom prst="roundRect">
            <a:avLst>
              <a:gd fmla="val 5556" name="adj"/>
            </a:avLst>
          </a:prstGeom>
          <a:solidFill>
            <a:srgbClr val="FAF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609600" y="372427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609600" y="405765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1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Audit</a:t>
            </a:r>
            <a:endParaRPr/>
          </a:p>
        </p:txBody>
      </p:sp>
      <p:sp>
        <p:nvSpPr>
          <p:cNvPr id="164" name="Google Shape;164;p20"/>
          <p:cNvSpPr/>
          <p:nvPr/>
        </p:nvSpPr>
        <p:spPr>
          <a:xfrm>
            <a:off x="609600" y="4533900"/>
            <a:ext cx="31527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275"/>
              <a:buFont typeface="Inter"/>
              <a:buNone/>
            </a:pPr>
            <a:r>
              <a:rPr b="0" i="0" lang="en-US" sz="127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Sample traces, preserve evidence, and test the protocol against deliberate attacks.</a:t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4314825" y="3571875"/>
            <a:ext cx="3571875" cy="1714500"/>
          </a:xfrm>
          <a:prstGeom prst="roundRect">
            <a:avLst>
              <a:gd fmla="val 5556" name="adj"/>
            </a:avLst>
          </a:prstGeom>
          <a:solidFill>
            <a:srgbClr val="FDE7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0"/>
          <p:cNvSpPr/>
          <p:nvPr/>
        </p:nvSpPr>
        <p:spPr>
          <a:xfrm>
            <a:off x="4524375" y="372427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/>
          </a:p>
        </p:txBody>
      </p:sp>
      <p:sp>
        <p:nvSpPr>
          <p:cNvPr id="167" name="Google Shape;167;p20"/>
          <p:cNvSpPr/>
          <p:nvPr/>
        </p:nvSpPr>
        <p:spPr>
          <a:xfrm>
            <a:off x="4524375" y="405765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1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Contain</a:t>
            </a: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4524375" y="4533900"/>
            <a:ext cx="31527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275"/>
              <a:buFont typeface="Inter"/>
              <a:buNone/>
            </a:pPr>
            <a:r>
              <a:rPr b="0" i="0" lang="en-US" sz="127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Use sandboxes, rate limits, tripwires, and separation so failure cannot spread quickly.</a:t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8229600" y="3571875"/>
            <a:ext cx="3571875" cy="1714500"/>
          </a:xfrm>
          <a:prstGeom prst="roundRect">
            <a:avLst>
              <a:gd fmla="val 5556" name="adj"/>
            </a:avLst>
          </a:prstGeom>
          <a:solidFill>
            <a:srgbClr val="DD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8439150" y="372427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8439150" y="405765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1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Recover</a:t>
            </a: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8439150" y="4533900"/>
            <a:ext cx="3152775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230"/>
              <a:buFont typeface="Inter"/>
              <a:buNone/>
            </a:pPr>
            <a:r>
              <a:rPr b="0" i="0" lang="en-US" sz="123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Revoke access, restore systems, communicate incidents, and update safeguards.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Case study: Constitutional Classifiers</a:t>
            </a:r>
            <a:r>
              <a:rPr lang="en-US" sz="24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: useful or false confidence?</a:t>
            </a:r>
            <a:endParaRPr/>
          </a:p>
        </p:txBody>
      </p:sp>
      <p:sp>
        <p:nvSpPr>
          <p:cNvPr id="179" name="Google Shape;179;p21"/>
          <p:cNvSpPr/>
          <p:nvPr/>
        </p:nvSpPr>
        <p:spPr>
          <a:xfrm>
            <a:off x="400050" y="1571625"/>
            <a:ext cx="3571875" cy="3143250"/>
          </a:xfrm>
          <a:prstGeom prst="roundRect">
            <a:avLst>
              <a:gd fmla="val 3030" name="adj"/>
            </a:avLst>
          </a:prstGeom>
          <a:solidFill>
            <a:srgbClr val="DD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1"/>
          <p:cNvSpPr/>
          <p:nvPr/>
        </p:nvSpPr>
        <p:spPr>
          <a:xfrm>
            <a:off x="609600" y="1724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181" name="Google Shape;181;p21"/>
          <p:cNvSpPr/>
          <p:nvPr/>
        </p:nvSpPr>
        <p:spPr>
          <a:xfrm>
            <a:off x="609600" y="205740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650"/>
              <a:buFont typeface="Inter"/>
              <a:buNone/>
            </a:pPr>
            <a:r>
              <a:rPr b="1" i="0" lang="en-US" sz="16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Mechanism</a:t>
            </a:r>
            <a:endParaRPr/>
          </a:p>
        </p:txBody>
      </p:sp>
      <p:sp>
        <p:nvSpPr>
          <p:cNvPr id="182" name="Google Shape;182;p21"/>
          <p:cNvSpPr/>
          <p:nvPr/>
        </p:nvSpPr>
        <p:spPr>
          <a:xfrm>
            <a:off x="609600" y="2533650"/>
            <a:ext cx="3152775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0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Generate synthetic training data from a written constitution, then classify inputs and outputs as allowed or restricted.</a:t>
            </a:r>
            <a:endParaRPr/>
          </a:p>
        </p:txBody>
      </p:sp>
      <p:sp>
        <p:nvSpPr>
          <p:cNvPr id="183" name="Google Shape;183;p21"/>
          <p:cNvSpPr/>
          <p:nvPr/>
        </p:nvSpPr>
        <p:spPr>
          <a:xfrm>
            <a:off x="4314825" y="1571625"/>
            <a:ext cx="3571875" cy="3143250"/>
          </a:xfrm>
          <a:prstGeom prst="roundRect">
            <a:avLst>
              <a:gd fmla="val 3030" name="adj"/>
            </a:avLst>
          </a:prstGeom>
          <a:solidFill>
            <a:srgbClr val="FAF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4524375" y="1724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185" name="Google Shape;185;p21"/>
          <p:cNvSpPr/>
          <p:nvPr/>
        </p:nvSpPr>
        <p:spPr>
          <a:xfrm>
            <a:off x="4524375" y="205740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650"/>
              <a:buFont typeface="Inter"/>
              <a:buNone/>
            </a:pPr>
            <a:r>
              <a:rPr b="1" i="0" lang="en-US" sz="16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Evidence</a:t>
            </a:r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4524375" y="2533650"/>
            <a:ext cx="3152775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0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The 2025 study reported strong resistance to universal jailbreaks across extensive red teaming, with measurable deployment cost.</a:t>
            </a:r>
            <a:endParaRPr/>
          </a:p>
        </p:txBody>
      </p:sp>
      <p:sp>
        <p:nvSpPr>
          <p:cNvPr id="187" name="Google Shape;187;p21"/>
          <p:cNvSpPr/>
          <p:nvPr/>
        </p:nvSpPr>
        <p:spPr>
          <a:xfrm>
            <a:off x="8229600" y="1571625"/>
            <a:ext cx="3571875" cy="3143250"/>
          </a:xfrm>
          <a:prstGeom prst="roundRect">
            <a:avLst>
              <a:gd fmla="val 3030" name="adj"/>
            </a:avLst>
          </a:prstGeom>
          <a:solidFill>
            <a:srgbClr val="E2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8439150" y="1724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8439150" y="205740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650"/>
              <a:buFont typeface="Inter"/>
              <a:buNone/>
            </a:pPr>
            <a:r>
              <a:rPr b="1" i="0" lang="en-US" sz="16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Failure modes</a:t>
            </a:r>
            <a:endParaRPr/>
          </a:p>
        </p:txBody>
      </p:sp>
      <p:sp>
        <p:nvSpPr>
          <p:cNvPr id="190" name="Google Shape;190;p21"/>
          <p:cNvSpPr/>
          <p:nvPr/>
        </p:nvSpPr>
        <p:spPr>
          <a:xfrm>
            <a:off x="8439150" y="2533650"/>
            <a:ext cx="3152775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0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Novel attacks, distribution shift, false refusals, latency, and correlated failure if the classifier shares blind spots with the model.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Workshop agenda</a:t>
            </a:r>
            <a:endParaRPr/>
          </a:p>
        </p:txBody>
      </p:sp>
      <p:graphicFrame>
        <p:nvGraphicFramePr>
          <p:cNvPr id="197" name="Google Shape;197;p22"/>
          <p:cNvGraphicFramePr/>
          <p:nvPr/>
        </p:nvGraphicFramePr>
        <p:xfrm>
          <a:off x="723900" y="152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{1B106FDA-5884-42A6-AF65-1E25734686D2}</a:tableStyleId>
              </a:tblPr>
              <a:tblGrid>
                <a:gridCol w="1066800"/>
                <a:gridCol w="96488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Check-in and open questions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 control peer teaching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Defence-in-depth stress test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D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Break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DE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Break the kill chain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Synthesis and reflection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Workshop agenda</a:t>
            </a:r>
            <a:endParaRPr/>
          </a:p>
        </p:txBody>
      </p:sp>
      <p:graphicFrame>
        <p:nvGraphicFramePr>
          <p:cNvPr id="204" name="Google Shape;204;p23"/>
          <p:cNvGraphicFramePr/>
          <p:nvPr/>
        </p:nvGraphicFramePr>
        <p:xfrm>
          <a:off x="723900" y="152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{1B106FDA-5884-42A6-AF65-1E25734686D2}</a:tableStyleId>
              </a:tblPr>
              <a:tblGrid>
                <a:gridCol w="1066800"/>
                <a:gridCol w="96488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Check-in and open questions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 control peer teaching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Defence-in-depth stress test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Break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CEF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Break the kill chain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CEFD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Synthesis and reflection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Four pathways to large-scale harm</a:t>
            </a:r>
            <a:endParaRPr/>
          </a:p>
        </p:txBody>
      </p:sp>
      <p:sp>
        <p:nvSpPr>
          <p:cNvPr id="211" name="Google Shape;211;p24"/>
          <p:cNvSpPr/>
          <p:nvPr/>
        </p:nvSpPr>
        <p:spPr>
          <a:xfrm>
            <a:off x="400050" y="990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75"/>
              <a:buFont typeface="Inter"/>
              <a:buNone/>
            </a:pPr>
            <a:r>
              <a:t/>
            </a:r>
            <a:endParaRPr/>
          </a:p>
        </p:txBody>
      </p:sp>
      <p:sp>
        <p:nvSpPr>
          <p:cNvPr id="212" name="Google Shape;212;p24"/>
          <p:cNvSpPr/>
          <p:nvPr/>
        </p:nvSpPr>
        <p:spPr>
          <a:xfrm>
            <a:off x="400050" y="1571625"/>
            <a:ext cx="3571875" cy="2000250"/>
          </a:xfrm>
          <a:prstGeom prst="roundRect">
            <a:avLst>
              <a:gd fmla="val 4762" name="adj"/>
            </a:avLst>
          </a:prstGeom>
          <a:solidFill>
            <a:srgbClr val="DD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4"/>
          <p:cNvSpPr/>
          <p:nvPr/>
        </p:nvSpPr>
        <p:spPr>
          <a:xfrm>
            <a:off x="609600" y="1724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214" name="Google Shape;214;p24"/>
          <p:cNvSpPr/>
          <p:nvPr/>
        </p:nvSpPr>
        <p:spPr>
          <a:xfrm>
            <a:off x="609600" y="205740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650"/>
              <a:buFont typeface="Inter"/>
              <a:buNone/>
            </a:pPr>
            <a:r>
              <a:rPr b="1" i="0" lang="en-US" sz="16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Concentrated power</a:t>
            </a:r>
            <a:endParaRPr/>
          </a:p>
        </p:txBody>
      </p:sp>
      <p:sp>
        <p:nvSpPr>
          <p:cNvPr id="215" name="Google Shape;215;p24"/>
          <p:cNvSpPr/>
          <p:nvPr/>
        </p:nvSpPr>
        <p:spPr>
          <a:xfrm>
            <a:off x="609600" y="2533650"/>
            <a:ext cx="3152775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350"/>
              <a:buFont typeface="Inter"/>
              <a:buNone/>
            </a:pPr>
            <a:r>
              <a:rPr b="0" i="0" lang="en-US" sz="13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A small group uses AI for surveillance, persuasion, coordination, or coercion to seize or entrench control.</a:t>
            </a:r>
            <a:endParaRPr/>
          </a:p>
        </p:txBody>
      </p:sp>
      <p:sp>
        <p:nvSpPr>
          <p:cNvPr id="216" name="Google Shape;216;p24"/>
          <p:cNvSpPr/>
          <p:nvPr/>
        </p:nvSpPr>
        <p:spPr>
          <a:xfrm>
            <a:off x="4314825" y="1571625"/>
            <a:ext cx="3571875" cy="2000250"/>
          </a:xfrm>
          <a:prstGeom prst="roundRect">
            <a:avLst>
              <a:gd fmla="val 4762" name="adj"/>
            </a:avLst>
          </a:prstGeom>
          <a:solidFill>
            <a:srgbClr val="E2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4"/>
          <p:cNvSpPr/>
          <p:nvPr/>
        </p:nvSpPr>
        <p:spPr>
          <a:xfrm>
            <a:off x="4524375" y="1724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218" name="Google Shape;218;p24"/>
          <p:cNvSpPr/>
          <p:nvPr/>
        </p:nvSpPr>
        <p:spPr>
          <a:xfrm>
            <a:off x="4524375" y="205740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650"/>
              <a:buFont typeface="Inter"/>
              <a:buNone/>
            </a:pPr>
            <a:r>
              <a:rPr b="1" i="0" lang="en-US" sz="16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Gradual disempowerment</a:t>
            </a:r>
            <a:endParaRPr/>
          </a:p>
        </p:txBody>
      </p:sp>
      <p:sp>
        <p:nvSpPr>
          <p:cNvPr id="219" name="Google Shape;219;p24"/>
          <p:cNvSpPr/>
          <p:nvPr/>
        </p:nvSpPr>
        <p:spPr>
          <a:xfrm>
            <a:off x="4524375" y="2533650"/>
            <a:ext cx="3152775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350"/>
              <a:buFont typeface="Inter"/>
              <a:buNone/>
            </a:pPr>
            <a:r>
              <a:rPr b="0" i="0" lang="en-US" sz="13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Many locally attractive decisions shift capability and authority away from humans over time.</a:t>
            </a:r>
            <a:endParaRPr/>
          </a:p>
        </p:txBody>
      </p:sp>
      <p:sp>
        <p:nvSpPr>
          <p:cNvPr id="220" name="Google Shape;220;p24"/>
          <p:cNvSpPr/>
          <p:nvPr/>
        </p:nvSpPr>
        <p:spPr>
          <a:xfrm>
            <a:off x="8229600" y="1571625"/>
            <a:ext cx="3571875" cy="2000250"/>
          </a:xfrm>
          <a:prstGeom prst="roundRect">
            <a:avLst>
              <a:gd fmla="val 4762" name="adj"/>
            </a:avLst>
          </a:prstGeom>
          <a:solidFill>
            <a:srgbClr val="FAF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4"/>
          <p:cNvSpPr/>
          <p:nvPr/>
        </p:nvSpPr>
        <p:spPr>
          <a:xfrm>
            <a:off x="8439150" y="1724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222" name="Google Shape;222;p24"/>
          <p:cNvSpPr/>
          <p:nvPr/>
        </p:nvSpPr>
        <p:spPr>
          <a:xfrm>
            <a:off x="8439150" y="2057400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650"/>
              <a:buFont typeface="Inter"/>
              <a:buNone/>
            </a:pPr>
            <a:r>
              <a:rPr b="1" i="0" lang="en-US" sz="16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Biological misuse</a:t>
            </a:r>
            <a:endParaRPr/>
          </a:p>
        </p:txBody>
      </p:sp>
      <p:sp>
        <p:nvSpPr>
          <p:cNvPr id="223" name="Google Shape;223;p24"/>
          <p:cNvSpPr/>
          <p:nvPr/>
        </p:nvSpPr>
        <p:spPr>
          <a:xfrm>
            <a:off x="8439150" y="2533650"/>
            <a:ext cx="3152775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350"/>
              <a:buFont typeface="Inter"/>
              <a:buNone/>
            </a:pPr>
            <a:r>
              <a:rPr b="0" i="0" lang="en-US" sz="13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AI lowers expertise, planning, or troubleshooting barriers in a pathway toward a severe biological incident.</a:t>
            </a:r>
            <a:endParaRPr/>
          </a:p>
        </p:txBody>
      </p:sp>
      <p:sp>
        <p:nvSpPr>
          <p:cNvPr id="224" name="Google Shape;224;p24"/>
          <p:cNvSpPr/>
          <p:nvPr/>
        </p:nvSpPr>
        <p:spPr>
          <a:xfrm>
            <a:off x="2362200" y="3905250"/>
            <a:ext cx="3571800" cy="1881300"/>
          </a:xfrm>
          <a:prstGeom prst="roundRect">
            <a:avLst>
              <a:gd fmla="val 5263" name="adj"/>
            </a:avLst>
          </a:prstGeom>
          <a:solidFill>
            <a:srgbClr val="FDE7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/>
          <p:nvPr/>
        </p:nvSpPr>
        <p:spPr>
          <a:xfrm>
            <a:off x="2571750" y="405765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/>
          </a:p>
        </p:txBody>
      </p:sp>
      <p:sp>
        <p:nvSpPr>
          <p:cNvPr id="226" name="Google Shape;226;p24"/>
          <p:cNvSpPr/>
          <p:nvPr/>
        </p:nvSpPr>
        <p:spPr>
          <a:xfrm>
            <a:off x="2571750" y="4391025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650"/>
              <a:buFont typeface="Inter"/>
              <a:buNone/>
            </a:pPr>
            <a:r>
              <a:rPr b="1" i="0" lang="en-US" sz="16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Infrastructure failure</a:t>
            </a:r>
            <a:endParaRPr/>
          </a:p>
        </p:txBody>
      </p:sp>
      <p:sp>
        <p:nvSpPr>
          <p:cNvPr id="227" name="Google Shape;227;p24"/>
          <p:cNvSpPr/>
          <p:nvPr/>
        </p:nvSpPr>
        <p:spPr>
          <a:xfrm>
            <a:off x="2571750" y="4867275"/>
            <a:ext cx="3152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350"/>
              <a:buFont typeface="Inter"/>
              <a:buNone/>
            </a:pPr>
            <a:r>
              <a:rPr b="0" i="0" lang="en-US" sz="13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AI-enabled attacks or brittle automation disrupt interdependent systems and overwhelm recovery capacity.</a:t>
            </a:r>
            <a:endParaRPr/>
          </a:p>
        </p:txBody>
      </p:sp>
      <p:sp>
        <p:nvSpPr>
          <p:cNvPr id="228" name="Google Shape;228;p24"/>
          <p:cNvSpPr/>
          <p:nvPr/>
        </p:nvSpPr>
        <p:spPr>
          <a:xfrm>
            <a:off x="6267450" y="3905250"/>
            <a:ext cx="3571800" cy="1881300"/>
          </a:xfrm>
          <a:prstGeom prst="roundRect">
            <a:avLst>
              <a:gd fmla="val 5263" name="adj"/>
            </a:avLst>
          </a:prstGeom>
          <a:solidFill>
            <a:srgbClr val="DD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4"/>
          <p:cNvSpPr/>
          <p:nvPr/>
        </p:nvSpPr>
        <p:spPr>
          <a:xfrm>
            <a:off x="6477000" y="4057650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/>
          </a:p>
        </p:txBody>
      </p:sp>
      <p:sp>
        <p:nvSpPr>
          <p:cNvPr id="230" name="Google Shape;230;p24"/>
          <p:cNvSpPr/>
          <p:nvPr/>
        </p:nvSpPr>
        <p:spPr>
          <a:xfrm>
            <a:off x="6477000" y="4391025"/>
            <a:ext cx="31527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650"/>
              <a:buFont typeface="Inter"/>
              <a:buNone/>
            </a:pPr>
            <a:r>
              <a:rPr b="1" i="0" lang="en-US" sz="16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Cross-cutting question</a:t>
            </a:r>
            <a:endParaRPr/>
          </a:p>
        </p:txBody>
      </p:sp>
      <p:sp>
        <p:nvSpPr>
          <p:cNvPr id="231" name="Google Shape;231;p24"/>
          <p:cNvSpPr/>
          <p:nvPr/>
        </p:nvSpPr>
        <p:spPr>
          <a:xfrm>
            <a:off x="6477000" y="4867275"/>
            <a:ext cx="3152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350"/>
              <a:buFont typeface="Inter"/>
              <a:buNone/>
            </a:pPr>
            <a:r>
              <a:rPr b="0" i="0" lang="en-US" sz="13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Which capability, access, or institutional dependency turns a model output into real-world impact?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5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A kill chain turns risk into interruptible steps</a:t>
            </a:r>
            <a:endParaRPr/>
          </a:p>
        </p:txBody>
      </p:sp>
      <p:sp>
        <p:nvSpPr>
          <p:cNvPr id="238" name="Google Shape;238;p25"/>
          <p:cNvSpPr/>
          <p:nvPr/>
        </p:nvSpPr>
        <p:spPr>
          <a:xfrm>
            <a:off x="400050" y="990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75"/>
              <a:buFont typeface="Inter"/>
              <a:buNone/>
            </a:pPr>
            <a:r>
              <a:t/>
            </a:r>
            <a:endParaRPr/>
          </a:p>
        </p:txBody>
      </p:sp>
      <p:sp>
        <p:nvSpPr>
          <p:cNvPr id="239" name="Google Shape;239;p25"/>
          <p:cNvSpPr/>
          <p:nvPr/>
        </p:nvSpPr>
        <p:spPr>
          <a:xfrm>
            <a:off x="400050" y="1571625"/>
            <a:ext cx="2667000" cy="3238500"/>
          </a:xfrm>
          <a:prstGeom prst="roundRect">
            <a:avLst>
              <a:gd fmla="val 3571" name="adj"/>
            </a:avLst>
          </a:prstGeom>
          <a:solidFill>
            <a:srgbClr val="DD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5"/>
          <p:cNvSpPr/>
          <p:nvPr/>
        </p:nvSpPr>
        <p:spPr>
          <a:xfrm>
            <a:off x="609600" y="1724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241" name="Google Shape;241;p25"/>
          <p:cNvSpPr/>
          <p:nvPr/>
        </p:nvSpPr>
        <p:spPr>
          <a:xfrm>
            <a:off x="609600" y="2057400"/>
            <a:ext cx="224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75"/>
              <a:buFont typeface="Inter"/>
              <a:buNone/>
            </a:pPr>
            <a:r>
              <a:rPr b="1" i="0" lang="en-US" sz="157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1. Intent + target</a:t>
            </a:r>
            <a:endParaRPr/>
          </a:p>
        </p:txBody>
      </p:sp>
      <p:sp>
        <p:nvSpPr>
          <p:cNvPr id="242" name="Google Shape;242;p25"/>
          <p:cNvSpPr/>
          <p:nvPr/>
        </p:nvSpPr>
        <p:spPr>
          <a:xfrm>
            <a:off x="609600" y="2533650"/>
            <a:ext cx="2247900" cy="21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425"/>
              <a:buFont typeface="Inter"/>
              <a:buNone/>
            </a:pPr>
            <a:r>
              <a:rPr b="0" i="0" lang="en-US" sz="142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An actor or system selects a harmful objective and a target.</a:t>
            </a:r>
            <a:endParaRPr/>
          </a:p>
        </p:txBody>
      </p:sp>
      <p:sp>
        <p:nvSpPr>
          <p:cNvPr id="243" name="Google Shape;243;p25"/>
          <p:cNvSpPr/>
          <p:nvPr/>
        </p:nvSpPr>
        <p:spPr>
          <a:xfrm>
            <a:off x="3305175" y="1571625"/>
            <a:ext cx="2667000" cy="3238500"/>
          </a:xfrm>
          <a:prstGeom prst="roundRect">
            <a:avLst>
              <a:gd fmla="val 3571" name="adj"/>
            </a:avLst>
          </a:prstGeom>
          <a:solidFill>
            <a:srgbClr val="E2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5"/>
          <p:cNvSpPr/>
          <p:nvPr/>
        </p:nvSpPr>
        <p:spPr>
          <a:xfrm>
            <a:off x="3514725" y="1724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245" name="Google Shape;245;p25"/>
          <p:cNvSpPr/>
          <p:nvPr/>
        </p:nvSpPr>
        <p:spPr>
          <a:xfrm>
            <a:off x="3514725" y="2057400"/>
            <a:ext cx="224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75"/>
              <a:buFont typeface="Inter"/>
              <a:buNone/>
            </a:pPr>
            <a:r>
              <a:rPr b="1" i="0" lang="en-US" sz="157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2. Capability + access</a:t>
            </a:r>
            <a:endParaRPr/>
          </a:p>
        </p:txBody>
      </p:sp>
      <p:sp>
        <p:nvSpPr>
          <p:cNvPr id="246" name="Google Shape;246;p25"/>
          <p:cNvSpPr/>
          <p:nvPr/>
        </p:nvSpPr>
        <p:spPr>
          <a:xfrm>
            <a:off x="3514725" y="2533650"/>
            <a:ext cx="2247900" cy="21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425"/>
              <a:buFont typeface="Inter"/>
              <a:buNone/>
            </a:pPr>
            <a:r>
              <a:rPr b="0" i="0" lang="en-US" sz="142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It obtains relevant knowledge, tools, permissions, data, or physical resources.</a:t>
            </a:r>
            <a:endParaRPr/>
          </a:p>
        </p:txBody>
      </p:sp>
      <p:sp>
        <p:nvSpPr>
          <p:cNvPr id="247" name="Google Shape;247;p25"/>
          <p:cNvSpPr/>
          <p:nvPr/>
        </p:nvSpPr>
        <p:spPr>
          <a:xfrm>
            <a:off x="6210300" y="1571625"/>
            <a:ext cx="2667000" cy="3238500"/>
          </a:xfrm>
          <a:prstGeom prst="roundRect">
            <a:avLst>
              <a:gd fmla="val 3571" name="adj"/>
            </a:avLst>
          </a:prstGeom>
          <a:solidFill>
            <a:srgbClr val="FAF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5"/>
          <p:cNvSpPr/>
          <p:nvPr/>
        </p:nvSpPr>
        <p:spPr>
          <a:xfrm>
            <a:off x="6419850" y="1724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249" name="Google Shape;249;p25"/>
          <p:cNvSpPr/>
          <p:nvPr/>
        </p:nvSpPr>
        <p:spPr>
          <a:xfrm>
            <a:off x="6419850" y="2057400"/>
            <a:ext cx="224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75"/>
              <a:buFont typeface="Inter"/>
              <a:buNone/>
            </a:pPr>
            <a:r>
              <a:rPr b="1" i="0" lang="en-US" sz="157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3. Plan + execute</a:t>
            </a:r>
            <a:endParaRPr/>
          </a:p>
        </p:txBody>
      </p:sp>
      <p:sp>
        <p:nvSpPr>
          <p:cNvPr id="250" name="Google Shape;250;p25"/>
          <p:cNvSpPr/>
          <p:nvPr/>
        </p:nvSpPr>
        <p:spPr>
          <a:xfrm>
            <a:off x="6419850" y="2533650"/>
            <a:ext cx="2247900" cy="21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425"/>
              <a:buFont typeface="Inter"/>
              <a:buNone/>
            </a:pPr>
            <a:r>
              <a:rPr b="0" i="0" lang="en-US" sz="142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It turns capability into coordinated actions while avoiding interruption.</a:t>
            </a:r>
            <a:endParaRPr/>
          </a:p>
        </p:txBody>
      </p:sp>
      <p:sp>
        <p:nvSpPr>
          <p:cNvPr id="251" name="Google Shape;251;p25"/>
          <p:cNvSpPr/>
          <p:nvPr/>
        </p:nvSpPr>
        <p:spPr>
          <a:xfrm>
            <a:off x="9115425" y="1571625"/>
            <a:ext cx="2667000" cy="3238500"/>
          </a:xfrm>
          <a:prstGeom prst="roundRect">
            <a:avLst>
              <a:gd fmla="val 3571" name="adj"/>
            </a:avLst>
          </a:prstGeom>
          <a:solidFill>
            <a:srgbClr val="FDE7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5"/>
          <p:cNvSpPr/>
          <p:nvPr/>
        </p:nvSpPr>
        <p:spPr>
          <a:xfrm>
            <a:off x="9324975" y="1724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/>
          </a:p>
        </p:txBody>
      </p:sp>
      <p:sp>
        <p:nvSpPr>
          <p:cNvPr id="253" name="Google Shape;253;p25"/>
          <p:cNvSpPr/>
          <p:nvPr/>
        </p:nvSpPr>
        <p:spPr>
          <a:xfrm>
            <a:off x="9324975" y="2057400"/>
            <a:ext cx="224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75"/>
              <a:buFont typeface="Inter"/>
              <a:buNone/>
            </a:pPr>
            <a:r>
              <a:rPr b="1" i="0" lang="en-US" sz="157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4. Scale + impact</a:t>
            </a:r>
            <a:endParaRPr/>
          </a:p>
        </p:txBody>
      </p:sp>
      <p:sp>
        <p:nvSpPr>
          <p:cNvPr id="254" name="Google Shape;254;p25"/>
          <p:cNvSpPr/>
          <p:nvPr/>
        </p:nvSpPr>
        <p:spPr>
          <a:xfrm>
            <a:off x="9324975" y="2533650"/>
            <a:ext cx="2247900" cy="21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425"/>
              <a:buFont typeface="Inter"/>
              <a:buNone/>
            </a:pPr>
            <a:r>
              <a:rPr b="0" i="0" lang="en-US" sz="1425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The action spreads, compounds, or reaches critical systems faster than response and recovery.</a:t>
            </a:r>
            <a:endParaRPr/>
          </a:p>
        </p:txBody>
      </p:sp>
      <p:sp>
        <p:nvSpPr>
          <p:cNvPr id="255" name="Google Shape;255;p25"/>
          <p:cNvSpPr/>
          <p:nvPr/>
        </p:nvSpPr>
        <p:spPr>
          <a:xfrm>
            <a:off x="1809750" y="5334000"/>
            <a:ext cx="85725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D6685"/>
              </a:buClr>
              <a:buSzPts val="1800"/>
              <a:buFont typeface="Inter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6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Example: break a biological-misuse chain</a:t>
            </a:r>
            <a:endParaRPr/>
          </a:p>
        </p:txBody>
      </p:sp>
      <p:sp>
        <p:nvSpPr>
          <p:cNvPr id="262" name="Google Shape;262;p26"/>
          <p:cNvSpPr/>
          <p:nvPr/>
        </p:nvSpPr>
        <p:spPr>
          <a:xfrm>
            <a:off x="400050" y="990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75"/>
              <a:buFont typeface="Inter"/>
              <a:buNone/>
            </a:pPr>
            <a:r>
              <a:rPr b="1" i="0" lang="en-US" sz="1275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Defensive abstraction only: focus on gates, signals, and recovery</a:t>
            </a:r>
            <a:endParaRPr/>
          </a:p>
        </p:txBody>
      </p:sp>
      <p:sp>
        <p:nvSpPr>
          <p:cNvPr id="263" name="Google Shape;263;p26"/>
          <p:cNvSpPr/>
          <p:nvPr/>
        </p:nvSpPr>
        <p:spPr>
          <a:xfrm>
            <a:off x="400050" y="1571625"/>
            <a:ext cx="5600700" cy="1762125"/>
          </a:xfrm>
          <a:prstGeom prst="roundRect">
            <a:avLst>
              <a:gd fmla="val 5405" name="adj"/>
            </a:avLst>
          </a:prstGeom>
          <a:solidFill>
            <a:srgbClr val="DD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6"/>
          <p:cNvSpPr/>
          <p:nvPr/>
        </p:nvSpPr>
        <p:spPr>
          <a:xfrm>
            <a:off x="609600" y="1781175"/>
            <a:ext cx="518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800"/>
              <a:buFont typeface="Inter"/>
              <a:buNone/>
            </a:pPr>
            <a:r>
              <a:rPr b="1" i="0" lang="en-US" sz="18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Model access</a:t>
            </a:r>
            <a:endParaRPr/>
          </a:p>
        </p:txBody>
      </p:sp>
      <p:sp>
        <p:nvSpPr>
          <p:cNvPr id="265" name="Google Shape;265;p26"/>
          <p:cNvSpPr/>
          <p:nvPr/>
        </p:nvSpPr>
        <p:spPr>
          <a:xfrm>
            <a:off x="609600" y="2276475"/>
            <a:ext cx="518160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350"/>
              <a:buFont typeface="Inter"/>
              <a:buNone/>
            </a:pPr>
            <a:r>
              <a:rPr b="0" i="0" lang="en-US" sz="13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Gate high-risk capabilities; screen suspicious inputs and outputs; preserve evidence for review.</a:t>
            </a:r>
            <a:endParaRPr/>
          </a:p>
        </p:txBody>
      </p:sp>
      <p:sp>
        <p:nvSpPr>
          <p:cNvPr id="266" name="Google Shape;266;p26"/>
          <p:cNvSpPr/>
          <p:nvPr/>
        </p:nvSpPr>
        <p:spPr>
          <a:xfrm>
            <a:off x="6191250" y="1571625"/>
            <a:ext cx="5600700" cy="1762125"/>
          </a:xfrm>
          <a:prstGeom prst="roundRect">
            <a:avLst>
              <a:gd fmla="val 5405" name="adj"/>
            </a:avLst>
          </a:prstGeom>
          <a:solidFill>
            <a:srgbClr val="E2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6"/>
          <p:cNvSpPr/>
          <p:nvPr/>
        </p:nvSpPr>
        <p:spPr>
          <a:xfrm>
            <a:off x="6400800" y="1781175"/>
            <a:ext cx="518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800"/>
              <a:buFont typeface="Inter"/>
              <a:buNone/>
            </a:pPr>
            <a:r>
              <a:rPr b="1" i="0" lang="en-US" sz="18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External resources</a:t>
            </a:r>
            <a:endParaRPr/>
          </a:p>
        </p:txBody>
      </p:sp>
      <p:sp>
        <p:nvSpPr>
          <p:cNvPr id="268" name="Google Shape;268;p26"/>
          <p:cNvSpPr/>
          <p:nvPr/>
        </p:nvSpPr>
        <p:spPr>
          <a:xfrm>
            <a:off x="6400800" y="2276475"/>
            <a:ext cx="518160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350"/>
              <a:buFont typeface="Inter"/>
              <a:buNone/>
            </a:pPr>
            <a:r>
              <a:rPr b="0" i="0" lang="en-US" sz="13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Strengthen identity, purchasing, laboratory, and access controls outside the model provider.</a:t>
            </a:r>
            <a:endParaRPr/>
          </a:p>
        </p:txBody>
      </p:sp>
      <p:sp>
        <p:nvSpPr>
          <p:cNvPr id="269" name="Google Shape;269;p26"/>
          <p:cNvSpPr/>
          <p:nvPr/>
        </p:nvSpPr>
        <p:spPr>
          <a:xfrm>
            <a:off x="400050" y="3619500"/>
            <a:ext cx="5600700" cy="1762125"/>
          </a:xfrm>
          <a:prstGeom prst="roundRect">
            <a:avLst>
              <a:gd fmla="val 5405" name="adj"/>
            </a:avLst>
          </a:prstGeom>
          <a:solidFill>
            <a:srgbClr val="FAF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6"/>
          <p:cNvSpPr/>
          <p:nvPr/>
        </p:nvSpPr>
        <p:spPr>
          <a:xfrm>
            <a:off x="609600" y="3829050"/>
            <a:ext cx="518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800"/>
              <a:buFont typeface="Inter"/>
              <a:buNone/>
            </a:pPr>
            <a:r>
              <a:rPr b="1" i="0" lang="en-US" sz="18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Detection + response</a:t>
            </a:r>
            <a:endParaRPr/>
          </a:p>
        </p:txBody>
      </p:sp>
      <p:sp>
        <p:nvSpPr>
          <p:cNvPr id="271" name="Google Shape;271;p26"/>
          <p:cNvSpPr/>
          <p:nvPr/>
        </p:nvSpPr>
        <p:spPr>
          <a:xfrm>
            <a:off x="609600" y="4324350"/>
            <a:ext cx="518160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350"/>
              <a:buFont typeface="Inter"/>
              <a:buNone/>
            </a:pPr>
            <a:r>
              <a:rPr b="0" i="0" lang="en-US" sz="13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Connect digital warning signals to qualified human review, public-health monitoring, and rapid response.</a:t>
            </a:r>
            <a:endParaRPr/>
          </a:p>
        </p:txBody>
      </p:sp>
      <p:sp>
        <p:nvSpPr>
          <p:cNvPr id="272" name="Google Shape;272;p26"/>
          <p:cNvSpPr/>
          <p:nvPr/>
        </p:nvSpPr>
        <p:spPr>
          <a:xfrm>
            <a:off x="6191250" y="3619500"/>
            <a:ext cx="5600700" cy="1762125"/>
          </a:xfrm>
          <a:prstGeom prst="roundRect">
            <a:avLst>
              <a:gd fmla="val 5405" name="adj"/>
            </a:avLst>
          </a:prstGeom>
          <a:solidFill>
            <a:srgbClr val="FDE7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6"/>
          <p:cNvSpPr/>
          <p:nvPr/>
        </p:nvSpPr>
        <p:spPr>
          <a:xfrm>
            <a:off x="6400800" y="3829050"/>
            <a:ext cx="518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800"/>
              <a:buFont typeface="Inter"/>
              <a:buNone/>
            </a:pPr>
            <a:r>
              <a:rPr b="1" i="0" lang="en-US" sz="18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Resilience</a:t>
            </a:r>
            <a:endParaRPr/>
          </a:p>
        </p:txBody>
      </p:sp>
      <p:sp>
        <p:nvSpPr>
          <p:cNvPr id="274" name="Google Shape;274;p26"/>
          <p:cNvSpPr/>
          <p:nvPr/>
        </p:nvSpPr>
        <p:spPr>
          <a:xfrm>
            <a:off x="6400800" y="4324350"/>
            <a:ext cx="5181600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350"/>
              <a:buFont typeface="Inter"/>
              <a:buNone/>
            </a:pPr>
            <a:r>
              <a:rPr b="0" i="0" lang="en-US" sz="13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Invest in surveillance, diagnostics, countermeasures, communication, and recovery before an incident.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7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Break the kill chain</a:t>
            </a:r>
            <a:endParaRPr/>
          </a:p>
        </p:txBody>
      </p:sp>
      <p:sp>
        <p:nvSpPr>
          <p:cNvPr id="281" name="Google Shape;281;p27"/>
          <p:cNvSpPr/>
          <p:nvPr/>
        </p:nvSpPr>
        <p:spPr>
          <a:xfrm>
            <a:off x="400050" y="990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75"/>
              <a:buFont typeface="Inter"/>
              <a:buNone/>
            </a:pPr>
            <a:r>
              <a:t/>
            </a:r>
            <a:endParaRPr/>
          </a:p>
        </p:txBody>
      </p:sp>
      <p:sp>
        <p:nvSpPr>
          <p:cNvPr id="282" name="Google Shape;282;p27"/>
          <p:cNvSpPr/>
          <p:nvPr/>
        </p:nvSpPr>
        <p:spPr>
          <a:xfrm>
            <a:off x="857250" y="1428750"/>
            <a:ext cx="104775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D6685"/>
              </a:buClr>
              <a:buSzPts val="1950"/>
              <a:buFont typeface="Inter"/>
              <a:buNone/>
            </a:pPr>
            <a:r>
              <a:rPr b="1" i="0" lang="en-US" sz="1950">
                <a:solidFill>
                  <a:srgbClr val="2D6685"/>
                </a:solidFill>
                <a:latin typeface="Inter"/>
                <a:ea typeface="Inter"/>
                <a:cs typeface="Inter"/>
                <a:sym typeface="Inter"/>
              </a:rPr>
              <a:t>Choose one harm pathway. Build a defensive map that still works when </a:t>
            </a:r>
            <a:r>
              <a:rPr b="1" lang="en-US" sz="1950">
                <a:solidFill>
                  <a:srgbClr val="2D6685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b="1" i="0" lang="en-US" sz="1950">
                <a:solidFill>
                  <a:srgbClr val="2D6685"/>
                </a:solidFill>
                <a:latin typeface="Inter"/>
                <a:ea typeface="Inter"/>
                <a:cs typeface="Inter"/>
                <a:sym typeface="Inter"/>
              </a:rPr>
              <a:t> layer fails.</a:t>
            </a:r>
            <a:endParaRPr/>
          </a:p>
        </p:txBody>
      </p:sp>
      <p:sp>
        <p:nvSpPr>
          <p:cNvPr id="283" name="Google Shape;283;p27"/>
          <p:cNvSpPr/>
          <p:nvPr/>
        </p:nvSpPr>
        <p:spPr>
          <a:xfrm>
            <a:off x="400050" y="2333625"/>
            <a:ext cx="2114550" cy="2428875"/>
          </a:xfrm>
          <a:prstGeom prst="roundRect">
            <a:avLst>
              <a:gd fmla="val 4505" name="adj"/>
            </a:avLst>
          </a:prstGeom>
          <a:solidFill>
            <a:srgbClr val="DD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7"/>
          <p:cNvSpPr/>
          <p:nvPr/>
        </p:nvSpPr>
        <p:spPr>
          <a:xfrm>
            <a:off x="609600" y="2486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/>
          </a:p>
        </p:txBody>
      </p:sp>
      <p:sp>
        <p:nvSpPr>
          <p:cNvPr id="285" name="Google Shape;285;p27"/>
          <p:cNvSpPr/>
          <p:nvPr/>
        </p:nvSpPr>
        <p:spPr>
          <a:xfrm>
            <a:off x="609600" y="2819400"/>
            <a:ext cx="1695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350"/>
              <a:buFont typeface="Inter"/>
              <a:buNone/>
            </a:pPr>
            <a:r>
              <a:rPr b="1" i="0" lang="en-US" sz="13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Outcome</a:t>
            </a:r>
            <a:endParaRPr/>
          </a:p>
        </p:txBody>
      </p:sp>
      <p:sp>
        <p:nvSpPr>
          <p:cNvPr id="286" name="Google Shape;286;p27"/>
          <p:cNvSpPr/>
          <p:nvPr/>
        </p:nvSpPr>
        <p:spPr>
          <a:xfrm>
            <a:off x="609600" y="3295650"/>
            <a:ext cx="1695450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200"/>
              <a:buFont typeface="Inter"/>
              <a:buNone/>
            </a:pPr>
            <a:r>
              <a:rPr b="0" i="0" lang="en-US" sz="12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What unacceptable outcome are you trying to prevent or limit?</a:t>
            </a:r>
            <a:endParaRPr/>
          </a:p>
        </p:txBody>
      </p:sp>
      <p:sp>
        <p:nvSpPr>
          <p:cNvPr id="287" name="Google Shape;287;p27"/>
          <p:cNvSpPr/>
          <p:nvPr/>
        </p:nvSpPr>
        <p:spPr>
          <a:xfrm>
            <a:off x="2714625" y="2333625"/>
            <a:ext cx="2114550" cy="2428875"/>
          </a:xfrm>
          <a:prstGeom prst="roundRect">
            <a:avLst>
              <a:gd fmla="val 4505" name="adj"/>
            </a:avLst>
          </a:prstGeom>
          <a:solidFill>
            <a:srgbClr val="E2F7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7"/>
          <p:cNvSpPr/>
          <p:nvPr/>
        </p:nvSpPr>
        <p:spPr>
          <a:xfrm>
            <a:off x="2924175" y="2486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/>
          </a:p>
        </p:txBody>
      </p:sp>
      <p:sp>
        <p:nvSpPr>
          <p:cNvPr id="289" name="Google Shape;289;p27"/>
          <p:cNvSpPr/>
          <p:nvPr/>
        </p:nvSpPr>
        <p:spPr>
          <a:xfrm>
            <a:off x="2924175" y="2819400"/>
            <a:ext cx="1695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350"/>
              <a:buFont typeface="Inter"/>
              <a:buNone/>
            </a:pPr>
            <a:r>
              <a:rPr b="1" i="0" lang="en-US" sz="13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Links</a:t>
            </a:r>
            <a:endParaRPr/>
          </a:p>
        </p:txBody>
      </p:sp>
      <p:sp>
        <p:nvSpPr>
          <p:cNvPr id="290" name="Google Shape;290;p27"/>
          <p:cNvSpPr/>
          <p:nvPr/>
        </p:nvSpPr>
        <p:spPr>
          <a:xfrm>
            <a:off x="2924175" y="3295650"/>
            <a:ext cx="1695450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200"/>
              <a:buFont typeface="Inter"/>
              <a:buNone/>
            </a:pPr>
            <a:r>
              <a:rPr b="0" i="0" lang="en-US" sz="12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Which enabling steps or dependencies must hold for the outcome to occur?</a:t>
            </a:r>
            <a:endParaRPr/>
          </a:p>
        </p:txBody>
      </p:sp>
      <p:sp>
        <p:nvSpPr>
          <p:cNvPr id="291" name="Google Shape;291;p27"/>
          <p:cNvSpPr/>
          <p:nvPr/>
        </p:nvSpPr>
        <p:spPr>
          <a:xfrm>
            <a:off x="5029200" y="2333625"/>
            <a:ext cx="2114550" cy="2428875"/>
          </a:xfrm>
          <a:prstGeom prst="roundRect">
            <a:avLst>
              <a:gd fmla="val 4505" name="adj"/>
            </a:avLst>
          </a:prstGeom>
          <a:solidFill>
            <a:srgbClr val="FAF8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7"/>
          <p:cNvSpPr/>
          <p:nvPr/>
        </p:nvSpPr>
        <p:spPr>
          <a:xfrm>
            <a:off x="5238750" y="2486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/>
          </a:p>
        </p:txBody>
      </p:sp>
      <p:sp>
        <p:nvSpPr>
          <p:cNvPr id="293" name="Google Shape;293;p27"/>
          <p:cNvSpPr/>
          <p:nvPr/>
        </p:nvSpPr>
        <p:spPr>
          <a:xfrm>
            <a:off x="5238750" y="2819400"/>
            <a:ext cx="1695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350"/>
              <a:buFont typeface="Inter"/>
              <a:buNone/>
            </a:pPr>
            <a:r>
              <a:rPr b="1" i="0" lang="en-US" sz="13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Controls</a:t>
            </a:r>
            <a:endParaRPr/>
          </a:p>
        </p:txBody>
      </p:sp>
      <p:sp>
        <p:nvSpPr>
          <p:cNvPr id="294" name="Google Shape;294;p27"/>
          <p:cNvSpPr/>
          <p:nvPr/>
        </p:nvSpPr>
        <p:spPr>
          <a:xfrm>
            <a:off x="5238750" y="3295650"/>
            <a:ext cx="1695450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200"/>
              <a:buFont typeface="Inter"/>
              <a:buNone/>
            </a:pPr>
            <a:r>
              <a:rPr b="0" i="0" lang="en-US" sz="12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Where can you prevent, detect, defer, contain, or recover?</a:t>
            </a:r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7343775" y="2333625"/>
            <a:ext cx="2114550" cy="2428875"/>
          </a:xfrm>
          <a:prstGeom prst="roundRect">
            <a:avLst>
              <a:gd fmla="val 4505" name="adj"/>
            </a:avLst>
          </a:prstGeom>
          <a:solidFill>
            <a:srgbClr val="FDE7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7"/>
          <p:cNvSpPr/>
          <p:nvPr/>
        </p:nvSpPr>
        <p:spPr>
          <a:xfrm>
            <a:off x="7553325" y="2486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/>
          </a:p>
        </p:txBody>
      </p:sp>
      <p:sp>
        <p:nvSpPr>
          <p:cNvPr id="297" name="Google Shape;297;p27"/>
          <p:cNvSpPr/>
          <p:nvPr/>
        </p:nvSpPr>
        <p:spPr>
          <a:xfrm>
            <a:off x="7553325" y="2819400"/>
            <a:ext cx="1695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350"/>
              <a:buFont typeface="Inter"/>
              <a:buNone/>
            </a:pPr>
            <a:r>
              <a:rPr b="1" i="0" lang="en-US" sz="13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Signals</a:t>
            </a:r>
            <a:endParaRPr/>
          </a:p>
        </p:txBody>
      </p:sp>
      <p:sp>
        <p:nvSpPr>
          <p:cNvPr id="298" name="Google Shape;298;p27"/>
          <p:cNvSpPr/>
          <p:nvPr/>
        </p:nvSpPr>
        <p:spPr>
          <a:xfrm>
            <a:off x="7553325" y="3295650"/>
            <a:ext cx="1695450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200"/>
              <a:buFont typeface="Inter"/>
              <a:buNone/>
            </a:pPr>
            <a:r>
              <a:rPr b="0" i="0" lang="en-US" sz="12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What observable evidence triggers action, and who receives it?</a:t>
            </a:r>
            <a:endParaRPr/>
          </a:p>
        </p:txBody>
      </p:sp>
      <p:sp>
        <p:nvSpPr>
          <p:cNvPr id="299" name="Google Shape;299;p27"/>
          <p:cNvSpPr/>
          <p:nvPr/>
        </p:nvSpPr>
        <p:spPr>
          <a:xfrm>
            <a:off x="9658350" y="2333625"/>
            <a:ext cx="2114550" cy="2428875"/>
          </a:xfrm>
          <a:prstGeom prst="roundRect">
            <a:avLst>
              <a:gd fmla="val 4505" name="adj"/>
            </a:avLst>
          </a:prstGeom>
          <a:solidFill>
            <a:srgbClr val="DDF3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7"/>
          <p:cNvSpPr/>
          <p:nvPr/>
        </p:nvSpPr>
        <p:spPr>
          <a:xfrm>
            <a:off x="9867900" y="2486025"/>
            <a:ext cx="428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00"/>
              <a:buFont typeface="Inter"/>
              <a:buNone/>
            </a:pPr>
            <a:r>
              <a:rPr b="1" i="0" lang="en-US" sz="120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/>
          </a:p>
        </p:txBody>
      </p:sp>
      <p:sp>
        <p:nvSpPr>
          <p:cNvPr id="301" name="Google Shape;301;p27"/>
          <p:cNvSpPr/>
          <p:nvPr/>
        </p:nvSpPr>
        <p:spPr>
          <a:xfrm>
            <a:off x="9867900" y="2819400"/>
            <a:ext cx="1695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350"/>
              <a:buFont typeface="Inter"/>
              <a:buNone/>
            </a:pPr>
            <a:r>
              <a:rPr b="1" i="0" lang="en-US" sz="135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Failure test</a:t>
            </a:r>
            <a:endParaRPr/>
          </a:p>
        </p:txBody>
      </p:sp>
      <p:sp>
        <p:nvSpPr>
          <p:cNvPr id="302" name="Google Shape;302;p27"/>
          <p:cNvSpPr/>
          <p:nvPr/>
        </p:nvSpPr>
        <p:spPr>
          <a:xfrm>
            <a:off x="9867900" y="3295650"/>
            <a:ext cx="1695450" cy="1304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200"/>
              <a:buFont typeface="Inter"/>
              <a:buNone/>
            </a:pPr>
            <a:r>
              <a:rPr b="0" i="0" lang="en-US" sz="12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Assume your strongest layer fails. Which independent defence still changes the outcome?</a:t>
            </a:r>
            <a:endParaRPr/>
          </a:p>
        </p:txBody>
      </p:sp>
      <p:sp>
        <p:nvSpPr>
          <p:cNvPr id="303" name="Google Shape;303;p27"/>
          <p:cNvSpPr/>
          <p:nvPr/>
        </p:nvSpPr>
        <p:spPr>
          <a:xfrm>
            <a:off x="1619250" y="5286375"/>
            <a:ext cx="89535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644"/>
              <a:buFont typeface="Inter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8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Workshop agenda</a:t>
            </a:r>
            <a:endParaRPr/>
          </a:p>
        </p:txBody>
      </p:sp>
      <p:graphicFrame>
        <p:nvGraphicFramePr>
          <p:cNvPr id="310" name="Google Shape;310;p28"/>
          <p:cNvGraphicFramePr/>
          <p:nvPr/>
        </p:nvGraphicFramePr>
        <p:xfrm>
          <a:off x="723900" y="152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{1B106FDA-5884-42A6-AF65-1E25734686D2}</a:tableStyleId>
              </a:tblPr>
              <a:tblGrid>
                <a:gridCol w="1066800"/>
                <a:gridCol w="96488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Check-in and open questions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02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 control peer teaching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03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Defence-in-depth stress test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04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Break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05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Break the kill chain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en-US" sz="135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06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CEF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lang="en-US" sz="1500" u="none" cap="none">
                          <a:solidFill>
                            <a:srgbClr val="171A1D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Synthesis and reflection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DCEFD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9"/>
          <p:cNvSpPr txBox="1"/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</a:pPr>
            <a:r>
              <a:rPr b="0" i="0" lang="en-US" sz="2400" u="none" cap="none" strike="noStrike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Position debate</a:t>
            </a:r>
            <a:endParaRPr/>
          </a:p>
        </p:txBody>
      </p:sp>
      <p:sp>
        <p:nvSpPr>
          <p:cNvPr id="317" name="Google Shape;317;p29"/>
          <p:cNvSpPr/>
          <p:nvPr/>
        </p:nvSpPr>
        <p:spPr>
          <a:xfrm>
            <a:off x="400050" y="9906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EADE0"/>
              </a:buClr>
              <a:buSzPts val="1275"/>
              <a:buFont typeface="Inter"/>
              <a:buNone/>
            </a:pPr>
            <a:r>
              <a:t/>
            </a:r>
            <a:endParaRPr/>
          </a:p>
        </p:txBody>
      </p:sp>
      <p:sp>
        <p:nvSpPr>
          <p:cNvPr id="318" name="Google Shape;318;p29"/>
          <p:cNvSpPr/>
          <p:nvPr/>
        </p:nvSpPr>
        <p:spPr>
          <a:xfrm>
            <a:off x="1238250" y="1571625"/>
            <a:ext cx="971550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D6685"/>
              </a:buClr>
              <a:buSzPts val="2775"/>
              <a:buFont typeface="Inter"/>
              <a:buNone/>
            </a:pPr>
            <a:r>
              <a:rPr b="1" i="0" lang="en-US" sz="2775">
                <a:solidFill>
                  <a:srgbClr val="2D6685"/>
                </a:solidFill>
                <a:latin typeface="Inter"/>
                <a:ea typeface="Inter"/>
                <a:cs typeface="Inter"/>
                <a:sym typeface="Inter"/>
              </a:rPr>
              <a:t>A sufficiently strong control protocol can make it acceptable to deploy a model that may be intentionally subversive.</a:t>
            </a:r>
            <a:endParaRPr/>
          </a:p>
        </p:txBody>
      </p:sp>
      <p:sp>
        <p:nvSpPr>
          <p:cNvPr id="319" name="Google Shape;319;p29"/>
          <p:cNvSpPr/>
          <p:nvPr/>
        </p:nvSpPr>
        <p:spPr>
          <a:xfrm>
            <a:off x="1619250" y="3810000"/>
            <a:ext cx="8953500" cy="47625"/>
          </a:xfrm>
          <a:prstGeom prst="rect">
            <a:avLst/>
          </a:prstGeom>
          <a:solidFill>
            <a:srgbClr val="C7D0D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9"/>
          <p:cNvSpPr/>
          <p:nvPr/>
        </p:nvSpPr>
        <p:spPr>
          <a:xfrm>
            <a:off x="1476375" y="3648075"/>
            <a:ext cx="361950" cy="361950"/>
          </a:xfrm>
          <a:prstGeom prst="ellipse">
            <a:avLst/>
          </a:prstGeom>
          <a:solidFill>
            <a:srgbClr val="FDE7DE"/>
          </a:solidFill>
          <a:ln cap="flat" cmpd="sng" w="9525">
            <a:solidFill>
              <a:srgbClr val="C7D0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9"/>
          <p:cNvSpPr/>
          <p:nvPr/>
        </p:nvSpPr>
        <p:spPr>
          <a:xfrm>
            <a:off x="10353675" y="3648075"/>
            <a:ext cx="361950" cy="361950"/>
          </a:xfrm>
          <a:prstGeom prst="ellipse">
            <a:avLst/>
          </a:prstGeom>
          <a:solidFill>
            <a:srgbClr val="E2F7EA"/>
          </a:solidFill>
          <a:ln cap="flat" cmpd="sng" w="9525">
            <a:solidFill>
              <a:srgbClr val="C7D0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9"/>
          <p:cNvSpPr/>
          <p:nvPr/>
        </p:nvSpPr>
        <p:spPr>
          <a:xfrm>
            <a:off x="1095375" y="4143375"/>
            <a:ext cx="2000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0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Strongly disagree</a:t>
            </a:r>
            <a:endParaRPr/>
          </a:p>
        </p:txBody>
      </p:sp>
      <p:sp>
        <p:nvSpPr>
          <p:cNvPr id="323" name="Google Shape;323;p29"/>
          <p:cNvSpPr/>
          <p:nvPr/>
        </p:nvSpPr>
        <p:spPr>
          <a:xfrm>
            <a:off x="9096375" y="4143375"/>
            <a:ext cx="2000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1A1D"/>
              </a:buClr>
              <a:buSzPts val="1500"/>
              <a:buFont typeface="Inter"/>
              <a:buNone/>
            </a:pPr>
            <a:r>
              <a:rPr b="0" i="0" lang="en-US" sz="15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Strongly agree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0"/>
          <p:cNvSpPr txBox="1"/>
          <p:nvPr>
            <p:ph type="ctrTitle"/>
          </p:nvPr>
        </p:nvSpPr>
        <p:spPr>
          <a:xfrm>
            <a:off x="647700" y="400050"/>
            <a:ext cx="6191100" cy="3314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C5D7A"/>
              </a:buClr>
              <a:buSzPts val="7200"/>
              <a:buFont typeface="Inter SemiBold"/>
              <a:buNone/>
            </a:pPr>
            <a:r>
              <a:rPr b="1" lang="en-US" sz="4950">
                <a:solidFill>
                  <a:srgbClr val="2D6685"/>
                </a:solidFill>
                <a:latin typeface="Inter"/>
                <a:ea typeface="Inter"/>
                <a:cs typeface="Inter"/>
                <a:sym typeface="Inter"/>
              </a:rPr>
              <a:t>Next </a:t>
            </a:r>
            <a:r>
              <a:rPr lang="en-US" sz="4950">
                <a:solidFill>
                  <a:srgbClr val="2D6685"/>
                </a:solidFill>
                <a:latin typeface="Inter"/>
                <a:ea typeface="Inter"/>
                <a:cs typeface="Inter"/>
                <a:sym typeface="Inter"/>
              </a:rPr>
              <a:t>session</a:t>
            </a:r>
            <a:endParaRPr sz="4950">
              <a:solidFill>
                <a:srgbClr val="2D668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C5D7A"/>
              </a:buClr>
              <a:buSzPts val="7200"/>
              <a:buFont typeface="Inter SemiBold"/>
              <a:buNone/>
            </a:pPr>
            <a:r>
              <a:t/>
            </a:r>
            <a:endParaRPr sz="4950">
              <a:solidFill>
                <a:srgbClr val="2D668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C5D7A"/>
              </a:buClr>
              <a:buSzPts val="7200"/>
              <a:buFont typeface="Inter SemiBold"/>
              <a:buNone/>
            </a:pPr>
            <a:r>
              <a:rPr lang="en-US" sz="4950">
                <a:solidFill>
                  <a:srgbClr val="4EADE0"/>
                </a:solidFill>
                <a:latin typeface="Inter"/>
                <a:ea typeface="Inter"/>
                <a:cs typeface="Inter"/>
                <a:sym typeface="Inter"/>
              </a:rPr>
              <a:t>Final Project!</a:t>
            </a:r>
            <a:endParaRPr>
              <a:solidFill>
                <a:srgbClr val="4EADE0"/>
              </a:solidFill>
            </a:endParaRPr>
          </a:p>
        </p:txBody>
      </p:sp>
      <p:pic>
        <p:nvPicPr>
          <p:cNvPr id="330" name="Google Shape;330;p30"/>
          <p:cNvPicPr preferRelativeResize="0"/>
          <p:nvPr/>
        </p:nvPicPr>
        <p:blipFill rotWithShape="1">
          <a:blip r:embed="rId3">
            <a:alphaModFix/>
          </a:blip>
          <a:srcRect b="61469" l="0" r="0" t="25645"/>
          <a:stretch/>
        </p:blipFill>
        <p:spPr>
          <a:xfrm>
            <a:off x="0" y="4763386"/>
            <a:ext cx="12192000" cy="2094614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0"/>
          <p:cNvSpPr/>
          <p:nvPr/>
        </p:nvSpPr>
        <p:spPr>
          <a:xfrm>
            <a:off x="7239000" y="1381125"/>
            <a:ext cx="4333875" cy="2333625"/>
          </a:xfrm>
          <a:prstGeom prst="roundRect">
            <a:avLst>
              <a:gd fmla="val 4898" name="adj"/>
            </a:avLst>
          </a:prstGeom>
          <a:solidFill>
            <a:srgbClr val="E2F7EA"/>
          </a:solidFill>
          <a:ln>
            <a:noFill/>
          </a:ln>
        </p:spPr>
        <p:txBody>
          <a:bodyPr anchorCtr="0" anchor="ctr" bIns="171450" lIns="190500" spcFirstLastPara="1" rIns="190500" wrap="square" tIns="171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If you haven’t already..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  <a:t>Complete the short course survey</a:t>
            </a:r>
            <a:br>
              <a:rPr lang="en-US" sz="18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lang="en-US" sz="1800">
                <a:solidFill>
                  <a:srgbClr val="171A1D"/>
                </a:solidFill>
                <a:latin typeface="Inter"/>
                <a:ea typeface="Inter"/>
                <a:cs typeface="Inter"/>
                <a:sym typeface="Inter"/>
              </a:rPr>
            </a:b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sng">
                <a:solidFill>
                  <a:srgbClr val="2D6685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forms.gle/3FYXpK8ALPAknRgU6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