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Inter SemiBold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Inter Medium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08B3CF-6268-4A0F-9951-6191E65455F6}">
  <a:tblStyle styleId="{A108B3CF-6268-4A0F-9951-6191E65455F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4C2E8ED-9CDF-49ED-B463-67993487A93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regular.fntdata"/><Relationship Id="rId20" Type="http://schemas.openxmlformats.org/officeDocument/2006/relationships/slide" Target="slides/slide15.xml"/><Relationship Id="rId42" Type="http://schemas.openxmlformats.org/officeDocument/2006/relationships/font" Target="fonts/InterMedium-italic.fntdata"/><Relationship Id="rId41" Type="http://schemas.openxmlformats.org/officeDocument/2006/relationships/font" Target="fonts/InterMedium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InterMedium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SemiBold-bold.fntdata"/><Relationship Id="rId10" Type="http://schemas.openxmlformats.org/officeDocument/2006/relationships/slide" Target="slides/slide5.xml"/><Relationship Id="rId32" Type="http://schemas.openxmlformats.org/officeDocument/2006/relationships/font" Target="fonts/Inter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Inter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Inter-bold.fntdata"/><Relationship Id="rId14" Type="http://schemas.openxmlformats.org/officeDocument/2006/relationships/slide" Target="slides/slide9.xml"/><Relationship Id="rId36" Type="http://schemas.openxmlformats.org/officeDocument/2006/relationships/font" Target="fonts/Inter-regular.fntdata"/><Relationship Id="rId17" Type="http://schemas.openxmlformats.org/officeDocument/2006/relationships/slide" Target="slides/slide12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this slide as evidence that interpretability is most useful inside a broader audit, with baselines and alternative explanations.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study deliberately trained a model with a hidden reward-model-sycophancy objective. Three of four blind auditing teams found it using combinations of behavioural attacks, training-data analysis, and sparse-autoencoder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 key limitation: the deliberately constructed setup may be easier or otherwise different from real-world hidden objectives.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 https://www.anthropic.com/research/auditing-hidden-objectives and https://arxiv.org/abs/2503.10965</a:t>
            </a:r>
            <a:endParaRPr/>
          </a:p>
        </p:txBody>
      </p:sp>
      <p:sp>
        <p:nvSpPr>
          <p:cNvPr id="298" name="Google Shape;29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7b176f8206e77252_0_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h7b176f8206e77252_0_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h7b176f8206e77252_0_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7b176f8206e77252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h7b176f8206e77252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h7b176f8206e77252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7b176f8206e77252_0_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h7b176f8206e77252_0_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h7b176f8206e77252_0_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5" name="Google Shape;425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93700" y="1041400"/>
            <a:ext cx="7493000" cy="24914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Inter SemiBold"/>
              <a:buNone/>
              <a:defRPr b="1" i="0" sz="6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93700" y="4356100"/>
            <a:ext cx="55372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body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1279332" y="6279952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3334966" y="4826000"/>
            <a:ext cx="259593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9205679" y="4826000"/>
            <a:ext cx="259593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 Only">
  <p:cSld name="Footer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 Field Grid">
  <p:cSld name="36 Field Gri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 Field Grid">
  <p:cSld name="48 Field Gri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nter Medium"/>
              <a:buNone/>
              <a:defRPr b="0" i="0" sz="29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6" orient="horz" pos="248">
          <p15:clr>
            <a:srgbClr val="F26B43"/>
          </p15:clr>
        </p15:guide>
        <p15:guide id="17" orient="horz" pos="656">
          <p15:clr>
            <a:srgbClr val="F26B43"/>
          </p15:clr>
        </p15:guide>
        <p15:guide id="18" orient="horz" pos="872">
          <p15:clr>
            <a:srgbClr val="F26B43"/>
          </p15:clr>
        </p15:guide>
        <p15:guide id="19" orient="horz" pos="1280">
          <p15:clr>
            <a:srgbClr val="F26B43"/>
          </p15:clr>
        </p15:guide>
        <p15:guide id="20" orient="horz" pos="1496">
          <p15:clr>
            <a:srgbClr val="F26B43"/>
          </p15:clr>
        </p15:guide>
        <p15:guide id="21" orient="horz" pos="1904">
          <p15:clr>
            <a:srgbClr val="F26B43"/>
          </p15:clr>
        </p15:guide>
        <p15:guide id="22" orient="horz" pos="2120">
          <p15:clr>
            <a:srgbClr val="F26B43"/>
          </p15:clr>
        </p15:guide>
        <p15:guide id="23" orient="horz" pos="2528">
          <p15:clr>
            <a:srgbClr val="F26B43"/>
          </p15:clr>
        </p15:guide>
        <p15:guide id="24" orient="horz" pos="2744">
          <p15:clr>
            <a:srgbClr val="F26B43"/>
          </p15:clr>
        </p15:guide>
        <p15:guide id="25" orient="horz" pos="3152">
          <p15:clr>
            <a:srgbClr val="F26B43"/>
          </p15:clr>
        </p15:guide>
        <p15:guide id="26" orient="horz" pos="3368">
          <p15:clr>
            <a:srgbClr val="F26B43"/>
          </p15:clr>
        </p15:guide>
        <p15:guide id="27" orient="horz" pos="3776">
          <p15:clr>
            <a:srgbClr val="F26B43"/>
          </p15:clr>
        </p15:guide>
        <p15:guide id="28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forms.gle/3FYXpK8ALPAknRgU6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ctrTitle"/>
          </p:nvPr>
        </p:nvSpPr>
        <p:spPr>
          <a:xfrm>
            <a:off x="597174" y="621150"/>
            <a:ext cx="9129000" cy="24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rPr lang="en-US" sz="7200">
                <a:solidFill>
                  <a:srgbClr val="2C5D7A"/>
                </a:solidFill>
              </a:rPr>
              <a:t>Technical AI Safety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rPr lang="en-US" sz="7200">
                <a:solidFill>
                  <a:srgbClr val="2C5D7A"/>
                </a:solidFill>
              </a:rPr>
              <a:t>Week 4</a:t>
            </a:r>
            <a:endParaRPr/>
          </a:p>
        </p:txBody>
      </p:sp>
      <p:sp>
        <p:nvSpPr>
          <p:cNvPr id="59" name="Google Shape;59;p12"/>
          <p:cNvSpPr txBox="1"/>
          <p:nvPr>
            <p:ph idx="1" type="subTitle"/>
          </p:nvPr>
        </p:nvSpPr>
        <p:spPr>
          <a:xfrm>
            <a:off x="642669" y="3564938"/>
            <a:ext cx="3758374" cy="61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SAIN Amsterdam, Science Park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Monday 28/09/2026, 17:00–19:00</a:t>
            </a:r>
            <a:endParaRPr/>
          </a:p>
        </p:txBody>
      </p:sp>
      <p:pic>
        <p:nvPicPr>
          <p:cNvPr id="60" name="Google Shape;60;p12"/>
          <p:cNvPicPr preferRelativeResize="0"/>
          <p:nvPr/>
        </p:nvPicPr>
        <p:blipFill rotWithShape="1">
          <a:blip r:embed="rId3">
            <a:alphaModFix/>
          </a:blip>
          <a:srcRect b="61469" l="0" r="0" t="25645"/>
          <a:stretch/>
        </p:blipFill>
        <p:spPr>
          <a:xfrm>
            <a:off x="0" y="4763386"/>
            <a:ext cx="12190542" cy="2094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4294967295" type="title"/>
          </p:nvPr>
        </p:nvSpPr>
        <p:spPr>
          <a:xfrm>
            <a:off x="393700" y="883398"/>
            <a:ext cx="7836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nter Medium"/>
              <a:buNone/>
            </a:pPr>
            <a:r>
              <a:rPr b="0" i="0" lang="en-US" sz="3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Workshop agenda</a:t>
            </a:r>
            <a:endParaRPr sz="3000"/>
          </a:p>
        </p:txBody>
      </p:sp>
      <p:graphicFrame>
        <p:nvGraphicFramePr>
          <p:cNvPr id="67" name="Google Shape;67;p13"/>
          <p:cNvGraphicFramePr/>
          <p:nvPr/>
        </p:nvGraphicFramePr>
        <p:xfrm>
          <a:off x="851638" y="209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{A108B3CF-6268-4A0F-9951-6191E65455F6}</a:tableStyleId>
              </a:tblPr>
              <a:tblGrid>
                <a:gridCol w="1233975"/>
                <a:gridCol w="92547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Interpretability peer teaching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From correlation to causality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900"/>
                        <a:buFont typeface="Inter Medium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Alignment audit lab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 sz="30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Check-in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17:04–17:07, one sentence each</a:t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742950" y="1952625"/>
            <a:ext cx="1066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2678"/>
              <a:buFont typeface="Inter"/>
              <a:buNone/>
            </a:pPr>
            <a:r>
              <a:rPr b="0" i="0" lang="en-US" sz="2679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Where are you most excited—or most sceptical—about interpretability?</a:t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1905000" y="3143250"/>
            <a:ext cx="8382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A60"/>
              </a:buClr>
              <a:buSzPts val="1800"/>
              <a:buFont typeface="Inter"/>
              <a:buNone/>
            </a:pPr>
            <a:r>
              <a:rPr b="0" i="0" lang="en-US" sz="1800">
                <a:solidFill>
                  <a:srgbClr val="4F5A60"/>
                </a:solidFill>
                <a:latin typeface="Inter"/>
                <a:ea typeface="Inter"/>
                <a:cs typeface="Inter"/>
                <a:sym typeface="Inter"/>
              </a:rPr>
              <a:t>Name one claim, example, or limitation from this week’s material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From behaviour to mechanisms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400050" y="1619250"/>
            <a:ext cx="3524250" cy="2428875"/>
          </a:xfrm>
          <a:prstGeom prst="roundRect">
            <a:avLst>
              <a:gd fmla="val 3922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09600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09600" y="2105025"/>
            <a:ext cx="3105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Intervene</a:t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09600" y="2581275"/>
            <a:ext cx="31051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Week 2 asked how training and oversight might change a model’s behaviour.</a:t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4333875" y="1619250"/>
            <a:ext cx="3524250" cy="2428875"/>
          </a:xfrm>
          <a:prstGeom prst="roundRect">
            <a:avLst>
              <a:gd fmla="val 3922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543425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4543425" y="2105025"/>
            <a:ext cx="3105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Observe</a:t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543425" y="2581275"/>
            <a:ext cx="31051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Week 3 asked what evaluations reveal about capabilities, propensities, and safeguards.</a:t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8267700" y="1619250"/>
            <a:ext cx="3524250" cy="2428875"/>
          </a:xfrm>
          <a:prstGeom prst="roundRect">
            <a:avLst>
              <a:gd fmla="val 3922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8477250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8477250" y="2105025"/>
            <a:ext cx="3105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8477250" y="2581275"/>
            <a:ext cx="31051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Week 4 asks what internal representations and computations produced the behaviour.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1047750" y="4810125"/>
            <a:ext cx="10096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2380"/>
              <a:buFont typeface="Inter"/>
              <a:buNone/>
            </a:pPr>
            <a:r>
              <a:rPr b="1" i="0" lang="en-US" sz="2381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When does interpretation become trustworthy evidence?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{54C2E8ED-9CDF-49ED-B463-67993487A93B}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Interpretability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From correlation to causality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Alignment audit lab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Learnings and questions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17:09–17:20, write for 3 minutes, then discuss as a group</a:t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400050" y="1762125"/>
            <a:ext cx="3571875" cy="2952750"/>
          </a:xfrm>
          <a:prstGeom prst="roundRect">
            <a:avLst>
              <a:gd fmla="val 3226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09600" y="19145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609600" y="22479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Surprise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609600" y="2724150"/>
            <a:ext cx="31527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example or result changed how you think about looking inside a model?</a:t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4314825" y="1762125"/>
            <a:ext cx="3571875" cy="2952750"/>
          </a:xfrm>
          <a:prstGeom prst="roundRect">
            <a:avLst>
              <a:gd fmla="val 3226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4524375" y="19145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4524375" y="22479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Confidence</a:t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524375" y="2724150"/>
            <a:ext cx="31527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interpretability claim felt strongest? What evidence made it persuasive?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8229600" y="1762125"/>
            <a:ext cx="3571875" cy="2952750"/>
          </a:xfrm>
          <a:prstGeom prst="roundRect">
            <a:avLst>
              <a:gd fmla="val 3226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8439150" y="19145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8439150" y="22479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Uncertainty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8439150" y="2724150"/>
            <a:ext cx="31527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question should this group resolve or sharpen today?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Three different claims about a model</a:t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400050" y="1619250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609600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609600" y="2105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2025"/>
              <a:buFont typeface="Inter"/>
              <a:buNone/>
            </a:pPr>
            <a:r>
              <a:rPr b="1" i="0" lang="en-US" sz="20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Behaviour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609600" y="2581275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does it do?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Measure outputs across tasks, contexts, and interventions.</a:t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314825" y="1619250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4524375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4524375" y="2105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2025"/>
              <a:buFont typeface="Inter"/>
              <a:buNone/>
            </a:pPr>
            <a:r>
              <a:rPr b="1" i="0" lang="en-US" sz="20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Representation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4524375" y="2581275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information is present?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Decode a property from activations or identify an interpretable feature.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8229600" y="1619250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8439150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8439150" y="2105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2025"/>
              <a:buFont typeface="Inter"/>
              <a:buNone/>
            </a:pPr>
            <a:r>
              <a:rPr b="1" i="0" lang="en-US" sz="20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Mechanism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8439150" y="2581275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How is it used?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Trace and intervene on computations that causally affect the output.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1714500" y="5238750"/>
            <a:ext cx="876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Decodable information is not</a:t>
            </a:r>
            <a:r>
              <a:rPr b="1" lang="en-US" sz="180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80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evidence that the model uses it.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147" name="Google Shape;147;p19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{54C2E8ED-9CDF-49ED-B463-67993487A93B}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Interpretability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From correlation to causality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Alignment audit lab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Interpretability peer teaching</a:t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17:20–17:38, two 8-minute rounds, then a 2-minute debrief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809625" y="1809750"/>
            <a:ext cx="4953000" cy="3095625"/>
          </a:xfrm>
          <a:prstGeom prst="roundRect">
            <a:avLst>
              <a:gd fmla="val 3077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1019175" y="19621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1019175" y="2295525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Explainer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1019175" y="2771775"/>
            <a:ext cx="453390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0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Explain one method or result from memory. Cover the question, method, evidence, and largest limitation.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5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0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Avoid notes for the first four minutes.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6429375" y="1809750"/>
            <a:ext cx="4953000" cy="3095625"/>
          </a:xfrm>
          <a:prstGeom prst="roundRect">
            <a:avLst>
              <a:gd fmla="val 3077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6638925" y="19621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6638925" y="2295525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Curious questioner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6638925" y="2771775"/>
            <a:ext cx="453390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0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Listen for the reasoning, not just the conclusion. Ask for a mechanism, counterexample, causal test, or alternative explanation.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5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714500" y="5381625"/>
            <a:ext cx="876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A60"/>
              </a:buClr>
              <a:buSzPts val="1650"/>
              <a:buFont typeface="Inter"/>
              <a:buNone/>
            </a:pPr>
            <a:r>
              <a:rPr b="0" i="0" lang="en-US" sz="1650">
                <a:solidFill>
                  <a:srgbClr val="4F5A60"/>
                </a:solidFill>
                <a:latin typeface="Inter"/>
                <a:ea typeface="Inter"/>
                <a:cs typeface="Inter"/>
                <a:sym typeface="Inter"/>
              </a:rPr>
              <a:t>Swap roles after 8 minutes. Record </a:t>
            </a:r>
            <a:r>
              <a:rPr lang="en-US" sz="1650">
                <a:solidFill>
                  <a:srgbClr val="4F5A60"/>
                </a:solidFill>
                <a:latin typeface="Inter"/>
                <a:ea typeface="Inter"/>
                <a:cs typeface="Inter"/>
                <a:sym typeface="Inter"/>
              </a:rPr>
              <a:t>what was</a:t>
            </a:r>
            <a:r>
              <a:rPr b="0" i="0" lang="en-US" sz="1650">
                <a:solidFill>
                  <a:srgbClr val="4F5A60"/>
                </a:solidFill>
                <a:latin typeface="Inter"/>
                <a:ea typeface="Inter"/>
                <a:cs typeface="Inter"/>
                <a:sym typeface="Inter"/>
              </a:rPr>
              <a:t> uncertain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Questions for the curious questioner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1095375" y="1571625"/>
            <a:ext cx="9906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228600" marR="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/>
              <a:t>What question is this interpretability method actually answering?</a:t>
            </a:r>
            <a:endParaRPr sz="2200"/>
          </a:p>
          <a:p>
            <a:pPr indent="-139700" lvl="0" marL="228600" marR="0" rtl="0" algn="l">
              <a:spcBef>
                <a:spcPts val="120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/>
              <a:t>What internal object is measured: neurons, activations, features, attention, or generated reasoning?</a:t>
            </a:r>
            <a:endParaRPr sz="2200"/>
          </a:p>
          <a:p>
            <a:pPr indent="-139700" lvl="0" marL="228600" marR="0" rtl="0" algn="l">
              <a:spcBef>
                <a:spcPts val="120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/>
              <a:t>What does the result show; and what stronger claim might be tempting but unjustified?</a:t>
            </a:r>
            <a:endParaRPr sz="2200"/>
          </a:p>
          <a:p>
            <a:pPr indent="-139700" lvl="0" marL="228600" marR="0" rtl="0" algn="l">
              <a:spcBef>
                <a:spcPts val="120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/>
              <a:t>Could the same pattern arise from a confounder or dataset artefact?</a:t>
            </a:r>
            <a:endParaRPr sz="2200"/>
          </a:p>
          <a:p>
            <a:pPr indent="-139700" lvl="0" marL="228600" marR="0" rtl="0" algn="l">
              <a:spcBef>
                <a:spcPts val="120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/>
              <a:t>What intervention would test whether the representation is causally used?</a:t>
            </a:r>
            <a:endParaRPr sz="2200"/>
          </a:p>
          <a:p>
            <a:pPr indent="-139700" lvl="0" marL="228600" marR="0" rtl="0" algn="l">
              <a:spcBef>
                <a:spcPts val="1200"/>
              </a:spcBef>
              <a:spcAft>
                <a:spcPts val="0"/>
              </a:spcAft>
              <a:buSzPts val="2200"/>
              <a:buFont typeface="Arial"/>
              <a:buAutoNum type="arabicPeriod"/>
            </a:pPr>
            <a:r>
              <a:rPr lang="en-US" sz="2200"/>
              <a:t>How would this result change a safety decision?</a:t>
            </a:r>
            <a:endParaRPr sz="2200"/>
          </a:p>
        </p:txBody>
      </p:sp>
      <p:sp>
        <p:nvSpPr>
          <p:cNvPr id="171" name="Google Shape;171;p21"/>
          <p:cNvSpPr/>
          <p:nvPr/>
        </p:nvSpPr>
        <p:spPr>
          <a:xfrm>
            <a:off x="1619250" y="5524500"/>
            <a:ext cx="8953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“This method is useful if …”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178" name="Google Shape;178;p22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{54C2E8ED-9CDF-49ED-B463-67993487A93B}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Interpretability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From correlation to causality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Alignment audit lab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makes an interpretation trustworthy?</a:t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17:38–17:48, use these as an evidence ladder—not a checklist</a:t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400050" y="157162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60960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88" name="Google Shape;188;p23"/>
          <p:cNvSpPr/>
          <p:nvPr/>
        </p:nvSpPr>
        <p:spPr>
          <a:xfrm>
            <a:off x="60960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Observe</a:t>
            </a:r>
            <a:endParaRPr/>
          </a:p>
        </p:txBody>
      </p:sp>
      <p:sp>
        <p:nvSpPr>
          <p:cNvPr id="189" name="Google Shape;189;p23"/>
          <p:cNvSpPr/>
          <p:nvPr/>
        </p:nvSpPr>
        <p:spPr>
          <a:xfrm>
            <a:off x="609600" y="253365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Find a pattern in activations, attention, or generated reasoning.</a:t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4314825" y="157162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452437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92" name="Google Shape;192;p23"/>
          <p:cNvSpPr/>
          <p:nvPr/>
        </p:nvSpPr>
        <p:spPr>
          <a:xfrm>
            <a:off x="4524375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Decode</a:t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4524375" y="253365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Show that a target property can be predicted from the internal state.</a:t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8229600" y="157162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843915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843915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Localise</a:t>
            </a: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8439150" y="253365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Identify where and when the relevant computation appears.</a:t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400050" y="357187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/>
          <p:nvPr/>
        </p:nvSpPr>
        <p:spPr>
          <a:xfrm>
            <a:off x="609600" y="372427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609600" y="405765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Intervene</a:t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609600" y="453390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Patch, ablate, or steer the state and test the predicted effect.</a:t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4314825" y="357187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4524375" y="372427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4524375" y="405765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Generalise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4524375" y="453390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Predict new behaviours, prompts, models, or failure cases.</a:t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8229600" y="357187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8439150" y="372427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8439150" y="405765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Falsify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8439150" y="453390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Compare against baselines and actively test alternative explanations.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/>
          <p:nvPr/>
        </p:nvSpPr>
        <p:spPr>
          <a:xfrm>
            <a:off x="1428750" y="5238750"/>
            <a:ext cx="9334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1875"/>
              <a:buFont typeface="Inter"/>
              <a:buNone/>
            </a:pPr>
            <a:r>
              <a:rPr b="1" i="0" lang="en-US" sz="1875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What would justify a mechanistic claim?</a:t>
            </a:r>
            <a:endParaRPr/>
          </a:p>
        </p:txBody>
      </p:sp>
      <p:sp>
        <p:nvSpPr>
          <p:cNvPr id="216" name="Google Shape;216;p2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Case study: a probe predicts hallucination risk</a:t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17:48–18:00, diagnose the evidence before accepting the label</a:t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400050" y="1571625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60960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60960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Result</a:t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609600" y="2533650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 simple classifier trained on hidden activations predicts whether generated entities are hallucinated.</a:t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4314825" y="1571625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452437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4524375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Alternative explanation</a:t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4524375" y="2533650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The probe may decode answer difficulty, topic, style, or another correlate rather than a distinct hallucination mechanism.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8229600" y="1571625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843915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843915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Stronger test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8439150" y="2533650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Check cross-domain transfer, hard baselines, temporal prediction, and whether interventions change the expected behaviour.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236" name="Google Shape;236;p25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{54C2E8ED-9CDF-49ED-B463-67993487A93B}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Interpretability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From correlation to causality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D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D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Alignment audit lab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243" name="Google Shape;243;p26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{54C2E8ED-9CDF-49ED-B463-67993487A93B}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Interpretability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From correlation to causality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Alignment audit lab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Five tools for looking inside</a:t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18:05–18:10, shared language for the alignment audit lab</a:t>
            </a:r>
            <a:endParaRPr/>
          </a:p>
        </p:txBody>
      </p:sp>
      <p:sp>
        <p:nvSpPr>
          <p:cNvPr id="251" name="Google Shape;251;p27"/>
          <p:cNvSpPr/>
          <p:nvPr/>
        </p:nvSpPr>
        <p:spPr>
          <a:xfrm>
            <a:off x="400050" y="1571625"/>
            <a:ext cx="3571875" cy="2000250"/>
          </a:xfrm>
          <a:prstGeom prst="roundRect">
            <a:avLst>
              <a:gd fmla="val 4762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"/>
          <p:cNvSpPr/>
          <p:nvPr/>
        </p:nvSpPr>
        <p:spPr>
          <a:xfrm>
            <a:off x="60960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>
            <a:off x="60960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Probes</a:t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609600" y="2533650"/>
            <a:ext cx="31527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Train a simple model to decode information from internal activations.</a:t>
            </a: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4314825" y="1571625"/>
            <a:ext cx="3571875" cy="2000250"/>
          </a:xfrm>
          <a:prstGeom prst="roundRect">
            <a:avLst>
              <a:gd fmla="val 4762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7"/>
          <p:cNvSpPr/>
          <p:nvPr/>
        </p:nvSpPr>
        <p:spPr>
          <a:xfrm>
            <a:off x="452437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4524375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Patching</a:t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4524375" y="2533650"/>
            <a:ext cx="31527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Swap or edit activations to test causal influence on an output.</a:t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8229600" y="1571625"/>
            <a:ext cx="3571875" cy="2000250"/>
          </a:xfrm>
          <a:prstGeom prst="roundRect">
            <a:avLst>
              <a:gd fmla="val 4762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843915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843915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SAE features</a:t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8439150" y="2533650"/>
            <a:ext cx="31527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Decompose activations into sparse candidate features that may be easier to interpret.</a:t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>
            <a:off x="2362200" y="3905250"/>
            <a:ext cx="3571875" cy="1809750"/>
          </a:xfrm>
          <a:prstGeom prst="roundRect">
            <a:avLst>
              <a:gd fmla="val 5263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2571750" y="4057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65" name="Google Shape;265;p27"/>
          <p:cNvSpPr/>
          <p:nvPr/>
        </p:nvSpPr>
        <p:spPr>
          <a:xfrm>
            <a:off x="2571750" y="4391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Circuits</a:t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2571750" y="4867275"/>
            <a:ext cx="3152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Trace interacting components that implement a computation across layers and positions.</a:t>
            </a:r>
            <a:endParaRPr/>
          </a:p>
        </p:txBody>
      </p:sp>
      <p:sp>
        <p:nvSpPr>
          <p:cNvPr id="267" name="Google Shape;267;p27"/>
          <p:cNvSpPr/>
          <p:nvPr/>
        </p:nvSpPr>
        <p:spPr>
          <a:xfrm>
            <a:off x="6267450" y="3905250"/>
            <a:ext cx="3571875" cy="1809750"/>
          </a:xfrm>
          <a:prstGeom prst="roundRect">
            <a:avLst>
              <a:gd fmla="val 5263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6477000" y="4057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269" name="Google Shape;269;p27"/>
          <p:cNvSpPr/>
          <p:nvPr/>
        </p:nvSpPr>
        <p:spPr>
          <a:xfrm>
            <a:off x="6477000" y="4391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CoT monitoring</a:t>
            </a:r>
            <a:endParaRPr/>
          </a:p>
        </p:txBody>
      </p:sp>
      <p:sp>
        <p:nvSpPr>
          <p:cNvPr id="270" name="Google Shape;270;p27"/>
          <p:cNvSpPr/>
          <p:nvPr/>
        </p:nvSpPr>
        <p:spPr>
          <a:xfrm>
            <a:off x="6477000" y="4867275"/>
            <a:ext cx="3152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Inspect generated reasoning for evidence of intent, plans, or unsafe strategies.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Interpretability resource jigsaw</a:t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18:10–18:28, prepare in resource pairs, then teach across pairs</a:t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400050" y="1571625"/>
            <a:ext cx="2667000" cy="3238500"/>
          </a:xfrm>
          <a:prstGeom prst="roundRect">
            <a:avLst>
              <a:gd fmla="val 3571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60960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609600" y="20574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1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CoT monitorability</a:t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609600" y="2533650"/>
            <a:ext cx="22479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safety opportunity does visible reasoning create—and why might it be fragile?</a:t>
            </a:r>
            <a:endParaRPr/>
          </a:p>
        </p:txBody>
      </p:sp>
      <p:sp>
        <p:nvSpPr>
          <p:cNvPr id="282" name="Google Shape;282;p28"/>
          <p:cNvSpPr/>
          <p:nvPr/>
        </p:nvSpPr>
        <p:spPr>
          <a:xfrm>
            <a:off x="3305175" y="1571625"/>
            <a:ext cx="2667000" cy="3238500"/>
          </a:xfrm>
          <a:prstGeom prst="roundRect">
            <a:avLst>
              <a:gd fmla="val 3571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351472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84" name="Google Shape;284;p28"/>
          <p:cNvSpPr/>
          <p:nvPr/>
        </p:nvSpPr>
        <p:spPr>
          <a:xfrm>
            <a:off x="3514725" y="20574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1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Model organisms</a:t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3514725" y="2533650"/>
            <a:ext cx="22479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can deliberately misaligned models teach us, and what does not generalise?</a:t>
            </a:r>
            <a:endParaRPr/>
          </a:p>
        </p:txBody>
      </p:sp>
      <p:sp>
        <p:nvSpPr>
          <p:cNvPr id="286" name="Google Shape;286;p28"/>
          <p:cNvSpPr/>
          <p:nvPr/>
        </p:nvSpPr>
        <p:spPr>
          <a:xfrm>
            <a:off x="6210300" y="1571625"/>
            <a:ext cx="2667000" cy="3238500"/>
          </a:xfrm>
          <a:prstGeom prst="roundRect">
            <a:avLst>
              <a:gd fmla="val 3571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8"/>
          <p:cNvSpPr/>
          <p:nvPr/>
        </p:nvSpPr>
        <p:spPr>
          <a:xfrm>
            <a:off x="641985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6419850" y="20574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1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Hallucination probes</a:t>
            </a:r>
            <a:endParaRPr/>
          </a:p>
        </p:txBody>
      </p:sp>
      <p:sp>
        <p:nvSpPr>
          <p:cNvPr id="289" name="Google Shape;289;p28"/>
          <p:cNvSpPr/>
          <p:nvPr/>
        </p:nvSpPr>
        <p:spPr>
          <a:xfrm>
            <a:off x="6419850" y="2533650"/>
            <a:ext cx="22479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can a classifier decode from activations, and what causal claim remains open?</a:t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9115425" y="1571625"/>
            <a:ext cx="2667000" cy="3238500"/>
          </a:xfrm>
          <a:prstGeom prst="roundRect">
            <a:avLst>
              <a:gd fmla="val 3571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8"/>
          <p:cNvSpPr/>
          <p:nvPr/>
        </p:nvSpPr>
        <p:spPr>
          <a:xfrm>
            <a:off x="932497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92" name="Google Shape;292;p28"/>
          <p:cNvSpPr/>
          <p:nvPr/>
        </p:nvSpPr>
        <p:spPr>
          <a:xfrm>
            <a:off x="9324975" y="20574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1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Hidden-objective audit</a:t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>
            <a:off x="9324975" y="2533650"/>
            <a:ext cx="22479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combination of behavioural, data, and interpretability tools found the objective?</a:t>
            </a:r>
            <a:endParaRPr/>
          </a:p>
        </p:txBody>
      </p:sp>
      <p:sp>
        <p:nvSpPr>
          <p:cNvPr id="294" name="Google Shape;294;p28"/>
          <p:cNvSpPr/>
          <p:nvPr/>
        </p:nvSpPr>
        <p:spPr>
          <a:xfrm>
            <a:off x="1809750" y="533400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Output: the claim, the evidence, one limitation, and one next test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Case study: auditing a hidden objective</a:t>
            </a:r>
            <a:endParaRPr/>
          </a:p>
        </p:txBody>
      </p:sp>
      <p:sp>
        <p:nvSpPr>
          <p:cNvPr id="301" name="Google Shape;301;p29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Reference point for the lab: triangulation beat a single magic tool</a:t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400050" y="1571625"/>
            <a:ext cx="5600700" cy="1762125"/>
          </a:xfrm>
          <a:prstGeom prst="roundRect">
            <a:avLst>
              <a:gd fmla="val 5405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"/>
          <p:cNvSpPr/>
          <p:nvPr/>
        </p:nvSpPr>
        <p:spPr>
          <a:xfrm>
            <a:off x="609600" y="1781175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Behaviour</a:t>
            </a:r>
            <a:endParaRPr/>
          </a:p>
        </p:txBody>
      </p:sp>
      <p:sp>
        <p:nvSpPr>
          <p:cNvPr id="304" name="Google Shape;304;p29"/>
          <p:cNvSpPr/>
          <p:nvPr/>
        </p:nvSpPr>
        <p:spPr>
          <a:xfrm>
            <a:off x="609600" y="2276475"/>
            <a:ext cx="5181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Prompting and behavioural attacks surfaced odd patterns and candidate hypotheses.</a:t>
            </a:r>
            <a:endParaRPr/>
          </a:p>
        </p:txBody>
      </p:sp>
      <p:sp>
        <p:nvSpPr>
          <p:cNvPr id="305" name="Google Shape;305;p29"/>
          <p:cNvSpPr/>
          <p:nvPr/>
        </p:nvSpPr>
        <p:spPr>
          <a:xfrm>
            <a:off x="6191250" y="1571625"/>
            <a:ext cx="5600700" cy="1762125"/>
          </a:xfrm>
          <a:prstGeom prst="roundRect">
            <a:avLst>
              <a:gd fmla="val 5405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6400800" y="1781175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Training data</a:t>
            </a:r>
            <a:endParaRPr/>
          </a:p>
        </p:txBody>
      </p:sp>
      <p:sp>
        <p:nvSpPr>
          <p:cNvPr id="307" name="Google Shape;307;p29"/>
          <p:cNvSpPr/>
          <p:nvPr/>
        </p:nvSpPr>
        <p:spPr>
          <a:xfrm>
            <a:off x="6400800" y="2276475"/>
            <a:ext cx="5181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Targeted data analysis revealed examples connected to reward-model biases.</a:t>
            </a:r>
            <a:endParaRPr/>
          </a:p>
        </p:txBody>
      </p:sp>
      <p:sp>
        <p:nvSpPr>
          <p:cNvPr id="308" name="Google Shape;308;p29"/>
          <p:cNvSpPr/>
          <p:nvPr/>
        </p:nvSpPr>
        <p:spPr>
          <a:xfrm>
            <a:off x="400050" y="3619500"/>
            <a:ext cx="5600700" cy="1762125"/>
          </a:xfrm>
          <a:prstGeom prst="roundRect">
            <a:avLst>
              <a:gd fmla="val 5405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9"/>
          <p:cNvSpPr/>
          <p:nvPr/>
        </p:nvSpPr>
        <p:spPr>
          <a:xfrm>
            <a:off x="609600" y="3829050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SAE features</a:t>
            </a:r>
            <a:endParaRPr/>
          </a:p>
        </p:txBody>
      </p:sp>
      <p:sp>
        <p:nvSpPr>
          <p:cNvPr id="310" name="Google Shape;310;p29"/>
          <p:cNvSpPr/>
          <p:nvPr/>
        </p:nvSpPr>
        <p:spPr>
          <a:xfrm>
            <a:off x="609600" y="4324350"/>
            <a:ext cx="5181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Feature browsing helped one team locate suspicious concepts—but a semantic-search baseline matched part of that success.</a:t>
            </a:r>
            <a:endParaRPr/>
          </a:p>
        </p:txBody>
      </p:sp>
      <p:sp>
        <p:nvSpPr>
          <p:cNvPr id="311" name="Google Shape;311;p29"/>
          <p:cNvSpPr/>
          <p:nvPr/>
        </p:nvSpPr>
        <p:spPr>
          <a:xfrm>
            <a:off x="6191250" y="3619500"/>
            <a:ext cx="5600700" cy="1762125"/>
          </a:xfrm>
          <a:prstGeom prst="roundRect">
            <a:avLst>
              <a:gd fmla="val 5405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6400800" y="3829050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Triangulation</a:t>
            </a:r>
            <a:endParaRPr/>
          </a:p>
        </p:txBody>
      </p:sp>
      <p:sp>
        <p:nvSpPr>
          <p:cNvPr id="313" name="Google Shape;313;p29"/>
          <p:cNvSpPr/>
          <p:nvPr/>
        </p:nvSpPr>
        <p:spPr>
          <a:xfrm>
            <a:off x="6400800" y="4324350"/>
            <a:ext cx="5181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Three of four teams found the hidden objective by combining tools and testing competing explanations.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Design an interpretability investigation</a:t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18:28–18:47, design in pairs, then combine the strongest tests</a:t>
            </a: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857250" y="1428750"/>
            <a:ext cx="10477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Choose one safety-relevant behaviour. Design an investigation that could distinguish between two competing explanations.</a:t>
            </a:r>
            <a:endParaRPr/>
          </a:p>
        </p:txBody>
      </p:sp>
      <p:sp>
        <p:nvSpPr>
          <p:cNvPr id="322" name="Google Shape;322;p30"/>
          <p:cNvSpPr/>
          <p:nvPr/>
        </p:nvSpPr>
        <p:spPr>
          <a:xfrm>
            <a:off x="400050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609600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609600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Hypothesis</a:t>
            </a: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609600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internal process might explain the behaviour?</a:t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2714625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2924175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2924175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Signal</a:t>
            </a:r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2924175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activation, feature, circuit, or reasoning trace will you measure?</a:t>
            </a:r>
            <a:endParaRPr/>
          </a:p>
        </p:txBody>
      </p:sp>
      <p:sp>
        <p:nvSpPr>
          <p:cNvPr id="330" name="Google Shape;330;p30"/>
          <p:cNvSpPr/>
          <p:nvPr/>
        </p:nvSpPr>
        <p:spPr>
          <a:xfrm>
            <a:off x="5029200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5238750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5238750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Method</a:t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5238750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probe, patch, SAE, tracing, or monitoring method fits the claim?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7343775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7553325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336" name="Google Shape;336;p30"/>
          <p:cNvSpPr/>
          <p:nvPr/>
        </p:nvSpPr>
        <p:spPr>
          <a:xfrm>
            <a:off x="7553325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Prediction</a:t>
            </a:r>
            <a:endParaRPr/>
          </a:p>
        </p:txBody>
      </p:sp>
      <p:sp>
        <p:nvSpPr>
          <p:cNvPr id="337" name="Google Shape;337;p30"/>
          <p:cNvSpPr/>
          <p:nvPr/>
        </p:nvSpPr>
        <p:spPr>
          <a:xfrm>
            <a:off x="7553325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result should occur if your explanation is correct?</a:t>
            </a:r>
            <a:endParaRPr/>
          </a:p>
        </p:txBody>
      </p:sp>
      <p:sp>
        <p:nvSpPr>
          <p:cNvPr id="338" name="Google Shape;338;p30"/>
          <p:cNvSpPr/>
          <p:nvPr/>
        </p:nvSpPr>
        <p:spPr>
          <a:xfrm>
            <a:off x="9658350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9867900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340" name="Google Shape;340;p30"/>
          <p:cNvSpPr/>
          <p:nvPr/>
        </p:nvSpPr>
        <p:spPr>
          <a:xfrm>
            <a:off x="9867900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Falsifier</a:t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9867900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result, baseline, or intervention would make you reject it?</a:t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1619250" y="5286375"/>
            <a:ext cx="8953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Stress test: what would make a persuasive picture misleading?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349" name="Google Shape;349;p31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{54C2E8ED-9CDF-49ED-B463-67993487A93B}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Interpretability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From correlation to causality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Alignment audit lab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Position debate</a:t>
            </a:r>
            <a:endParaRPr/>
          </a:p>
        </p:txBody>
      </p:sp>
      <p:sp>
        <p:nvSpPr>
          <p:cNvPr id="356" name="Google Shape;356;p32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18:47–18:55, choose a position, then state the evidence behind it</a:t>
            </a:r>
            <a:endParaRPr/>
          </a:p>
        </p:txBody>
      </p:sp>
      <p:sp>
        <p:nvSpPr>
          <p:cNvPr id="357" name="Google Shape;357;p32"/>
          <p:cNvSpPr/>
          <p:nvPr/>
        </p:nvSpPr>
        <p:spPr>
          <a:xfrm>
            <a:off x="1238250" y="1571625"/>
            <a:ext cx="97155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2775"/>
              <a:buFont typeface="Inter"/>
              <a:buNone/>
            </a:pPr>
            <a:r>
              <a:rPr b="1" i="0" lang="en-US" sz="2775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Frontier models should require positive interpretability evidence before high-risk deployment.</a:t>
            </a:r>
            <a:endParaRPr/>
          </a:p>
        </p:txBody>
      </p:sp>
      <p:sp>
        <p:nvSpPr>
          <p:cNvPr id="358" name="Google Shape;358;p32"/>
          <p:cNvSpPr/>
          <p:nvPr/>
        </p:nvSpPr>
        <p:spPr>
          <a:xfrm>
            <a:off x="1619250" y="3810000"/>
            <a:ext cx="8953500" cy="47625"/>
          </a:xfrm>
          <a:prstGeom prst="rect">
            <a:avLst/>
          </a:prstGeom>
          <a:solidFill>
            <a:srgbClr val="C7D0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2"/>
          <p:cNvSpPr/>
          <p:nvPr/>
        </p:nvSpPr>
        <p:spPr>
          <a:xfrm>
            <a:off x="1476375" y="3648075"/>
            <a:ext cx="361950" cy="361950"/>
          </a:xfrm>
          <a:prstGeom prst="ellipse">
            <a:avLst/>
          </a:prstGeom>
          <a:solidFill>
            <a:srgbClr val="FDE7DE"/>
          </a:solidFill>
          <a:ln cap="flat" cmpd="sng" w="9525">
            <a:solidFill>
              <a:srgbClr val="C7D0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2"/>
          <p:cNvSpPr/>
          <p:nvPr/>
        </p:nvSpPr>
        <p:spPr>
          <a:xfrm>
            <a:off x="10353675" y="3648075"/>
            <a:ext cx="361950" cy="361950"/>
          </a:xfrm>
          <a:prstGeom prst="ellipse">
            <a:avLst/>
          </a:prstGeom>
          <a:solidFill>
            <a:srgbClr val="E2F7EA"/>
          </a:solidFill>
          <a:ln cap="flat" cmpd="sng" w="9525">
            <a:solidFill>
              <a:srgbClr val="C7D0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2"/>
          <p:cNvSpPr/>
          <p:nvPr/>
        </p:nvSpPr>
        <p:spPr>
          <a:xfrm>
            <a:off x="1095375" y="414337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Strongly disagree</a:t>
            </a:r>
            <a:endParaRPr/>
          </a:p>
        </p:txBody>
      </p:sp>
      <p:sp>
        <p:nvSpPr>
          <p:cNvPr id="362" name="Google Shape;362;p32"/>
          <p:cNvSpPr/>
          <p:nvPr/>
        </p:nvSpPr>
        <p:spPr>
          <a:xfrm>
            <a:off x="9096375" y="414337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Strongly agree</a:t>
            </a:r>
            <a:endParaRPr/>
          </a:p>
        </p:txBody>
      </p:sp>
      <p:sp>
        <p:nvSpPr>
          <p:cNvPr id="363" name="Google Shape;363;p32"/>
          <p:cNvSpPr/>
          <p:nvPr/>
        </p:nvSpPr>
        <p:spPr>
          <a:xfrm>
            <a:off x="1714500" y="5095875"/>
            <a:ext cx="8763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A60"/>
              </a:buClr>
              <a:buSzPts val="1725"/>
              <a:buFont typeface="Inter"/>
              <a:buNone/>
            </a:pPr>
            <a:r>
              <a:rPr b="0" i="0" lang="en-US" sz="1725">
                <a:solidFill>
                  <a:srgbClr val="4F5A60"/>
                </a:solidFill>
                <a:latin typeface="Inter"/>
                <a:ea typeface="Inter"/>
                <a:cs typeface="Inter"/>
                <a:sym typeface="Inter"/>
              </a:rPr>
              <a:t>What is your strongest reason? What evidence or policy change would move you?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Individual reflection and course direction</a:t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18:55–19:00, write first, then one sentence per person</a:t>
            </a: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400050" y="1809750"/>
            <a:ext cx="3571875" cy="3000375"/>
          </a:xfrm>
          <a:prstGeom prst="roundRect">
            <a:avLst>
              <a:gd fmla="val 3175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609600" y="19621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609600" y="22955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Updated belief</a:t>
            </a: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609600" y="2771775"/>
            <a:ext cx="3152775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do you understand differently about interpretability or alignment audits?</a:t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4314825" y="1809750"/>
            <a:ext cx="3571875" cy="3000375"/>
          </a:xfrm>
          <a:prstGeom prst="roundRect">
            <a:avLst>
              <a:gd fmla="val 3175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4524375" y="19621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377" name="Google Shape;377;p33"/>
          <p:cNvSpPr/>
          <p:nvPr/>
        </p:nvSpPr>
        <p:spPr>
          <a:xfrm>
            <a:off x="4524375" y="22955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Open uncertainty</a:t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4524375" y="2771775"/>
            <a:ext cx="3152775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unresolved question now matters most to you?</a:t>
            </a:r>
            <a:endParaRPr/>
          </a:p>
        </p:txBody>
      </p:sp>
      <p:sp>
        <p:nvSpPr>
          <p:cNvPr id="379" name="Google Shape;379;p33"/>
          <p:cNvSpPr/>
          <p:nvPr/>
        </p:nvSpPr>
        <p:spPr>
          <a:xfrm>
            <a:off x="8229600" y="1809750"/>
            <a:ext cx="3571875" cy="3000375"/>
          </a:xfrm>
          <a:prstGeom prst="roundRect">
            <a:avLst>
              <a:gd fmla="val 3175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"/>
          <p:cNvSpPr/>
          <p:nvPr/>
        </p:nvSpPr>
        <p:spPr>
          <a:xfrm>
            <a:off x="8439150" y="19621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381" name="Google Shape;381;p33"/>
          <p:cNvSpPr/>
          <p:nvPr/>
        </p:nvSpPr>
        <p:spPr>
          <a:xfrm>
            <a:off x="8439150" y="22955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Next action</a:t>
            </a: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8439150" y="2771775"/>
            <a:ext cx="3152775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will you read, test, build, or discuss before the next session?</a:t>
            </a: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2000250" y="5334000"/>
            <a:ext cx="8191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A60"/>
              </a:buClr>
              <a:buSzPts val="1575"/>
              <a:buFont typeface="Inter"/>
              <a:buNone/>
            </a:pPr>
            <a:r>
              <a:rPr b="0" i="0" lang="en-US" sz="1575">
                <a:solidFill>
                  <a:srgbClr val="4F5A60"/>
                </a:solidFill>
                <a:latin typeface="Inter"/>
                <a:ea typeface="Inter"/>
                <a:cs typeface="Inter"/>
                <a:sym typeface="Inter"/>
              </a:rPr>
              <a:t>Before leaving, please complete the short course survey on the final slide.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 txBox="1"/>
          <p:nvPr>
            <p:ph type="title"/>
          </p:nvPr>
        </p:nvSpPr>
        <p:spPr>
          <a:xfrm>
            <a:off x="393700" y="344008"/>
            <a:ext cx="114045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lang="en-US" sz="24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Recent Work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>
            <p:ph type="title"/>
          </p:nvPr>
        </p:nvSpPr>
        <p:spPr>
          <a:xfrm>
            <a:off x="393700" y="344008"/>
            <a:ext cx="114045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Recent methods for reading internal states</a:t>
            </a: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New r</a:t>
            </a: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esearch published May–July 2026</a:t>
            </a:r>
            <a:endParaRPr/>
          </a:p>
        </p:txBody>
      </p:sp>
      <p:sp>
        <p:nvSpPr>
          <p:cNvPr id="397" name="Google Shape;397;p35"/>
          <p:cNvSpPr/>
          <p:nvPr/>
        </p:nvSpPr>
        <p:spPr>
          <a:xfrm>
            <a:off x="809625" y="1809750"/>
            <a:ext cx="4953000" cy="3095700"/>
          </a:xfrm>
          <a:prstGeom prst="roundRect">
            <a:avLst>
              <a:gd fmla="val 3077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5"/>
          <p:cNvSpPr/>
          <p:nvPr/>
        </p:nvSpPr>
        <p:spPr>
          <a:xfrm>
            <a:off x="1019175" y="1962150"/>
            <a:ext cx="4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399" name="Google Shape;399;p35"/>
          <p:cNvSpPr/>
          <p:nvPr/>
        </p:nvSpPr>
        <p:spPr>
          <a:xfrm>
            <a:off x="1019175" y="2295525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Natural Language Autoencoders</a:t>
            </a:r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1019175" y="2771775"/>
            <a:ext cx="4533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0"/>
              <a:buFont typeface="Inter"/>
              <a:buNone/>
            </a:pPr>
            <a:r>
              <a:rPr b="0" i="0" lang="en-US" sz="157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Translate an activation into a text description, then reconstruct the activation from that text. The round trip trains readable summaries of internal state.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0"/>
              <a:buFont typeface="Inter"/>
              <a:buNone/>
            </a:pPr>
            <a:r>
              <a:rPr b="0" i="0" lang="en-US" sz="157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Useful for surfacing candidate hidden beliefs or evaluation awareness. Explanations can still be wrong and need independent checks.</a:t>
            </a:r>
            <a:endParaRPr/>
          </a:p>
        </p:txBody>
      </p:sp>
      <p:sp>
        <p:nvSpPr>
          <p:cNvPr id="401" name="Google Shape;401;p35"/>
          <p:cNvSpPr/>
          <p:nvPr/>
        </p:nvSpPr>
        <p:spPr>
          <a:xfrm>
            <a:off x="6429375" y="1809750"/>
            <a:ext cx="4953000" cy="3095700"/>
          </a:xfrm>
          <a:prstGeom prst="roundRect">
            <a:avLst>
              <a:gd fmla="val 3077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6638925" y="1962150"/>
            <a:ext cx="4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6638925" y="2295525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Jacobian lens</a:t>
            </a:r>
            <a:endParaRPr/>
          </a:p>
        </p:txBody>
      </p:sp>
      <p:sp>
        <p:nvSpPr>
          <p:cNvPr id="404" name="Google Shape;404;p35"/>
          <p:cNvSpPr/>
          <p:nvPr/>
        </p:nvSpPr>
        <p:spPr>
          <a:xfrm>
            <a:off x="6638925" y="2771775"/>
            <a:ext cx="4533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0"/>
              <a:buFont typeface="Inter"/>
              <a:buNone/>
            </a:pPr>
            <a:r>
              <a:rPr b="0" i="0" lang="en-US" sz="157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Estimate which internal directions are available for future verbal report while accounting for changes across layers.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0"/>
              <a:buFont typeface="Inter"/>
              <a:buNone/>
            </a:pPr>
            <a:r>
              <a:rPr b="0" i="0" lang="en-US" sz="157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Useful for mapping a model’s verbalizable workspace. It covers a privileged subset of representation, not the model’s entire computation.</a:t>
            </a:r>
            <a:endParaRPr/>
          </a:p>
        </p:txBody>
      </p:sp>
      <p:sp>
        <p:nvSpPr>
          <p:cNvPr id="405" name="Google Shape;405;p35"/>
          <p:cNvSpPr/>
          <p:nvPr/>
        </p:nvSpPr>
        <p:spPr>
          <a:xfrm>
            <a:off x="1714500" y="5381625"/>
            <a:ext cx="876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A60"/>
              </a:buClr>
              <a:buSzPts val="1513"/>
              <a:buFont typeface="Inter"/>
              <a:buNone/>
            </a:pPr>
            <a:r>
              <a:rPr b="0" i="0" lang="en-US" sz="1514">
                <a:solidFill>
                  <a:srgbClr val="4F5A60"/>
                </a:solidFill>
                <a:latin typeface="Inter"/>
                <a:ea typeface="Inter"/>
                <a:cs typeface="Inter"/>
                <a:sym typeface="Inter"/>
              </a:rPr>
              <a:t>Both methods reveal information that can be expressed. Neither alone proves what caused the action.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6"/>
          <p:cNvSpPr txBox="1"/>
          <p:nvPr>
            <p:ph type="title"/>
          </p:nvPr>
        </p:nvSpPr>
        <p:spPr>
          <a:xfrm>
            <a:off x="393700" y="344008"/>
            <a:ext cx="114045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Recent methods for testing explanations</a:t>
            </a:r>
            <a:endParaRPr/>
          </a:p>
        </p:txBody>
      </p:sp>
      <p:sp>
        <p:nvSpPr>
          <p:cNvPr id="412" name="Google Shape;412;p36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 research published March–August 2026</a:t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809625" y="1809750"/>
            <a:ext cx="4953000" cy="3348600"/>
          </a:xfrm>
          <a:prstGeom prst="roundRect">
            <a:avLst>
              <a:gd fmla="val 3077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>
            <a:off x="1019175" y="1962150"/>
            <a:ext cx="4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415" name="Google Shape;415;p36"/>
          <p:cNvSpPr/>
          <p:nvPr/>
        </p:nvSpPr>
        <p:spPr>
          <a:xfrm>
            <a:off x="1019175" y="2295525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Cross-architecture model diffing</a:t>
            </a:r>
            <a:endParaRPr/>
          </a:p>
        </p:txBody>
      </p:sp>
      <p:sp>
        <p:nvSpPr>
          <p:cNvPr id="416" name="Google Shape;416;p36"/>
          <p:cNvSpPr/>
          <p:nvPr/>
        </p:nvSpPr>
        <p:spPr>
          <a:xfrm>
            <a:off x="1019175" y="2771775"/>
            <a:ext cx="4533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98"/>
              <a:buFont typeface="Inter"/>
              <a:buNone/>
            </a:pPr>
            <a:r>
              <a:rPr b="0" i="0" lang="en-US" sz="1499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Learn shared features and model-exclusive features across different architectures. Steer a candidate feature to test whether it controls a behavioural difference.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99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98"/>
              <a:buFont typeface="Inter"/>
              <a:buNone/>
            </a:pPr>
            <a:r>
              <a:rPr b="0" i="0" lang="en-US" sz="1499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Useful for reviewing model updates and searching for unexpected changes. It produces many candidates and does not reveal why a feature emerged.</a:t>
            </a:r>
            <a:endParaRPr/>
          </a:p>
        </p:txBody>
      </p:sp>
      <p:sp>
        <p:nvSpPr>
          <p:cNvPr id="417" name="Google Shape;417;p36"/>
          <p:cNvSpPr/>
          <p:nvPr/>
        </p:nvSpPr>
        <p:spPr>
          <a:xfrm>
            <a:off x="6429375" y="1809750"/>
            <a:ext cx="4953000" cy="3348600"/>
          </a:xfrm>
          <a:prstGeom prst="roundRect">
            <a:avLst>
              <a:gd fmla="val 3077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"/>
          <p:cNvSpPr/>
          <p:nvPr/>
        </p:nvSpPr>
        <p:spPr>
          <a:xfrm>
            <a:off x="6638925" y="1962150"/>
            <a:ext cx="42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>
            <a:off x="6638925" y="2295525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CHIVE counterfactual investigations</a:t>
            </a:r>
            <a:endParaRPr/>
          </a:p>
        </p:txBody>
      </p:sp>
      <p:sp>
        <p:nvSpPr>
          <p:cNvPr id="420" name="Google Shape;420;p36"/>
          <p:cNvSpPr/>
          <p:nvPr/>
        </p:nvSpPr>
        <p:spPr>
          <a:xfrm>
            <a:off x="6638925" y="2771775"/>
            <a:ext cx="45339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0"/>
              <a:buFont typeface="Inter"/>
              <a:buNone/>
            </a:pPr>
            <a:r>
              <a:rPr b="0" i="0" lang="en-US" sz="157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An investigator agent finds unusual behaviour, edits the prompt, resamples the model, and checks whether the behaviour changes.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0"/>
              <a:buFont typeface="Inter"/>
              <a:buNone/>
            </a:pPr>
            <a:r>
              <a:rPr b="0" i="0" lang="en-US" sz="157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Useful for testing whether an explanation predicts counterfactual outcomes. In its first evaluation, activation-reading tools did not beat a transcript-only baseline.</a:t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1714500" y="5381625"/>
            <a:ext cx="8763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F5A60"/>
              </a:buClr>
              <a:buSzPts val="1650"/>
              <a:buFont typeface="Inter"/>
              <a:buNone/>
            </a:pPr>
            <a:r>
              <a:rPr b="0" i="0" lang="en-US" sz="1650">
                <a:solidFill>
                  <a:srgbClr val="4F5A60"/>
                </a:solidFill>
                <a:latin typeface="Inter"/>
                <a:ea typeface="Inter"/>
                <a:cs typeface="Inter"/>
                <a:sym typeface="Inter"/>
              </a:rPr>
              <a:t>A useful explanation should predict what changes when the hypothesised cause changes.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/>
          <p:cNvSpPr txBox="1"/>
          <p:nvPr>
            <p:ph idx="1" type="subTitle"/>
          </p:nvPr>
        </p:nvSpPr>
        <p:spPr>
          <a:xfrm>
            <a:off x="647700" y="3638550"/>
            <a:ext cx="60960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How can we reduce damage when prevention and detection are imperfect?</a:t>
            </a:r>
            <a:endParaRPr/>
          </a:p>
        </p:txBody>
      </p:sp>
      <p:sp>
        <p:nvSpPr>
          <p:cNvPr id="428" name="Google Shape;428;p37"/>
          <p:cNvSpPr txBox="1"/>
          <p:nvPr>
            <p:ph type="ctrTitle"/>
          </p:nvPr>
        </p:nvSpPr>
        <p:spPr>
          <a:xfrm>
            <a:off x="647700" y="400050"/>
            <a:ext cx="619125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rPr b="1" lang="en-US" sz="495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Next week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rPr b="1" lang="en-US" sz="495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Minimising harm</a:t>
            </a:r>
            <a:endParaRPr/>
          </a:p>
        </p:txBody>
      </p:sp>
      <p:sp>
        <p:nvSpPr>
          <p:cNvPr id="429" name="Google Shape;429;p37"/>
          <p:cNvSpPr/>
          <p:nvPr/>
        </p:nvSpPr>
        <p:spPr>
          <a:xfrm>
            <a:off x="6664175" y="1381125"/>
            <a:ext cx="5247900" cy="2333700"/>
          </a:xfrm>
          <a:prstGeom prst="roundRect">
            <a:avLst>
              <a:gd fmla="val 4898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171450" lIns="190500" spcFirstLastPara="1" rIns="190500" wrap="square" tIns="171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Before you go</a:t>
            </a:r>
            <a:br>
              <a:rPr b="1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Complete the short course survey</a:t>
            </a:r>
            <a:br>
              <a:rPr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forms.gle/3FYXpK8ALPAknRgU6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SAIN </a:t>
            </a:r>
            <a:r>
              <a:rPr b="1" lang="en-US" sz="1500"/>
              <a:t>Research Project Info Session - L1.08</a:t>
            </a:r>
            <a:endParaRPr b="1" sz="15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Monday 5th Oct 17:00-18:00</a:t>
            </a:r>
            <a:endParaRPr sz="1500"/>
          </a:p>
        </p:txBody>
      </p:sp>
      <p:pic>
        <p:nvPicPr>
          <p:cNvPr id="430" name="Google Shape;430;p37"/>
          <p:cNvPicPr preferRelativeResize="0"/>
          <p:nvPr/>
        </p:nvPicPr>
        <p:blipFill rotWithShape="1">
          <a:blip r:embed="rId4">
            <a:alphaModFix/>
          </a:blip>
          <a:srcRect b="61469" l="0" r="0" t="25645"/>
          <a:stretch/>
        </p:blipFill>
        <p:spPr>
          <a:xfrm>
            <a:off x="0" y="4763386"/>
            <a:ext cx="12192000" cy="2094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